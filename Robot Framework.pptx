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6"/>
  </p:notesMasterIdLst>
  <p:sldIdLst>
    <p:sldId id="403" r:id="rId2"/>
    <p:sldId id="402" r:id="rId3"/>
    <p:sldId id="506" r:id="rId4"/>
    <p:sldId id="507" r:id="rId5"/>
    <p:sldId id="525" r:id="rId6"/>
    <p:sldId id="526" r:id="rId7"/>
    <p:sldId id="508" r:id="rId8"/>
    <p:sldId id="509" r:id="rId9"/>
    <p:sldId id="510" r:id="rId10"/>
    <p:sldId id="511" r:id="rId11"/>
    <p:sldId id="512" r:id="rId12"/>
    <p:sldId id="513" r:id="rId13"/>
    <p:sldId id="515" r:id="rId14"/>
    <p:sldId id="516" r:id="rId15"/>
    <p:sldId id="517" r:id="rId16"/>
    <p:sldId id="519" r:id="rId17"/>
    <p:sldId id="520" r:id="rId18"/>
    <p:sldId id="521" r:id="rId19"/>
    <p:sldId id="518" r:id="rId20"/>
    <p:sldId id="405" r:id="rId21"/>
    <p:sldId id="409" r:id="rId22"/>
    <p:sldId id="408" r:id="rId23"/>
    <p:sldId id="427" r:id="rId24"/>
    <p:sldId id="428" r:id="rId25"/>
    <p:sldId id="429" r:id="rId26"/>
    <p:sldId id="430" r:id="rId27"/>
    <p:sldId id="431" r:id="rId28"/>
    <p:sldId id="407" r:id="rId29"/>
    <p:sldId id="410" r:id="rId30"/>
    <p:sldId id="411" r:id="rId31"/>
    <p:sldId id="412" r:id="rId32"/>
    <p:sldId id="413" r:id="rId33"/>
    <p:sldId id="414" r:id="rId34"/>
    <p:sldId id="415" r:id="rId35"/>
    <p:sldId id="416" r:id="rId36"/>
    <p:sldId id="417" r:id="rId37"/>
    <p:sldId id="418" r:id="rId38"/>
    <p:sldId id="419" r:id="rId39"/>
    <p:sldId id="420" r:id="rId40"/>
    <p:sldId id="421" r:id="rId41"/>
    <p:sldId id="422" r:id="rId42"/>
    <p:sldId id="423" r:id="rId43"/>
    <p:sldId id="424" r:id="rId44"/>
    <p:sldId id="425" r:id="rId45"/>
    <p:sldId id="426" r:id="rId46"/>
    <p:sldId id="432" r:id="rId47"/>
    <p:sldId id="433" r:id="rId48"/>
    <p:sldId id="434" r:id="rId49"/>
    <p:sldId id="435" r:id="rId50"/>
    <p:sldId id="436" r:id="rId51"/>
    <p:sldId id="437" r:id="rId52"/>
    <p:sldId id="438" r:id="rId53"/>
    <p:sldId id="439" r:id="rId54"/>
    <p:sldId id="440" r:id="rId55"/>
    <p:sldId id="441" r:id="rId56"/>
    <p:sldId id="443" r:id="rId57"/>
    <p:sldId id="444" r:id="rId58"/>
    <p:sldId id="401" r:id="rId59"/>
    <p:sldId id="446" r:id="rId60"/>
    <p:sldId id="447" r:id="rId61"/>
    <p:sldId id="450" r:id="rId62"/>
    <p:sldId id="451" r:id="rId63"/>
    <p:sldId id="453" r:id="rId64"/>
    <p:sldId id="456" r:id="rId65"/>
    <p:sldId id="457" r:id="rId66"/>
    <p:sldId id="465" r:id="rId67"/>
    <p:sldId id="466" r:id="rId68"/>
    <p:sldId id="468" r:id="rId69"/>
    <p:sldId id="469" r:id="rId70"/>
    <p:sldId id="470" r:id="rId71"/>
    <p:sldId id="471" r:id="rId72"/>
    <p:sldId id="473" r:id="rId73"/>
    <p:sldId id="474" r:id="rId74"/>
    <p:sldId id="475" r:id="rId75"/>
    <p:sldId id="476" r:id="rId76"/>
    <p:sldId id="500" r:id="rId77"/>
    <p:sldId id="485" r:id="rId78"/>
    <p:sldId id="522" r:id="rId79"/>
    <p:sldId id="523" r:id="rId80"/>
    <p:sldId id="486" r:id="rId81"/>
    <p:sldId id="487" r:id="rId82"/>
    <p:sldId id="488" r:id="rId83"/>
    <p:sldId id="489" r:id="rId84"/>
    <p:sldId id="491" r:id="rId85"/>
    <p:sldId id="492" r:id="rId86"/>
    <p:sldId id="493" r:id="rId87"/>
    <p:sldId id="494" r:id="rId88"/>
    <p:sldId id="495" r:id="rId89"/>
    <p:sldId id="496" r:id="rId90"/>
    <p:sldId id="498" r:id="rId91"/>
    <p:sldId id="316" r:id="rId92"/>
    <p:sldId id="318" r:id="rId93"/>
    <p:sldId id="317" r:id="rId94"/>
    <p:sldId id="319" r:id="rId95"/>
    <p:sldId id="320" r:id="rId96"/>
    <p:sldId id="321" r:id="rId97"/>
    <p:sldId id="324" r:id="rId98"/>
    <p:sldId id="326" r:id="rId99"/>
    <p:sldId id="327" r:id="rId100"/>
    <p:sldId id="328" r:id="rId101"/>
    <p:sldId id="329" r:id="rId102"/>
    <p:sldId id="330" r:id="rId103"/>
    <p:sldId id="331" r:id="rId104"/>
    <p:sldId id="332" r:id="rId105"/>
    <p:sldId id="333" r:id="rId106"/>
    <p:sldId id="334" r:id="rId107"/>
    <p:sldId id="335" r:id="rId108"/>
    <p:sldId id="336" r:id="rId109"/>
    <p:sldId id="337" r:id="rId110"/>
    <p:sldId id="338" r:id="rId111"/>
    <p:sldId id="340" r:id="rId112"/>
    <p:sldId id="341" r:id="rId113"/>
    <p:sldId id="342" r:id="rId114"/>
    <p:sldId id="343" r:id="rId115"/>
    <p:sldId id="344" r:id="rId116"/>
    <p:sldId id="345" r:id="rId117"/>
    <p:sldId id="346" r:id="rId118"/>
    <p:sldId id="347" r:id="rId119"/>
    <p:sldId id="348" r:id="rId120"/>
    <p:sldId id="501" r:id="rId121"/>
    <p:sldId id="502" r:id="rId122"/>
    <p:sldId id="503" r:id="rId123"/>
    <p:sldId id="505" r:id="rId124"/>
    <p:sldId id="524" r:id="rId1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6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B58A8C-C1A4-4800-B317-2310406C60CA}" type="datetimeFigureOut">
              <a:rPr lang="en-IN" smtClean="0"/>
              <a:t>15-05-2025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5A25F9-D810-4CA1-BA98-1C30E4762B10}" type="slidenum">
              <a:rPr lang="en-IN" smtClean="0"/>
              <a:t>‹#›</a:t>
            </a:fld>
            <a:endParaRPr lang="en-IN"/>
          </a:p>
        </p:txBody>
      </p:sp>
    </p:spTree>
    <p:extLst>
      <p:ext uri="{BB962C8B-B14F-4D97-AF65-F5344CB8AC3E}">
        <p14:creationId xmlns:p14="http://schemas.microsoft.com/office/powerpoint/2010/main" val="4011265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a:t>
            </a:fld>
            <a:endParaRPr lang="en-IN" dirty="0"/>
          </a:p>
        </p:txBody>
      </p:sp>
    </p:spTree>
    <p:extLst>
      <p:ext uri="{BB962C8B-B14F-4D97-AF65-F5344CB8AC3E}">
        <p14:creationId xmlns:p14="http://schemas.microsoft.com/office/powerpoint/2010/main" val="87566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a:t>
            </a:fld>
            <a:endParaRPr lang="en-IN" dirty="0"/>
          </a:p>
        </p:txBody>
      </p:sp>
    </p:spTree>
    <p:extLst>
      <p:ext uri="{BB962C8B-B14F-4D97-AF65-F5344CB8AC3E}">
        <p14:creationId xmlns:p14="http://schemas.microsoft.com/office/powerpoint/2010/main" val="2026429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a:t>
            </a:fld>
            <a:endParaRPr lang="en-IN" dirty="0"/>
          </a:p>
        </p:txBody>
      </p:sp>
    </p:spTree>
    <p:extLst>
      <p:ext uri="{BB962C8B-B14F-4D97-AF65-F5344CB8AC3E}">
        <p14:creationId xmlns:p14="http://schemas.microsoft.com/office/powerpoint/2010/main" val="1355868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a:t>
            </a:fld>
            <a:endParaRPr lang="en-IN" dirty="0"/>
          </a:p>
        </p:txBody>
      </p:sp>
    </p:spTree>
    <p:extLst>
      <p:ext uri="{BB962C8B-B14F-4D97-AF65-F5344CB8AC3E}">
        <p14:creationId xmlns:p14="http://schemas.microsoft.com/office/powerpoint/2010/main" val="1015563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a:t>
            </a:fld>
            <a:endParaRPr lang="en-IN" dirty="0"/>
          </a:p>
        </p:txBody>
      </p:sp>
    </p:spTree>
    <p:extLst>
      <p:ext uri="{BB962C8B-B14F-4D97-AF65-F5344CB8AC3E}">
        <p14:creationId xmlns:p14="http://schemas.microsoft.com/office/powerpoint/2010/main" val="1262687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6</a:t>
            </a:fld>
            <a:endParaRPr lang="en-IN" dirty="0"/>
          </a:p>
        </p:txBody>
      </p:sp>
    </p:spTree>
    <p:extLst>
      <p:ext uri="{BB962C8B-B14F-4D97-AF65-F5344CB8AC3E}">
        <p14:creationId xmlns:p14="http://schemas.microsoft.com/office/powerpoint/2010/main" val="2856346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7</a:t>
            </a:fld>
            <a:endParaRPr lang="en-IN" dirty="0"/>
          </a:p>
        </p:txBody>
      </p:sp>
    </p:spTree>
    <p:extLst>
      <p:ext uri="{BB962C8B-B14F-4D97-AF65-F5344CB8AC3E}">
        <p14:creationId xmlns:p14="http://schemas.microsoft.com/office/powerpoint/2010/main" val="212488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8</a:t>
            </a:fld>
            <a:endParaRPr lang="en-IN" dirty="0"/>
          </a:p>
        </p:txBody>
      </p:sp>
    </p:spTree>
    <p:extLst>
      <p:ext uri="{BB962C8B-B14F-4D97-AF65-F5344CB8AC3E}">
        <p14:creationId xmlns:p14="http://schemas.microsoft.com/office/powerpoint/2010/main" val="3324998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9</a:t>
            </a:fld>
            <a:endParaRPr lang="en-IN" dirty="0"/>
          </a:p>
        </p:txBody>
      </p:sp>
    </p:spTree>
    <p:extLst>
      <p:ext uri="{BB962C8B-B14F-4D97-AF65-F5344CB8AC3E}">
        <p14:creationId xmlns:p14="http://schemas.microsoft.com/office/powerpoint/2010/main" val="181674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10</a:t>
            </a:fld>
            <a:endParaRPr lang="en-IN" dirty="0"/>
          </a:p>
        </p:txBody>
      </p:sp>
    </p:spTree>
    <p:extLst>
      <p:ext uri="{BB962C8B-B14F-4D97-AF65-F5344CB8AC3E}">
        <p14:creationId xmlns:p14="http://schemas.microsoft.com/office/powerpoint/2010/main" val="1530773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11</a:t>
            </a:fld>
            <a:endParaRPr lang="en-IN" dirty="0"/>
          </a:p>
        </p:txBody>
      </p:sp>
    </p:spTree>
    <p:extLst>
      <p:ext uri="{BB962C8B-B14F-4D97-AF65-F5344CB8AC3E}">
        <p14:creationId xmlns:p14="http://schemas.microsoft.com/office/powerpoint/2010/main" val="2785302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12</a:t>
            </a:fld>
            <a:endParaRPr lang="en-IN" dirty="0"/>
          </a:p>
        </p:txBody>
      </p:sp>
    </p:spTree>
    <p:extLst>
      <p:ext uri="{BB962C8B-B14F-4D97-AF65-F5344CB8AC3E}">
        <p14:creationId xmlns:p14="http://schemas.microsoft.com/office/powerpoint/2010/main" val="475236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13</a:t>
            </a:fld>
            <a:endParaRPr lang="en-IN" dirty="0"/>
          </a:p>
        </p:txBody>
      </p:sp>
    </p:spTree>
    <p:extLst>
      <p:ext uri="{BB962C8B-B14F-4D97-AF65-F5344CB8AC3E}">
        <p14:creationId xmlns:p14="http://schemas.microsoft.com/office/powerpoint/2010/main" val="1594874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14</a:t>
            </a:fld>
            <a:endParaRPr lang="en-IN" dirty="0"/>
          </a:p>
        </p:txBody>
      </p:sp>
    </p:spTree>
    <p:extLst>
      <p:ext uri="{BB962C8B-B14F-4D97-AF65-F5344CB8AC3E}">
        <p14:creationId xmlns:p14="http://schemas.microsoft.com/office/powerpoint/2010/main" val="1073661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15</a:t>
            </a:fld>
            <a:endParaRPr lang="en-IN" dirty="0"/>
          </a:p>
        </p:txBody>
      </p:sp>
    </p:spTree>
    <p:extLst>
      <p:ext uri="{BB962C8B-B14F-4D97-AF65-F5344CB8AC3E}">
        <p14:creationId xmlns:p14="http://schemas.microsoft.com/office/powerpoint/2010/main" val="3890725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16</a:t>
            </a:fld>
            <a:endParaRPr lang="en-IN" dirty="0"/>
          </a:p>
        </p:txBody>
      </p:sp>
    </p:spTree>
    <p:extLst>
      <p:ext uri="{BB962C8B-B14F-4D97-AF65-F5344CB8AC3E}">
        <p14:creationId xmlns:p14="http://schemas.microsoft.com/office/powerpoint/2010/main" val="1738845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17</a:t>
            </a:fld>
            <a:endParaRPr lang="en-IN" dirty="0"/>
          </a:p>
        </p:txBody>
      </p:sp>
    </p:spTree>
    <p:extLst>
      <p:ext uri="{BB962C8B-B14F-4D97-AF65-F5344CB8AC3E}">
        <p14:creationId xmlns:p14="http://schemas.microsoft.com/office/powerpoint/2010/main" val="3230746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18</a:t>
            </a:fld>
            <a:endParaRPr lang="en-IN" dirty="0"/>
          </a:p>
        </p:txBody>
      </p:sp>
    </p:spTree>
    <p:extLst>
      <p:ext uri="{BB962C8B-B14F-4D97-AF65-F5344CB8AC3E}">
        <p14:creationId xmlns:p14="http://schemas.microsoft.com/office/powerpoint/2010/main" val="3043363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19</a:t>
            </a:fld>
            <a:endParaRPr lang="en-IN" dirty="0"/>
          </a:p>
        </p:txBody>
      </p:sp>
    </p:spTree>
    <p:extLst>
      <p:ext uri="{BB962C8B-B14F-4D97-AF65-F5344CB8AC3E}">
        <p14:creationId xmlns:p14="http://schemas.microsoft.com/office/powerpoint/2010/main" val="1063474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20</a:t>
            </a:fld>
            <a:endParaRPr lang="en-IN" dirty="0"/>
          </a:p>
        </p:txBody>
      </p:sp>
    </p:spTree>
    <p:extLst>
      <p:ext uri="{BB962C8B-B14F-4D97-AF65-F5344CB8AC3E}">
        <p14:creationId xmlns:p14="http://schemas.microsoft.com/office/powerpoint/2010/main" val="529837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21</a:t>
            </a:fld>
            <a:endParaRPr lang="en-IN" dirty="0"/>
          </a:p>
        </p:txBody>
      </p:sp>
    </p:spTree>
    <p:extLst>
      <p:ext uri="{BB962C8B-B14F-4D97-AF65-F5344CB8AC3E}">
        <p14:creationId xmlns:p14="http://schemas.microsoft.com/office/powerpoint/2010/main" val="1510614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22</a:t>
            </a:fld>
            <a:endParaRPr lang="en-IN" dirty="0"/>
          </a:p>
        </p:txBody>
      </p:sp>
    </p:spTree>
    <p:extLst>
      <p:ext uri="{BB962C8B-B14F-4D97-AF65-F5344CB8AC3E}">
        <p14:creationId xmlns:p14="http://schemas.microsoft.com/office/powerpoint/2010/main" val="3412427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23</a:t>
            </a:fld>
            <a:endParaRPr lang="en-IN" dirty="0"/>
          </a:p>
        </p:txBody>
      </p:sp>
    </p:spTree>
    <p:extLst>
      <p:ext uri="{BB962C8B-B14F-4D97-AF65-F5344CB8AC3E}">
        <p14:creationId xmlns:p14="http://schemas.microsoft.com/office/powerpoint/2010/main" val="17713153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24</a:t>
            </a:fld>
            <a:endParaRPr lang="en-IN" dirty="0"/>
          </a:p>
        </p:txBody>
      </p:sp>
    </p:spTree>
    <p:extLst>
      <p:ext uri="{BB962C8B-B14F-4D97-AF65-F5344CB8AC3E}">
        <p14:creationId xmlns:p14="http://schemas.microsoft.com/office/powerpoint/2010/main" val="2997063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25</a:t>
            </a:fld>
            <a:endParaRPr lang="en-IN" dirty="0"/>
          </a:p>
        </p:txBody>
      </p:sp>
    </p:spTree>
    <p:extLst>
      <p:ext uri="{BB962C8B-B14F-4D97-AF65-F5344CB8AC3E}">
        <p14:creationId xmlns:p14="http://schemas.microsoft.com/office/powerpoint/2010/main" val="2969446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26</a:t>
            </a:fld>
            <a:endParaRPr lang="en-IN" dirty="0"/>
          </a:p>
        </p:txBody>
      </p:sp>
    </p:spTree>
    <p:extLst>
      <p:ext uri="{BB962C8B-B14F-4D97-AF65-F5344CB8AC3E}">
        <p14:creationId xmlns:p14="http://schemas.microsoft.com/office/powerpoint/2010/main" val="2211429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27</a:t>
            </a:fld>
            <a:endParaRPr lang="en-IN" dirty="0"/>
          </a:p>
        </p:txBody>
      </p:sp>
    </p:spTree>
    <p:extLst>
      <p:ext uri="{BB962C8B-B14F-4D97-AF65-F5344CB8AC3E}">
        <p14:creationId xmlns:p14="http://schemas.microsoft.com/office/powerpoint/2010/main" val="1236282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28</a:t>
            </a:fld>
            <a:endParaRPr lang="en-IN" dirty="0"/>
          </a:p>
        </p:txBody>
      </p:sp>
    </p:spTree>
    <p:extLst>
      <p:ext uri="{BB962C8B-B14F-4D97-AF65-F5344CB8AC3E}">
        <p14:creationId xmlns:p14="http://schemas.microsoft.com/office/powerpoint/2010/main" val="2537480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29</a:t>
            </a:fld>
            <a:endParaRPr lang="en-IN" dirty="0"/>
          </a:p>
        </p:txBody>
      </p:sp>
    </p:spTree>
    <p:extLst>
      <p:ext uri="{BB962C8B-B14F-4D97-AF65-F5344CB8AC3E}">
        <p14:creationId xmlns:p14="http://schemas.microsoft.com/office/powerpoint/2010/main" val="22299531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30</a:t>
            </a:fld>
            <a:endParaRPr lang="en-IN" dirty="0"/>
          </a:p>
        </p:txBody>
      </p:sp>
    </p:spTree>
    <p:extLst>
      <p:ext uri="{BB962C8B-B14F-4D97-AF65-F5344CB8AC3E}">
        <p14:creationId xmlns:p14="http://schemas.microsoft.com/office/powerpoint/2010/main" val="10033751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31</a:t>
            </a:fld>
            <a:endParaRPr lang="en-IN" dirty="0"/>
          </a:p>
        </p:txBody>
      </p:sp>
    </p:spTree>
    <p:extLst>
      <p:ext uri="{BB962C8B-B14F-4D97-AF65-F5344CB8AC3E}">
        <p14:creationId xmlns:p14="http://schemas.microsoft.com/office/powerpoint/2010/main" val="4226063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32</a:t>
            </a:fld>
            <a:endParaRPr lang="en-IN" dirty="0"/>
          </a:p>
        </p:txBody>
      </p:sp>
    </p:spTree>
    <p:extLst>
      <p:ext uri="{BB962C8B-B14F-4D97-AF65-F5344CB8AC3E}">
        <p14:creationId xmlns:p14="http://schemas.microsoft.com/office/powerpoint/2010/main" val="35255560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33</a:t>
            </a:fld>
            <a:endParaRPr lang="en-IN" dirty="0"/>
          </a:p>
        </p:txBody>
      </p:sp>
    </p:spTree>
    <p:extLst>
      <p:ext uri="{BB962C8B-B14F-4D97-AF65-F5344CB8AC3E}">
        <p14:creationId xmlns:p14="http://schemas.microsoft.com/office/powerpoint/2010/main" val="31877221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34</a:t>
            </a:fld>
            <a:endParaRPr lang="en-IN" dirty="0"/>
          </a:p>
        </p:txBody>
      </p:sp>
    </p:spTree>
    <p:extLst>
      <p:ext uri="{BB962C8B-B14F-4D97-AF65-F5344CB8AC3E}">
        <p14:creationId xmlns:p14="http://schemas.microsoft.com/office/powerpoint/2010/main" val="5392712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35</a:t>
            </a:fld>
            <a:endParaRPr lang="en-IN" dirty="0"/>
          </a:p>
        </p:txBody>
      </p:sp>
    </p:spTree>
    <p:extLst>
      <p:ext uri="{BB962C8B-B14F-4D97-AF65-F5344CB8AC3E}">
        <p14:creationId xmlns:p14="http://schemas.microsoft.com/office/powerpoint/2010/main" val="12719131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36</a:t>
            </a:fld>
            <a:endParaRPr lang="en-IN" dirty="0"/>
          </a:p>
        </p:txBody>
      </p:sp>
    </p:spTree>
    <p:extLst>
      <p:ext uri="{BB962C8B-B14F-4D97-AF65-F5344CB8AC3E}">
        <p14:creationId xmlns:p14="http://schemas.microsoft.com/office/powerpoint/2010/main" val="1728623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37</a:t>
            </a:fld>
            <a:endParaRPr lang="en-IN" dirty="0"/>
          </a:p>
        </p:txBody>
      </p:sp>
    </p:spTree>
    <p:extLst>
      <p:ext uri="{BB962C8B-B14F-4D97-AF65-F5344CB8AC3E}">
        <p14:creationId xmlns:p14="http://schemas.microsoft.com/office/powerpoint/2010/main" val="4079956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38</a:t>
            </a:fld>
            <a:endParaRPr lang="en-IN" dirty="0"/>
          </a:p>
        </p:txBody>
      </p:sp>
    </p:spTree>
    <p:extLst>
      <p:ext uri="{BB962C8B-B14F-4D97-AF65-F5344CB8AC3E}">
        <p14:creationId xmlns:p14="http://schemas.microsoft.com/office/powerpoint/2010/main" val="35900458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39</a:t>
            </a:fld>
            <a:endParaRPr lang="en-IN" dirty="0"/>
          </a:p>
        </p:txBody>
      </p:sp>
    </p:spTree>
    <p:extLst>
      <p:ext uri="{BB962C8B-B14F-4D97-AF65-F5344CB8AC3E}">
        <p14:creationId xmlns:p14="http://schemas.microsoft.com/office/powerpoint/2010/main" val="16743248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40</a:t>
            </a:fld>
            <a:endParaRPr lang="en-IN" dirty="0"/>
          </a:p>
        </p:txBody>
      </p:sp>
    </p:spTree>
    <p:extLst>
      <p:ext uri="{BB962C8B-B14F-4D97-AF65-F5344CB8AC3E}">
        <p14:creationId xmlns:p14="http://schemas.microsoft.com/office/powerpoint/2010/main" val="30437947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41</a:t>
            </a:fld>
            <a:endParaRPr lang="en-IN" dirty="0"/>
          </a:p>
        </p:txBody>
      </p:sp>
    </p:spTree>
    <p:extLst>
      <p:ext uri="{BB962C8B-B14F-4D97-AF65-F5344CB8AC3E}">
        <p14:creationId xmlns:p14="http://schemas.microsoft.com/office/powerpoint/2010/main" val="4568548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42</a:t>
            </a:fld>
            <a:endParaRPr lang="en-IN" dirty="0"/>
          </a:p>
        </p:txBody>
      </p:sp>
    </p:spTree>
    <p:extLst>
      <p:ext uri="{BB962C8B-B14F-4D97-AF65-F5344CB8AC3E}">
        <p14:creationId xmlns:p14="http://schemas.microsoft.com/office/powerpoint/2010/main" val="32044570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43</a:t>
            </a:fld>
            <a:endParaRPr lang="en-IN" dirty="0"/>
          </a:p>
        </p:txBody>
      </p:sp>
    </p:spTree>
    <p:extLst>
      <p:ext uri="{BB962C8B-B14F-4D97-AF65-F5344CB8AC3E}">
        <p14:creationId xmlns:p14="http://schemas.microsoft.com/office/powerpoint/2010/main" val="32816888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44</a:t>
            </a:fld>
            <a:endParaRPr lang="en-IN" dirty="0"/>
          </a:p>
        </p:txBody>
      </p:sp>
    </p:spTree>
    <p:extLst>
      <p:ext uri="{BB962C8B-B14F-4D97-AF65-F5344CB8AC3E}">
        <p14:creationId xmlns:p14="http://schemas.microsoft.com/office/powerpoint/2010/main" val="27421315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45</a:t>
            </a:fld>
            <a:endParaRPr lang="en-IN" dirty="0"/>
          </a:p>
        </p:txBody>
      </p:sp>
    </p:spTree>
    <p:extLst>
      <p:ext uri="{BB962C8B-B14F-4D97-AF65-F5344CB8AC3E}">
        <p14:creationId xmlns:p14="http://schemas.microsoft.com/office/powerpoint/2010/main" val="19238354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46</a:t>
            </a:fld>
            <a:endParaRPr lang="en-IN" dirty="0"/>
          </a:p>
        </p:txBody>
      </p:sp>
    </p:spTree>
    <p:extLst>
      <p:ext uri="{BB962C8B-B14F-4D97-AF65-F5344CB8AC3E}">
        <p14:creationId xmlns:p14="http://schemas.microsoft.com/office/powerpoint/2010/main" val="12563930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47</a:t>
            </a:fld>
            <a:endParaRPr lang="en-IN" dirty="0"/>
          </a:p>
        </p:txBody>
      </p:sp>
    </p:spTree>
    <p:extLst>
      <p:ext uri="{BB962C8B-B14F-4D97-AF65-F5344CB8AC3E}">
        <p14:creationId xmlns:p14="http://schemas.microsoft.com/office/powerpoint/2010/main" val="14718170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48</a:t>
            </a:fld>
            <a:endParaRPr lang="en-IN" dirty="0"/>
          </a:p>
        </p:txBody>
      </p:sp>
    </p:spTree>
    <p:extLst>
      <p:ext uri="{BB962C8B-B14F-4D97-AF65-F5344CB8AC3E}">
        <p14:creationId xmlns:p14="http://schemas.microsoft.com/office/powerpoint/2010/main" val="15236217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49</a:t>
            </a:fld>
            <a:endParaRPr lang="en-IN" dirty="0"/>
          </a:p>
        </p:txBody>
      </p:sp>
    </p:spTree>
    <p:extLst>
      <p:ext uri="{BB962C8B-B14F-4D97-AF65-F5344CB8AC3E}">
        <p14:creationId xmlns:p14="http://schemas.microsoft.com/office/powerpoint/2010/main" val="11880665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50</a:t>
            </a:fld>
            <a:endParaRPr lang="en-IN" dirty="0"/>
          </a:p>
        </p:txBody>
      </p:sp>
    </p:spTree>
    <p:extLst>
      <p:ext uri="{BB962C8B-B14F-4D97-AF65-F5344CB8AC3E}">
        <p14:creationId xmlns:p14="http://schemas.microsoft.com/office/powerpoint/2010/main" val="37660088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51</a:t>
            </a:fld>
            <a:endParaRPr lang="en-IN" dirty="0"/>
          </a:p>
        </p:txBody>
      </p:sp>
    </p:spTree>
    <p:extLst>
      <p:ext uri="{BB962C8B-B14F-4D97-AF65-F5344CB8AC3E}">
        <p14:creationId xmlns:p14="http://schemas.microsoft.com/office/powerpoint/2010/main" val="24555114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52</a:t>
            </a:fld>
            <a:endParaRPr lang="en-IN" dirty="0"/>
          </a:p>
        </p:txBody>
      </p:sp>
    </p:spTree>
    <p:extLst>
      <p:ext uri="{BB962C8B-B14F-4D97-AF65-F5344CB8AC3E}">
        <p14:creationId xmlns:p14="http://schemas.microsoft.com/office/powerpoint/2010/main" val="28194928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53</a:t>
            </a:fld>
            <a:endParaRPr lang="en-IN" dirty="0"/>
          </a:p>
        </p:txBody>
      </p:sp>
    </p:spTree>
    <p:extLst>
      <p:ext uri="{BB962C8B-B14F-4D97-AF65-F5344CB8AC3E}">
        <p14:creationId xmlns:p14="http://schemas.microsoft.com/office/powerpoint/2010/main" val="25796290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54</a:t>
            </a:fld>
            <a:endParaRPr lang="en-IN" dirty="0"/>
          </a:p>
        </p:txBody>
      </p:sp>
    </p:spTree>
    <p:extLst>
      <p:ext uri="{BB962C8B-B14F-4D97-AF65-F5344CB8AC3E}">
        <p14:creationId xmlns:p14="http://schemas.microsoft.com/office/powerpoint/2010/main" val="19030439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55</a:t>
            </a:fld>
            <a:endParaRPr lang="en-IN" dirty="0"/>
          </a:p>
        </p:txBody>
      </p:sp>
    </p:spTree>
    <p:extLst>
      <p:ext uri="{BB962C8B-B14F-4D97-AF65-F5344CB8AC3E}">
        <p14:creationId xmlns:p14="http://schemas.microsoft.com/office/powerpoint/2010/main" val="41248128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56</a:t>
            </a:fld>
            <a:endParaRPr lang="en-IN" dirty="0"/>
          </a:p>
        </p:txBody>
      </p:sp>
    </p:spTree>
    <p:extLst>
      <p:ext uri="{BB962C8B-B14F-4D97-AF65-F5344CB8AC3E}">
        <p14:creationId xmlns:p14="http://schemas.microsoft.com/office/powerpoint/2010/main" val="2149808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4049DA-A4A5-47E4-9463-99E9CC6B62DB}" type="slidenum">
              <a:rPr lang="en-IN" smtClean="0"/>
              <a:t>57</a:t>
            </a:fld>
            <a:endParaRPr lang="en-IN" dirty="0"/>
          </a:p>
        </p:txBody>
      </p:sp>
    </p:spTree>
    <p:extLst>
      <p:ext uri="{BB962C8B-B14F-4D97-AF65-F5344CB8AC3E}">
        <p14:creationId xmlns:p14="http://schemas.microsoft.com/office/powerpoint/2010/main" val="1889262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E9C6C-35F8-04B6-9FBF-432E946AB8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8C1C22-5E40-C8FC-EFF6-A292A8FC4C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BD3438E-7E57-EFCB-1EFB-264B8D4CCB86}"/>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5" name="Footer Placeholder 4">
            <a:extLst>
              <a:ext uri="{FF2B5EF4-FFF2-40B4-BE49-F238E27FC236}">
                <a16:creationId xmlns:a16="http://schemas.microsoft.com/office/drawing/2014/main" id="{335B2BF0-223B-4962-E4A7-F1C420ED59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B0F4BB-8514-C96E-9D00-E1F4270F6D44}"/>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1372475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B36CF-A072-A5DF-E8CD-1AD0898B47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E54EB3-8F51-66CB-D09E-5C4D7C90F3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8222A5-51E0-BD9D-80B2-C94B8675A302}"/>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5" name="Footer Placeholder 4">
            <a:extLst>
              <a:ext uri="{FF2B5EF4-FFF2-40B4-BE49-F238E27FC236}">
                <a16:creationId xmlns:a16="http://schemas.microsoft.com/office/drawing/2014/main" id="{833F4DF7-C69D-0450-86CB-65613C4379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21060E-C697-A56D-C42C-26D9ED73B530}"/>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3684869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D822-08FE-0813-B171-802B334BD2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315D07-91E1-70A6-A32D-F03DA3A086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19B8D1-2195-5C49-949E-FF65EB89A161}"/>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5" name="Footer Placeholder 4">
            <a:extLst>
              <a:ext uri="{FF2B5EF4-FFF2-40B4-BE49-F238E27FC236}">
                <a16:creationId xmlns:a16="http://schemas.microsoft.com/office/drawing/2014/main" id="{9C2E9A07-8DB9-8063-3CBF-C6E429E795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ABD4A1-F9D1-3DB6-CF1F-D07D45060994}"/>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527363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BA9F7-288A-5CB6-4538-0A8E30CEE2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7C958A-9CD2-EB1E-8D9A-E06496A85B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4784F1-993B-83FD-CCD9-B7FB304BDC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A0EE16-AD3A-EF00-59B4-8E228063E8B8}"/>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6" name="Footer Placeholder 5">
            <a:extLst>
              <a:ext uri="{FF2B5EF4-FFF2-40B4-BE49-F238E27FC236}">
                <a16:creationId xmlns:a16="http://schemas.microsoft.com/office/drawing/2014/main" id="{1AEF4CBC-22A5-C359-B8AF-E4371C6C03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0AB275-9CFF-11E7-7428-6ED9C9FC7322}"/>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405166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BDBB1-6568-871F-8403-F1EDD1E519C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32DC85-25B9-58CC-3395-8F83D8D468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185BBB-CC78-CE99-5EA4-AF371AF88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BE730E-B89A-0A41-9623-EFE22BAA62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0D0F8E-AC15-3176-DD70-942A0F77BE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73CBF7-CB4C-53EC-2858-887A89D6D7E2}"/>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8" name="Footer Placeholder 7">
            <a:extLst>
              <a:ext uri="{FF2B5EF4-FFF2-40B4-BE49-F238E27FC236}">
                <a16:creationId xmlns:a16="http://schemas.microsoft.com/office/drawing/2014/main" id="{FA2CD7B4-9DFF-932F-8A4D-03B7D395E8B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3F4573-0997-6AAB-96D0-BC9565454249}"/>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362845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AB97-87BB-D59B-F3F3-4DAEF2D08A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E90595-BD0E-F116-48A0-B16D941DFDA9}"/>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4" name="Footer Placeholder 3">
            <a:extLst>
              <a:ext uri="{FF2B5EF4-FFF2-40B4-BE49-F238E27FC236}">
                <a16:creationId xmlns:a16="http://schemas.microsoft.com/office/drawing/2014/main" id="{95BACE2B-FB3B-EE8A-3219-254298CD303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7EDE57-79DE-2CB0-4348-E284BE70A5FD}"/>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1481967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725A26-82A2-E03F-6E06-1F30268F7DEF}"/>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3" name="Footer Placeholder 2">
            <a:extLst>
              <a:ext uri="{FF2B5EF4-FFF2-40B4-BE49-F238E27FC236}">
                <a16:creationId xmlns:a16="http://schemas.microsoft.com/office/drawing/2014/main" id="{E63A8941-0AA7-0178-396E-89B5B16601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E809DA-81F9-25FB-3C4F-834A2E2741C7}"/>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2084196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25C60-63D5-8131-961D-587144DDF7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A7B1A0-46C0-147F-6262-5495CAC236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3F566A-DEF3-9273-1BC3-54BE6C771D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4F02C2-DABF-6065-468A-6BECF14B247C}"/>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6" name="Footer Placeholder 5">
            <a:extLst>
              <a:ext uri="{FF2B5EF4-FFF2-40B4-BE49-F238E27FC236}">
                <a16:creationId xmlns:a16="http://schemas.microsoft.com/office/drawing/2014/main" id="{704C0B62-F583-78BF-5A7F-16C9179D0C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ADC641-F3FF-1E94-A0DF-DC66342A1C6E}"/>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236155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BD17-222B-F68D-2CB8-BF084699CD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EB727C-EDCA-AAC5-9B6A-DA8BD62F4C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959D82-A6E9-A494-D0A9-BAE42F1B30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2A924C-8475-6EA3-6278-1CF7E05B9CF0}"/>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6" name="Footer Placeholder 5">
            <a:extLst>
              <a:ext uri="{FF2B5EF4-FFF2-40B4-BE49-F238E27FC236}">
                <a16:creationId xmlns:a16="http://schemas.microsoft.com/office/drawing/2014/main" id="{B150D2B2-991F-5E4B-523E-776D199A32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5434ED-4AA2-D938-178C-9EB1600C7CF8}"/>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371460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58E63-E152-9CF0-64C7-12C181A39C3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76DDB5-4882-DC09-6BDD-CCDF1580C5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AD4587-9CE1-43A6-1592-8DFE3D6A2C3E}"/>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5" name="Footer Placeholder 4">
            <a:extLst>
              <a:ext uri="{FF2B5EF4-FFF2-40B4-BE49-F238E27FC236}">
                <a16:creationId xmlns:a16="http://schemas.microsoft.com/office/drawing/2014/main" id="{97020C6D-004A-DDB3-F227-13BD5E7F6B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B93C21-9427-1507-F514-2A11296B0105}"/>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237237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6B49CB-A63E-4B8E-8ECF-0B7C0238ED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DAB6A04-B140-DC94-BCD2-689E76EA77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FEF8CF-4970-F4FB-E8CB-A2996A53DDEA}"/>
              </a:ext>
            </a:extLst>
          </p:cNvPr>
          <p:cNvSpPr>
            <a:spLocks noGrp="1"/>
          </p:cNvSpPr>
          <p:nvPr>
            <p:ph type="dt" sz="half" idx="10"/>
          </p:nvPr>
        </p:nvSpPr>
        <p:spPr/>
        <p:txBody>
          <a:bodyPr/>
          <a:lstStyle/>
          <a:p>
            <a:fld id="{D32436EE-518D-44E9-9191-7F40D79EC9CD}" type="datetimeFigureOut">
              <a:rPr lang="en-IN" smtClean="0"/>
              <a:t>15-05-2025</a:t>
            </a:fld>
            <a:endParaRPr lang="en-IN"/>
          </a:p>
        </p:txBody>
      </p:sp>
      <p:sp>
        <p:nvSpPr>
          <p:cNvPr id="5" name="Footer Placeholder 4">
            <a:extLst>
              <a:ext uri="{FF2B5EF4-FFF2-40B4-BE49-F238E27FC236}">
                <a16:creationId xmlns:a16="http://schemas.microsoft.com/office/drawing/2014/main" id="{30A8DEF8-5AB0-A0A9-E131-1DFE559A02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917F9A-843B-BB50-C270-E8ABD41C9030}"/>
              </a:ext>
            </a:extLst>
          </p:cNvPr>
          <p:cNvSpPr>
            <a:spLocks noGrp="1"/>
          </p:cNvSpPr>
          <p:nvPr>
            <p:ph type="sldNum" sz="quarter" idx="12"/>
          </p:nvPr>
        </p:nvSpPr>
        <p:spPr/>
        <p:txBody>
          <a:bodyPr/>
          <a:lstStyle/>
          <a:p>
            <a:fld id="{3DBFF599-7E50-4343-8451-39BA604AFDDA}" type="slidenum">
              <a:rPr lang="en-IN" smtClean="0"/>
              <a:t>‹#›</a:t>
            </a:fld>
            <a:endParaRPr lang="en-IN"/>
          </a:p>
        </p:txBody>
      </p:sp>
    </p:spTree>
    <p:extLst>
      <p:ext uri="{BB962C8B-B14F-4D97-AF65-F5344CB8AC3E}">
        <p14:creationId xmlns:p14="http://schemas.microsoft.com/office/powerpoint/2010/main" val="2016821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0D0CB1-0211-7C72-0F86-FB9ECBDC22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D879F1-68C0-1AF8-2CE0-D9A1FED3D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A7F136-0901-7B89-B6C9-44B763EFB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2436EE-518D-44E9-9191-7F40D79EC9CD}" type="datetimeFigureOut">
              <a:rPr lang="en-IN" smtClean="0"/>
              <a:t>15-05-2025</a:t>
            </a:fld>
            <a:endParaRPr lang="en-IN"/>
          </a:p>
        </p:txBody>
      </p:sp>
      <p:sp>
        <p:nvSpPr>
          <p:cNvPr id="5" name="Footer Placeholder 4">
            <a:extLst>
              <a:ext uri="{FF2B5EF4-FFF2-40B4-BE49-F238E27FC236}">
                <a16:creationId xmlns:a16="http://schemas.microsoft.com/office/drawing/2014/main" id="{8013ED61-8D81-6A1B-CE29-AADDA1FF5D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97F7AF-9088-7E28-5000-8BA0EF6818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BFF599-7E50-4343-8451-39BA604AFDDA}" type="slidenum">
              <a:rPr lang="en-IN" smtClean="0"/>
              <a:t>‹#›</a:t>
            </a:fld>
            <a:endParaRPr lang="en-IN"/>
          </a:p>
        </p:txBody>
      </p:sp>
    </p:spTree>
    <p:extLst>
      <p:ext uri="{BB962C8B-B14F-4D97-AF65-F5344CB8AC3E}">
        <p14:creationId xmlns:p14="http://schemas.microsoft.com/office/powerpoint/2010/main" val="727172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hyperlink" Target="https://marketsquare.github.io/robotframework-requests/doc/RequestsLibrary.html" TargetMode="External"/><Relationship Id="rId2" Type="http://schemas.openxmlformats.org/officeDocument/2006/relationships/hyperlink" Target="https://robotframework.org/SeleniumLibrary/SeleniumLibrary.html" TargetMode="External"/><Relationship Id="rId1" Type="http://schemas.openxmlformats.org/officeDocument/2006/relationships/slideLayout" Target="../slideLayouts/slideLayout2.xml"/><Relationship Id="rId6" Type="http://schemas.openxmlformats.org/officeDocument/2006/relationships/hyperlink" Target="https://robotframework.org/robotframework/latest/libraries/BuiltIn.html" TargetMode="External"/><Relationship Id="rId5" Type="http://schemas.openxmlformats.org/officeDocument/2006/relationships/hyperlink" Target="https://robotframework.org/robotframework/latest/libraries/Collections.html" TargetMode="External"/><Relationship Id="rId4" Type="http://schemas.openxmlformats.org/officeDocument/2006/relationships/hyperlink" Target="https://robotframework-thailand.github.io/robotframework-jsonlibrary/JSONLibrary.html"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hyperlink" Target="https://testersdock.com/handle-javascript-alert-robot-framework/"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9FBE2F-424D-2758-B442-BC833E9162DF}"/>
              </a:ext>
            </a:extLst>
          </p:cNvPr>
          <p:cNvPicPr>
            <a:picLocks noChangeAspect="1"/>
          </p:cNvPicPr>
          <p:nvPr/>
        </p:nvPicPr>
        <p:blipFill rotWithShape="1">
          <a:blip r:embed="rId3"/>
          <a:srcRect l="23298" b="9091"/>
          <a:stretch/>
        </p:blipFill>
        <p:spPr>
          <a:xfrm>
            <a:off x="20" y="10"/>
            <a:ext cx="8668492" cy="6857990"/>
          </a:xfrm>
          <a:prstGeom prst="rect">
            <a:avLst/>
          </a:prstGeom>
        </p:spPr>
      </p:pic>
      <p:sp>
        <p:nvSpPr>
          <p:cNvPr id="2" name="Title 1">
            <a:extLst>
              <a:ext uri="{FF2B5EF4-FFF2-40B4-BE49-F238E27FC236}">
                <a16:creationId xmlns:a16="http://schemas.microsoft.com/office/drawing/2014/main" id="{5A51C71B-0006-F187-740B-95C542F2BDE8}"/>
              </a:ext>
            </a:extLst>
          </p:cNvPr>
          <p:cNvSpPr>
            <a:spLocks noGrp="1"/>
          </p:cNvSpPr>
          <p:nvPr>
            <p:ph type="ctrTitle"/>
          </p:nvPr>
        </p:nvSpPr>
        <p:spPr>
          <a:xfrm>
            <a:off x="7848600" y="1122363"/>
            <a:ext cx="4023360" cy="3204134"/>
          </a:xfrm>
        </p:spPr>
        <p:txBody>
          <a:bodyPr anchor="b">
            <a:normAutofit/>
          </a:bodyPr>
          <a:lstStyle/>
          <a:p>
            <a:pPr algn="l"/>
            <a:r>
              <a:rPr lang="en-IN" sz="4800" dirty="0"/>
              <a:t>Robot  Framework</a:t>
            </a:r>
          </a:p>
        </p:txBody>
      </p:sp>
    </p:spTree>
    <p:extLst>
      <p:ext uri="{BB962C8B-B14F-4D97-AF65-F5344CB8AC3E}">
        <p14:creationId xmlns:p14="http://schemas.microsoft.com/office/powerpoint/2010/main" val="389759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9" name="Rectangle 1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r>
              <a:rPr lang="en-IN" sz="4000" dirty="0">
                <a:latin typeface="+mn-lt"/>
                <a:cs typeface="Times New Roman" panose="02020603050405020304" pitchFamily="18" charset="0"/>
              </a:rPr>
              <a:t>				</a:t>
            </a:r>
            <a:r>
              <a:rPr lang="en-IN" sz="4000" b="1" dirty="0">
                <a:latin typeface="+mn-lt"/>
                <a:cs typeface="Times New Roman" panose="02020603050405020304" pitchFamily="18" charset="0"/>
              </a:rPr>
              <a:t>Agenda</a:t>
            </a:r>
          </a:p>
        </p:txBody>
      </p:sp>
      <p:sp>
        <p:nvSpPr>
          <p:cNvPr id="21" name="Rectangle 2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EC4FF4D6-3F85-2207-38C3-BDCCEFFD1DDD}"/>
              </a:ext>
            </a:extLst>
          </p:cNvPr>
          <p:cNvSpPr>
            <a:spLocks noGrp="1"/>
          </p:cNvSpPr>
          <p:nvPr>
            <p:ph idx="1"/>
          </p:nvPr>
        </p:nvSpPr>
        <p:spPr>
          <a:xfrm>
            <a:off x="1115568" y="2481943"/>
            <a:ext cx="10168128" cy="3695020"/>
          </a:xfrm>
        </p:spPr>
        <p:txBody>
          <a:bodyPr>
            <a:normAutofit/>
          </a:bodyPr>
          <a:lstStyle/>
          <a:p>
            <a:r>
              <a:rPr lang="en-US" sz="2200" b="1" dirty="0">
                <a:cs typeface="Times New Roman" panose="02020603050405020304" pitchFamily="18" charset="0"/>
              </a:rPr>
              <a:t>Creation of Test Suites</a:t>
            </a:r>
          </a:p>
          <a:p>
            <a:r>
              <a:rPr lang="en-US" sz="2200" b="1" dirty="0">
                <a:cs typeface="Times New Roman" panose="02020603050405020304" pitchFamily="18" charset="0"/>
              </a:rPr>
              <a:t>Creation of testcases</a:t>
            </a:r>
          </a:p>
          <a:p>
            <a:r>
              <a:rPr lang="en-US" sz="2200" b="1" dirty="0">
                <a:cs typeface="Times New Roman" panose="02020603050405020304" pitchFamily="18" charset="0"/>
              </a:rPr>
              <a:t>Testcase syntax</a:t>
            </a:r>
            <a:endParaRPr lang="en-US" sz="2200" b="1" i="0" u="none" strike="noStrike" dirty="0">
              <a:effectLst/>
              <a:latin typeface="Aptos Narrow" panose="020B0004020202020204" pitchFamily="34" charset="0"/>
            </a:endParaRPr>
          </a:p>
          <a:p>
            <a:r>
              <a:rPr lang="en-US" sz="2200" b="1" i="0" u="none" strike="noStrike" dirty="0">
                <a:effectLst/>
                <a:latin typeface="Aptos Narrow" panose="020B0004020202020204" pitchFamily="34" charset="0"/>
              </a:rPr>
              <a:t>Getting Started with Robot Framework</a:t>
            </a:r>
            <a:r>
              <a:rPr lang="en-US" sz="2200" dirty="0"/>
              <a:t> </a:t>
            </a:r>
            <a:r>
              <a:rPr lang="en-US" sz="2200" b="1" dirty="0">
                <a:cs typeface="Times New Roman" panose="02020603050405020304" pitchFamily="18" charset="0"/>
              </a:rPr>
              <a:t> </a:t>
            </a:r>
          </a:p>
          <a:p>
            <a:r>
              <a:rPr lang="en-US" sz="2200" b="1" dirty="0">
                <a:cs typeface="Times New Roman" panose="02020603050405020304" pitchFamily="18" charset="0"/>
              </a:rPr>
              <a:t>Web UI automation </a:t>
            </a:r>
          </a:p>
          <a:p>
            <a:r>
              <a:rPr lang="en-US" sz="2200" b="1" dirty="0">
                <a:cs typeface="Times New Roman" panose="02020603050405020304" pitchFamily="18" charset="0"/>
              </a:rPr>
              <a:t>Database testing</a:t>
            </a:r>
          </a:p>
          <a:p>
            <a:r>
              <a:rPr lang="en-US" sz="2200" b="1" dirty="0">
                <a:cs typeface="Times New Roman" panose="02020603050405020304" pitchFamily="18" charset="0"/>
              </a:rPr>
              <a:t>API testing</a:t>
            </a:r>
          </a:p>
          <a:p>
            <a:r>
              <a:rPr lang="en-US" sz="2200" b="1" dirty="0">
                <a:cs typeface="Times New Roman" panose="02020603050405020304" pitchFamily="18" charset="0"/>
              </a:rPr>
              <a:t>Integration to Jenkins</a:t>
            </a:r>
          </a:p>
          <a:p>
            <a:endParaRPr lang="en-US" sz="2200" b="1" dirty="0">
              <a:cs typeface="Times New Roman" panose="02020603050405020304" pitchFamily="18" charset="0"/>
            </a:endParaRPr>
          </a:p>
        </p:txBody>
      </p:sp>
    </p:spTree>
    <p:extLst>
      <p:ext uri="{BB962C8B-B14F-4D97-AF65-F5344CB8AC3E}">
        <p14:creationId xmlns:p14="http://schemas.microsoft.com/office/powerpoint/2010/main" val="209379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r>
              <a:rPr lang="en-IN" sz="4000" dirty="0">
                <a:latin typeface="+mn-lt"/>
                <a:cs typeface="Times New Roman" panose="02020603050405020304" pitchFamily="18" charset="0"/>
              </a:rPr>
              <a:t>			Robot Framework</a:t>
            </a:r>
            <a:endParaRPr lang="en-IN" sz="4000" b="1" dirty="0">
              <a:latin typeface="+mn-lt"/>
              <a:cs typeface="Times New Roman" panose="02020603050405020304" pitchFamily="18" charset="0"/>
            </a:endParaRPr>
          </a:p>
        </p:txBody>
      </p:sp>
      <p:sp>
        <p:nvSpPr>
          <p:cNvPr id="16" name="Rectangle 1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EC4FF4D6-3F85-2207-38C3-BDCCEFFD1DDD}"/>
              </a:ext>
            </a:extLst>
          </p:cNvPr>
          <p:cNvSpPr>
            <a:spLocks noGrp="1"/>
          </p:cNvSpPr>
          <p:nvPr>
            <p:ph idx="1"/>
          </p:nvPr>
        </p:nvSpPr>
        <p:spPr>
          <a:xfrm>
            <a:off x="1115568" y="2481943"/>
            <a:ext cx="10168128" cy="3695020"/>
          </a:xfrm>
        </p:spPr>
        <p:txBody>
          <a:bodyPr>
            <a:normAutofit/>
          </a:bodyPr>
          <a:lstStyle/>
          <a:p>
            <a:r>
              <a:rPr lang="en-US" sz="2200" b="1" dirty="0">
                <a:cs typeface="Times New Roman" panose="02020603050405020304" pitchFamily="18" charset="0"/>
              </a:rPr>
              <a:t>Robot framework is a generic test automation </a:t>
            </a:r>
            <a:r>
              <a:rPr lang="en-US" sz="2200" b="1">
                <a:cs typeface="Times New Roman" panose="02020603050405020304" pitchFamily="18" charset="0"/>
              </a:rPr>
              <a:t>framework </a:t>
            </a:r>
          </a:p>
          <a:p>
            <a:r>
              <a:rPr lang="en-US" sz="2200" b="1">
                <a:cs typeface="Times New Roman" panose="02020603050405020304" pitchFamily="18" charset="0"/>
              </a:rPr>
              <a:t>It </a:t>
            </a:r>
            <a:r>
              <a:rPr lang="en-US" sz="2200" b="1" dirty="0">
                <a:cs typeface="Times New Roman" panose="02020603050405020304" pitchFamily="18" charset="0"/>
              </a:rPr>
              <a:t>utilizes the keyword driven testing approach</a:t>
            </a:r>
          </a:p>
          <a:p>
            <a:r>
              <a:rPr lang="en-US" sz="2200" b="1" dirty="0">
                <a:cs typeface="Times New Roman" panose="02020603050405020304" pitchFamily="18" charset="0"/>
              </a:rPr>
              <a:t>Provides test libraries implemented either in python or java</a:t>
            </a:r>
          </a:p>
          <a:p>
            <a:r>
              <a:rPr lang="en-US" sz="2200" b="1" dirty="0">
                <a:cs typeface="Times New Roman" panose="02020603050405020304" pitchFamily="18" charset="0"/>
              </a:rPr>
              <a:t>No much programming needed</a:t>
            </a:r>
          </a:p>
          <a:p>
            <a:pPr marL="0" indent="0">
              <a:buNone/>
            </a:pPr>
            <a:endParaRPr lang="en-US" sz="2200" b="1" dirty="0">
              <a:cs typeface="Times New Roman" panose="02020603050405020304" pitchFamily="18" charset="0"/>
            </a:endParaRPr>
          </a:p>
          <a:p>
            <a:pPr marL="0" indent="0">
              <a:buNone/>
            </a:pPr>
            <a:r>
              <a:rPr lang="en-US" sz="2200" b="1" dirty="0">
                <a:cs typeface="Times New Roman" panose="02020603050405020304" pitchFamily="18" charset="0"/>
              </a:rPr>
              <a:t> </a:t>
            </a:r>
          </a:p>
        </p:txBody>
      </p:sp>
    </p:spTree>
    <p:extLst>
      <p:ext uri="{BB962C8B-B14F-4D97-AF65-F5344CB8AC3E}">
        <p14:creationId xmlns:p14="http://schemas.microsoft.com/office/powerpoint/2010/main" val="801072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dirty="0">
                <a:solidFill>
                  <a:schemeClr val="tx1"/>
                </a:solidFill>
                <a:latin typeface="+mj-lt"/>
                <a:ea typeface="+mj-ea"/>
                <a:cs typeface="+mj-cs"/>
              </a:rPr>
              <a:t>Robot Framework Architecture</a:t>
            </a:r>
            <a:endParaRPr lang="en-US" sz="4800" b="1" kern="1200" dirty="0">
              <a:solidFill>
                <a:schemeClr val="tx1"/>
              </a:solidFill>
              <a:latin typeface="+mj-lt"/>
              <a:ea typeface="+mj-ea"/>
              <a:cs typeface="+mj-cs"/>
            </a:endParaRP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pic>
        <p:nvPicPr>
          <p:cNvPr id="7" name="Picture 6">
            <a:extLst>
              <a:ext uri="{FF2B5EF4-FFF2-40B4-BE49-F238E27FC236}">
                <a16:creationId xmlns:a16="http://schemas.microsoft.com/office/drawing/2014/main" id="{2E847DC4-5001-809B-EBBF-269E8CCF2584}"/>
              </a:ext>
            </a:extLst>
          </p:cNvPr>
          <p:cNvPicPr>
            <a:picLocks noChangeAspect="1"/>
          </p:cNvPicPr>
          <p:nvPr/>
        </p:nvPicPr>
        <p:blipFill>
          <a:blip r:embed="rId3"/>
          <a:stretch>
            <a:fillRect/>
          </a:stretch>
        </p:blipFill>
        <p:spPr>
          <a:xfrm>
            <a:off x="4864608" y="675756"/>
            <a:ext cx="6846363" cy="5355234"/>
          </a:xfrm>
          <a:prstGeom prst="rect">
            <a:avLst/>
          </a:prstGeom>
        </p:spPr>
      </p:pic>
    </p:spTree>
    <p:extLst>
      <p:ext uri="{BB962C8B-B14F-4D97-AF65-F5344CB8AC3E}">
        <p14:creationId xmlns:p14="http://schemas.microsoft.com/office/powerpoint/2010/main" val="1838946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2041955" y="494675"/>
            <a:ext cx="10150045" cy="764499"/>
          </a:xfrm>
        </p:spPr>
        <p:txBody>
          <a:bodyPr vert="horz" lIns="91440" tIns="45720" rIns="91440" bIns="45720" rtlCol="0" anchor="b">
            <a:normAutofit/>
          </a:bodyPr>
          <a:lstStyle/>
          <a:p>
            <a:r>
              <a:rPr lang="en-US" sz="4000" kern="1200" dirty="0">
                <a:solidFill>
                  <a:schemeClr val="tx1"/>
                </a:solidFill>
                <a:latin typeface="+mj-lt"/>
                <a:ea typeface="+mj-ea"/>
                <a:cs typeface="+mj-cs"/>
              </a:rPr>
              <a:t>	Robot Framework Advantages </a:t>
            </a:r>
            <a:endParaRPr lang="en-US" sz="4000" b="1"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10662E8E-7B92-1EEB-5140-8A25C4C3A920}"/>
              </a:ext>
            </a:extLst>
          </p:cNvPr>
          <p:cNvSpPr txBox="1"/>
          <p:nvPr/>
        </p:nvSpPr>
        <p:spPr>
          <a:xfrm>
            <a:off x="1251285" y="2000253"/>
            <a:ext cx="9031704" cy="3375283"/>
          </a:xfrm>
          <a:prstGeom prst="rect">
            <a:avLst/>
          </a:prstGeom>
          <a:noFill/>
        </p:spPr>
        <p:txBody>
          <a:bodyPr wrap="square">
            <a:spAutoFit/>
          </a:bodyPr>
          <a:lstStyle/>
          <a:p>
            <a:pPr algn="l">
              <a:buFont typeface="Arial" panose="020B0604020202020204" pitchFamily="34" charset="0"/>
              <a:buChar char="•"/>
            </a:pPr>
            <a:endParaRPr lang="en-US" sz="2000" b="1" i="0" baseline="30000" dirty="0">
              <a:effectLst/>
              <a:highlight>
                <a:srgbClr val="D1DBFA"/>
              </a:highlight>
            </a:endParaRPr>
          </a:p>
          <a:p>
            <a:pPr algn="l">
              <a:buFont typeface="Arial" panose="020B0604020202020204" pitchFamily="34" charset="0"/>
              <a:buChar char="•"/>
            </a:pPr>
            <a:r>
              <a:rPr lang="en-US" sz="2000" b="1" i="0" dirty="0">
                <a:effectLst/>
                <a:highlight>
                  <a:srgbClr val="FFFFFF"/>
                </a:highlight>
              </a:rPr>
              <a:t>Easy integration with other tools</a:t>
            </a:r>
          </a:p>
          <a:p>
            <a:pPr algn="l">
              <a:buFont typeface="Arial" panose="020B0604020202020204" pitchFamily="34" charset="0"/>
              <a:buChar char="•"/>
            </a:pPr>
            <a:endParaRPr lang="en-US" sz="2000" b="1" i="0" dirty="0">
              <a:effectLst/>
              <a:highlight>
                <a:srgbClr val="FFFFFF"/>
              </a:highlight>
            </a:endParaRPr>
          </a:p>
          <a:p>
            <a:pPr algn="l">
              <a:buFont typeface="Arial" panose="020B0604020202020204" pitchFamily="34" charset="0"/>
              <a:buChar char="•"/>
            </a:pPr>
            <a:r>
              <a:rPr lang="en-US" sz="2000" b="1" i="0" dirty="0">
                <a:effectLst/>
                <a:highlight>
                  <a:srgbClr val="FFFFFF"/>
                </a:highlight>
              </a:rPr>
              <a:t>Detailed reporting</a:t>
            </a:r>
          </a:p>
          <a:p>
            <a:pPr algn="l">
              <a:buFont typeface="Arial" panose="020B0604020202020204" pitchFamily="34" charset="0"/>
              <a:buChar char="•"/>
            </a:pPr>
            <a:endParaRPr lang="en-US" sz="2000" b="1" i="0" dirty="0">
              <a:effectLst/>
              <a:highlight>
                <a:srgbClr val="FFFFFF"/>
              </a:highlight>
            </a:endParaRPr>
          </a:p>
          <a:p>
            <a:pPr algn="l">
              <a:buFont typeface="Arial" panose="020B0604020202020204" pitchFamily="34" charset="0"/>
              <a:buChar char="•"/>
            </a:pPr>
            <a:r>
              <a:rPr lang="en-US" sz="2000" b="1" i="0" dirty="0">
                <a:effectLst/>
                <a:highlight>
                  <a:srgbClr val="FFFFFF"/>
                </a:highlight>
              </a:rPr>
              <a:t>Wide range of test libraries</a:t>
            </a:r>
          </a:p>
          <a:p>
            <a:pPr algn="l">
              <a:buFont typeface="Arial" panose="020B0604020202020204" pitchFamily="34" charset="0"/>
              <a:buChar char="•"/>
            </a:pPr>
            <a:endParaRPr lang="en-US" sz="2000" b="1" i="0" dirty="0">
              <a:effectLst/>
              <a:highlight>
                <a:srgbClr val="FFFFFF"/>
              </a:highlight>
            </a:endParaRPr>
          </a:p>
          <a:p>
            <a:pPr algn="l">
              <a:buFont typeface="Arial" panose="020B0604020202020204" pitchFamily="34" charset="0"/>
              <a:buChar char="•"/>
            </a:pPr>
            <a:r>
              <a:rPr lang="en-US" sz="2000" b="1" i="0" dirty="0">
                <a:effectLst/>
                <a:highlight>
                  <a:srgbClr val="FFFFFF"/>
                </a:highlight>
              </a:rPr>
              <a:t>Easy to install and use, even for newcomers</a:t>
            </a:r>
          </a:p>
          <a:p>
            <a:pPr algn="l">
              <a:buFont typeface="Arial" panose="020B0604020202020204" pitchFamily="34" charset="0"/>
              <a:buChar char="•"/>
            </a:pPr>
            <a:endParaRPr lang="en-US" sz="2000" b="1" i="0" dirty="0">
              <a:effectLst/>
              <a:highlight>
                <a:srgbClr val="FFFFFF"/>
              </a:highlight>
            </a:endParaRPr>
          </a:p>
          <a:p>
            <a:pPr algn="l">
              <a:buFont typeface="Arial" panose="020B0604020202020204" pitchFamily="34" charset="0"/>
              <a:buChar char="•"/>
            </a:pPr>
            <a:r>
              <a:rPr lang="en-US" sz="2000" b="1" i="0" dirty="0">
                <a:effectLst/>
                <a:highlight>
                  <a:srgbClr val="FFFFFF"/>
                </a:highlight>
              </a:rPr>
              <a:t>Supports behavior-driven, keyword-driven, and data-driven styles of building test cases</a:t>
            </a:r>
          </a:p>
        </p:txBody>
      </p:sp>
    </p:spTree>
    <p:extLst>
      <p:ext uri="{BB962C8B-B14F-4D97-AF65-F5344CB8AC3E}">
        <p14:creationId xmlns:p14="http://schemas.microsoft.com/office/powerpoint/2010/main" val="2516080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847083" y="164891"/>
            <a:ext cx="10150045" cy="764499"/>
          </a:xfrm>
        </p:spPr>
        <p:txBody>
          <a:bodyPr vert="horz" lIns="91440" tIns="45720" rIns="91440" bIns="45720" rtlCol="0" anchor="b">
            <a:normAutofit/>
          </a:bodyPr>
          <a:lstStyle/>
          <a:p>
            <a:r>
              <a:rPr lang="en-US" sz="4000" kern="1200" dirty="0">
                <a:solidFill>
                  <a:schemeClr val="tx1"/>
                </a:solidFill>
                <a:latin typeface="+mn-lt"/>
                <a:ea typeface="+mj-ea"/>
                <a:cs typeface="+mj-cs"/>
              </a:rPr>
              <a:t>Robot Framework </a:t>
            </a:r>
            <a:r>
              <a:rPr lang="en-US" sz="4000" dirty="0">
                <a:latin typeface="+mn-lt"/>
              </a:rPr>
              <a:t>–Where to apply</a:t>
            </a:r>
            <a:endParaRPr lang="en-US" sz="4000" b="1" kern="1200" dirty="0">
              <a:solidFill>
                <a:schemeClr val="tx1"/>
              </a:solidFill>
              <a:latin typeface="+mn-lt"/>
              <a:ea typeface="+mj-ea"/>
              <a:cs typeface="+mj-cs"/>
            </a:endParaRPr>
          </a:p>
        </p:txBody>
      </p:sp>
      <p:sp>
        <p:nvSpPr>
          <p:cNvPr id="3" name="TextBox 2">
            <a:extLst>
              <a:ext uri="{FF2B5EF4-FFF2-40B4-BE49-F238E27FC236}">
                <a16:creationId xmlns:a16="http://schemas.microsoft.com/office/drawing/2014/main" id="{10662E8E-7B92-1EEB-5140-8A25C4C3A920}"/>
              </a:ext>
            </a:extLst>
          </p:cNvPr>
          <p:cNvSpPr txBox="1"/>
          <p:nvPr/>
        </p:nvSpPr>
        <p:spPr>
          <a:xfrm>
            <a:off x="1251285" y="2000253"/>
            <a:ext cx="9031704" cy="400110"/>
          </a:xfrm>
          <a:prstGeom prst="rect">
            <a:avLst/>
          </a:prstGeom>
          <a:noFill/>
        </p:spPr>
        <p:txBody>
          <a:bodyPr wrap="square">
            <a:spAutoFit/>
          </a:bodyPr>
          <a:lstStyle/>
          <a:p>
            <a:pPr algn="l">
              <a:buFont typeface="Arial" panose="020B0604020202020204" pitchFamily="34" charset="0"/>
              <a:buChar char="•"/>
            </a:pPr>
            <a:endParaRPr lang="en-US" sz="2000" b="0" i="0" dirty="0">
              <a:effectLst/>
              <a:highlight>
                <a:srgbClr val="FFFFFF"/>
              </a:highlight>
            </a:endParaRPr>
          </a:p>
        </p:txBody>
      </p:sp>
      <p:sp>
        <p:nvSpPr>
          <p:cNvPr id="5" name="TextBox 4">
            <a:extLst>
              <a:ext uri="{FF2B5EF4-FFF2-40B4-BE49-F238E27FC236}">
                <a16:creationId xmlns:a16="http://schemas.microsoft.com/office/drawing/2014/main" id="{12860F87-7AEB-5378-6679-0E494A0F2DF7}"/>
              </a:ext>
            </a:extLst>
          </p:cNvPr>
          <p:cNvSpPr txBox="1"/>
          <p:nvPr/>
        </p:nvSpPr>
        <p:spPr>
          <a:xfrm>
            <a:off x="809469" y="1171547"/>
            <a:ext cx="10223292" cy="5355312"/>
          </a:xfrm>
          <a:prstGeom prst="rect">
            <a:avLst/>
          </a:prstGeom>
          <a:noFill/>
        </p:spPr>
        <p:txBody>
          <a:bodyPr wrap="square">
            <a:spAutoFit/>
          </a:bodyPr>
          <a:lstStyle/>
          <a:p>
            <a:pPr algn="l" fontAlgn="base"/>
            <a:r>
              <a:rPr lang="en-US" b="1" i="0" dirty="0">
                <a:solidFill>
                  <a:srgbClr val="111111"/>
                </a:solidFill>
                <a:effectLst/>
                <a:highlight>
                  <a:srgbClr val="FFFFFF"/>
                </a:highlight>
                <a:latin typeface="Roboto" panose="02000000000000000000" pitchFamily="2" charset="0"/>
              </a:rPr>
              <a:t>Software testing</a:t>
            </a:r>
          </a:p>
          <a:p>
            <a:pPr algn="l" fontAlgn="base"/>
            <a:r>
              <a:rPr lang="en-US" b="0" i="0" dirty="0">
                <a:effectLst/>
                <a:highlight>
                  <a:srgbClr val="FFFFFF"/>
                </a:highlight>
                <a:latin typeface="ff-more-web-pro"/>
              </a:rPr>
              <a:t>Robot Framework is widely used to automate software testing, allowing development teams to conduct effective, rapid, and repeatable tests.</a:t>
            </a:r>
          </a:p>
          <a:p>
            <a:pPr algn="l" fontAlgn="base"/>
            <a:endParaRPr lang="en-US" b="0" i="0" dirty="0">
              <a:effectLst/>
              <a:highlight>
                <a:srgbClr val="FFFFFF"/>
              </a:highlight>
              <a:latin typeface="ff-more-web-pro"/>
            </a:endParaRPr>
          </a:p>
          <a:p>
            <a:pPr algn="l" fontAlgn="base"/>
            <a:r>
              <a:rPr lang="en-US" b="1" i="0" dirty="0">
                <a:solidFill>
                  <a:srgbClr val="111111"/>
                </a:solidFill>
                <a:effectLst/>
                <a:highlight>
                  <a:srgbClr val="FFFFFF"/>
                </a:highlight>
                <a:latin typeface="Roboto" panose="02000000000000000000" pitchFamily="2" charset="0"/>
              </a:rPr>
              <a:t>API testing</a:t>
            </a:r>
          </a:p>
          <a:p>
            <a:pPr algn="l" fontAlgn="base"/>
            <a:r>
              <a:rPr lang="en-US" b="0" i="0" dirty="0">
                <a:effectLst/>
                <a:highlight>
                  <a:srgbClr val="FFFFFF"/>
                </a:highlight>
                <a:latin typeface="ff-more-web-pro"/>
              </a:rPr>
              <a:t>API tests can also be automated with Robot Framework, simplifying the verification of RESTful or SOAP API behavior.</a:t>
            </a:r>
          </a:p>
          <a:p>
            <a:pPr algn="l" fontAlgn="base"/>
            <a:endParaRPr lang="en-US" b="0" i="0" dirty="0">
              <a:effectLst/>
              <a:highlight>
                <a:srgbClr val="FFFFFF"/>
              </a:highlight>
              <a:latin typeface="ff-more-web-pro"/>
            </a:endParaRPr>
          </a:p>
          <a:p>
            <a:pPr algn="l" fontAlgn="base"/>
            <a:r>
              <a:rPr lang="en-US" b="1" i="0" dirty="0">
                <a:solidFill>
                  <a:srgbClr val="111111"/>
                </a:solidFill>
                <a:effectLst/>
                <a:highlight>
                  <a:srgbClr val="FFFFFF"/>
                </a:highlight>
                <a:latin typeface="Roboto" panose="02000000000000000000" pitchFamily="2" charset="0"/>
              </a:rPr>
              <a:t>User interface testing</a:t>
            </a:r>
          </a:p>
          <a:p>
            <a:pPr algn="l" fontAlgn="base"/>
            <a:r>
              <a:rPr lang="en-US" b="0" i="0" dirty="0">
                <a:effectLst/>
                <a:highlight>
                  <a:srgbClr val="FFFFFF"/>
                </a:highlight>
                <a:latin typeface="ff-more-web-pro"/>
              </a:rPr>
              <a:t>Acceptance tests for web applications can be performed using Robot Framework, automating these processes and simulating real user interactions.</a:t>
            </a:r>
          </a:p>
          <a:p>
            <a:pPr algn="l" fontAlgn="base"/>
            <a:endParaRPr lang="en-US" b="0" i="0" dirty="0">
              <a:effectLst/>
              <a:highlight>
                <a:srgbClr val="FFFFFF"/>
              </a:highlight>
              <a:latin typeface="ff-more-web-pro"/>
            </a:endParaRPr>
          </a:p>
          <a:p>
            <a:pPr algn="l" fontAlgn="base"/>
            <a:r>
              <a:rPr lang="en-US" b="1" i="0" dirty="0">
                <a:solidFill>
                  <a:srgbClr val="111111"/>
                </a:solidFill>
                <a:effectLst/>
                <a:highlight>
                  <a:srgbClr val="FFFFFF"/>
                </a:highlight>
                <a:latin typeface="Roboto" panose="02000000000000000000" pitchFamily="2" charset="0"/>
              </a:rPr>
              <a:t>Business processes</a:t>
            </a:r>
          </a:p>
          <a:p>
            <a:pPr algn="l" fontAlgn="base"/>
            <a:r>
              <a:rPr lang="en-US" b="0" i="0" dirty="0">
                <a:effectLst/>
                <a:highlight>
                  <a:srgbClr val="FFFFFF"/>
                </a:highlight>
                <a:latin typeface="ff-more-web-pro"/>
              </a:rPr>
              <a:t>The tool can also be used to automate repetitive business processes, such as data entry, order processing, and customer service.</a:t>
            </a:r>
          </a:p>
          <a:p>
            <a:pPr algn="l" fontAlgn="base"/>
            <a:endParaRPr lang="en-US" b="0" i="0" dirty="0">
              <a:effectLst/>
              <a:highlight>
                <a:srgbClr val="FFFFFF"/>
              </a:highlight>
              <a:latin typeface="ff-more-web-pro"/>
            </a:endParaRPr>
          </a:p>
          <a:p>
            <a:pPr algn="l" fontAlgn="base"/>
            <a:r>
              <a:rPr lang="en-US" b="1" i="0" dirty="0">
                <a:solidFill>
                  <a:srgbClr val="111111"/>
                </a:solidFill>
                <a:effectLst/>
                <a:highlight>
                  <a:srgbClr val="FFFFFF"/>
                </a:highlight>
                <a:latin typeface="Roboto" panose="02000000000000000000" pitchFamily="2" charset="0"/>
              </a:rPr>
              <a:t>Administrative tasks</a:t>
            </a:r>
          </a:p>
          <a:p>
            <a:pPr algn="l" fontAlgn="base"/>
            <a:r>
              <a:rPr lang="en-US" b="0" i="0" dirty="0">
                <a:effectLst/>
                <a:highlight>
                  <a:srgbClr val="FFFFFF"/>
                </a:highlight>
                <a:latin typeface="ff-more-web-pro"/>
              </a:rPr>
              <a:t>Robot Framework can automate various administrative tasks, including email sending, report generation, and file management.</a:t>
            </a:r>
          </a:p>
        </p:txBody>
      </p:sp>
    </p:spTree>
    <p:extLst>
      <p:ext uri="{BB962C8B-B14F-4D97-AF65-F5344CB8AC3E}">
        <p14:creationId xmlns:p14="http://schemas.microsoft.com/office/powerpoint/2010/main" val="1841286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r>
              <a:rPr lang="en-IN" sz="4000" dirty="0">
                <a:latin typeface="+mn-lt"/>
                <a:cs typeface="Times New Roman" panose="02020603050405020304" pitchFamily="18" charset="0"/>
              </a:rPr>
              <a:t>		  Robot Framework Set up</a:t>
            </a:r>
            <a:endParaRPr lang="en-IN" sz="4000" b="1" dirty="0">
              <a:latin typeface="+mn-lt"/>
              <a:cs typeface="Times New Roman" panose="02020603050405020304" pitchFamily="18" charset="0"/>
            </a:endParaRPr>
          </a:p>
        </p:txBody>
      </p:sp>
      <p:sp>
        <p:nvSpPr>
          <p:cNvPr id="5" name="Content Placeholder 4">
            <a:extLst>
              <a:ext uri="{FF2B5EF4-FFF2-40B4-BE49-F238E27FC236}">
                <a16:creationId xmlns:a16="http://schemas.microsoft.com/office/drawing/2014/main" id="{EC4FF4D6-3F85-2207-38C3-BDCCEFFD1DDD}"/>
              </a:ext>
            </a:extLst>
          </p:cNvPr>
          <p:cNvSpPr>
            <a:spLocks noGrp="1"/>
          </p:cNvSpPr>
          <p:nvPr>
            <p:ph idx="1"/>
          </p:nvPr>
        </p:nvSpPr>
        <p:spPr>
          <a:xfrm>
            <a:off x="1115568" y="2481943"/>
            <a:ext cx="10168128" cy="3695020"/>
          </a:xfrm>
        </p:spPr>
        <p:txBody>
          <a:bodyPr>
            <a:normAutofit/>
          </a:bodyPr>
          <a:lstStyle/>
          <a:p>
            <a:r>
              <a:rPr lang="en-US" sz="2200" b="1" dirty="0">
                <a:cs typeface="Times New Roman" panose="02020603050405020304" pitchFamily="18" charset="0"/>
              </a:rPr>
              <a:t>Install Python</a:t>
            </a:r>
          </a:p>
          <a:p>
            <a:r>
              <a:rPr lang="en-US" sz="2200" b="1" dirty="0">
                <a:cs typeface="Times New Roman" panose="02020603050405020304" pitchFamily="18" charset="0"/>
              </a:rPr>
              <a:t>Install </a:t>
            </a:r>
            <a:r>
              <a:rPr lang="en-US" sz="2200" b="1" dirty="0" err="1">
                <a:cs typeface="Times New Roman" panose="02020603050405020304" pitchFamily="18" charset="0"/>
              </a:rPr>
              <a:t>Pycharm</a:t>
            </a:r>
            <a:r>
              <a:rPr lang="en-US" sz="2200" b="1" dirty="0">
                <a:cs typeface="Times New Roman" panose="02020603050405020304" pitchFamily="18" charset="0"/>
              </a:rPr>
              <a:t> IDE</a:t>
            </a:r>
          </a:p>
          <a:p>
            <a:r>
              <a:rPr lang="en-US" sz="2200" b="1" dirty="0">
                <a:cs typeface="Times New Roman" panose="02020603050405020304" pitchFamily="18" charset="0"/>
              </a:rPr>
              <a:t>Install selenium</a:t>
            </a:r>
          </a:p>
          <a:p>
            <a:r>
              <a:rPr lang="en-US" sz="2200" b="1" dirty="0">
                <a:cs typeface="Times New Roman" panose="02020603050405020304" pitchFamily="18" charset="0"/>
              </a:rPr>
              <a:t>Install robot framework</a:t>
            </a:r>
          </a:p>
          <a:p>
            <a:r>
              <a:rPr lang="en-US" sz="2200" b="1" dirty="0">
                <a:cs typeface="Times New Roman" panose="02020603050405020304" pitchFamily="18" charset="0"/>
              </a:rPr>
              <a:t>Install robot framework selenium library</a:t>
            </a:r>
          </a:p>
          <a:p>
            <a:r>
              <a:rPr lang="en-US" sz="2200" b="1" dirty="0">
                <a:cs typeface="Times New Roman" panose="02020603050405020304" pitchFamily="18" charset="0"/>
              </a:rPr>
              <a:t>Install data library </a:t>
            </a:r>
          </a:p>
          <a:p>
            <a:r>
              <a:rPr lang="en-US" sz="2200" b="1" dirty="0">
                <a:cs typeface="Times New Roman" panose="02020603050405020304" pitchFamily="18" charset="0"/>
              </a:rPr>
              <a:t>Install </a:t>
            </a:r>
            <a:r>
              <a:rPr lang="en-US" sz="2200" b="1" dirty="0" err="1">
                <a:cs typeface="Times New Roman" panose="02020603050405020304" pitchFamily="18" charset="0"/>
              </a:rPr>
              <a:t>api</a:t>
            </a:r>
            <a:r>
              <a:rPr lang="en-US" sz="2200" b="1" dirty="0">
                <a:cs typeface="Times New Roman" panose="02020603050405020304" pitchFamily="18" charset="0"/>
              </a:rPr>
              <a:t> library</a:t>
            </a:r>
          </a:p>
          <a:p>
            <a:endParaRPr lang="en-US" sz="2200" b="1" dirty="0">
              <a:cs typeface="Times New Roman" panose="02020603050405020304" pitchFamily="18" charset="0"/>
            </a:endParaRPr>
          </a:p>
        </p:txBody>
      </p:sp>
    </p:spTree>
    <p:extLst>
      <p:ext uri="{BB962C8B-B14F-4D97-AF65-F5344CB8AC3E}">
        <p14:creationId xmlns:p14="http://schemas.microsoft.com/office/powerpoint/2010/main" val="1741764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710534"/>
          </a:xfrm>
        </p:spPr>
        <p:txBody>
          <a:bodyPr>
            <a:normAutofit/>
          </a:bodyPr>
          <a:lstStyle/>
          <a:p>
            <a:r>
              <a:rPr lang="en-IN" sz="4000" b="1" dirty="0">
                <a:latin typeface="+mn-lt"/>
                <a:cs typeface="Times New Roman" panose="02020603050405020304" pitchFamily="18" charset="0"/>
              </a:rPr>
              <a:t>		</a:t>
            </a:r>
          </a:p>
        </p:txBody>
      </p:sp>
      <p:pic>
        <p:nvPicPr>
          <p:cNvPr id="3" name="Picture 2">
            <a:extLst>
              <a:ext uri="{FF2B5EF4-FFF2-40B4-BE49-F238E27FC236}">
                <a16:creationId xmlns:a16="http://schemas.microsoft.com/office/drawing/2014/main" id="{13F82867-89DE-9A18-A54F-10F7EA09DBB6}"/>
              </a:ext>
            </a:extLst>
          </p:cNvPr>
          <p:cNvPicPr>
            <a:picLocks noChangeAspect="1"/>
          </p:cNvPicPr>
          <p:nvPr/>
        </p:nvPicPr>
        <p:blipFill>
          <a:blip r:embed="rId3"/>
          <a:stretch>
            <a:fillRect/>
          </a:stretch>
        </p:blipFill>
        <p:spPr>
          <a:xfrm>
            <a:off x="1847257" y="1946301"/>
            <a:ext cx="8497486" cy="4363059"/>
          </a:xfrm>
          <a:prstGeom prst="rect">
            <a:avLst/>
          </a:prstGeom>
        </p:spPr>
      </p:pic>
      <p:sp>
        <p:nvSpPr>
          <p:cNvPr id="6" name="Title 3">
            <a:extLst>
              <a:ext uri="{FF2B5EF4-FFF2-40B4-BE49-F238E27FC236}">
                <a16:creationId xmlns:a16="http://schemas.microsoft.com/office/drawing/2014/main" id="{2E777CAE-39BF-952E-ADED-FE473F32426E}"/>
              </a:ext>
            </a:extLst>
          </p:cNvPr>
          <p:cNvSpPr txBox="1">
            <a:spLocks/>
          </p:cNvSpPr>
          <p:nvPr/>
        </p:nvSpPr>
        <p:spPr>
          <a:xfrm>
            <a:off x="1267968" y="701040"/>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		  Installation of Python</a:t>
            </a:r>
            <a:endParaRPr lang="en-IN" sz="4000" b="1" dirty="0">
              <a:latin typeface="+mn-lt"/>
              <a:cs typeface="Times New Roman" panose="02020603050405020304" pitchFamily="18" charset="0"/>
            </a:endParaRPr>
          </a:p>
        </p:txBody>
      </p:sp>
    </p:spTree>
    <p:extLst>
      <p:ext uri="{BB962C8B-B14F-4D97-AF65-F5344CB8AC3E}">
        <p14:creationId xmlns:p14="http://schemas.microsoft.com/office/powerpoint/2010/main" val="54028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710534"/>
          </a:xfrm>
        </p:spPr>
        <p:txBody>
          <a:bodyPr>
            <a:normAutofit/>
          </a:bodyPr>
          <a:lstStyle/>
          <a:p>
            <a:r>
              <a:rPr lang="en-IN" sz="4000" b="1" dirty="0">
                <a:latin typeface="+mn-lt"/>
                <a:cs typeface="Times New Roman" panose="02020603050405020304" pitchFamily="18" charset="0"/>
              </a:rPr>
              <a:t>		</a:t>
            </a:r>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1267968" y="701040"/>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		  Installation of Python</a:t>
            </a:r>
            <a:endParaRPr lang="en-IN" sz="4000" b="1" dirty="0">
              <a:latin typeface="+mn-lt"/>
              <a:cs typeface="Times New Roman" panose="02020603050405020304" pitchFamily="18" charset="0"/>
            </a:endParaRPr>
          </a:p>
        </p:txBody>
      </p:sp>
      <p:pic>
        <p:nvPicPr>
          <p:cNvPr id="5" name="Picture 4">
            <a:extLst>
              <a:ext uri="{FF2B5EF4-FFF2-40B4-BE49-F238E27FC236}">
                <a16:creationId xmlns:a16="http://schemas.microsoft.com/office/drawing/2014/main" id="{F1DA3FDC-A50F-75D4-D869-2D32D4B66E14}"/>
              </a:ext>
            </a:extLst>
          </p:cNvPr>
          <p:cNvPicPr>
            <a:picLocks noChangeAspect="1"/>
          </p:cNvPicPr>
          <p:nvPr/>
        </p:nvPicPr>
        <p:blipFill>
          <a:blip r:embed="rId3"/>
          <a:stretch>
            <a:fillRect/>
          </a:stretch>
        </p:blipFill>
        <p:spPr>
          <a:xfrm>
            <a:off x="2609363" y="2562394"/>
            <a:ext cx="6973273" cy="3172268"/>
          </a:xfrm>
          <a:prstGeom prst="rect">
            <a:avLst/>
          </a:prstGeom>
        </p:spPr>
      </p:pic>
    </p:spTree>
    <p:extLst>
      <p:ext uri="{BB962C8B-B14F-4D97-AF65-F5344CB8AC3E}">
        <p14:creationId xmlns:p14="http://schemas.microsoft.com/office/powerpoint/2010/main" val="3360845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710534"/>
          </a:xfrm>
        </p:spPr>
        <p:txBody>
          <a:bodyPr>
            <a:normAutofit/>
          </a:bodyPr>
          <a:lstStyle/>
          <a:p>
            <a:r>
              <a:rPr lang="en-IN" sz="4000" b="1" dirty="0">
                <a:latin typeface="+mn-lt"/>
                <a:cs typeface="Times New Roman" panose="02020603050405020304" pitchFamily="18" charset="0"/>
              </a:rPr>
              <a:t>		</a:t>
            </a:r>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1267968" y="701040"/>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		  Installation of Python</a:t>
            </a:r>
            <a:endParaRPr lang="en-IN" sz="4000" b="1" dirty="0">
              <a:latin typeface="+mn-lt"/>
              <a:cs typeface="Times New Roman" panose="02020603050405020304" pitchFamily="18" charset="0"/>
            </a:endParaRPr>
          </a:p>
        </p:txBody>
      </p:sp>
      <p:pic>
        <p:nvPicPr>
          <p:cNvPr id="3" name="Picture 2">
            <a:extLst>
              <a:ext uri="{FF2B5EF4-FFF2-40B4-BE49-F238E27FC236}">
                <a16:creationId xmlns:a16="http://schemas.microsoft.com/office/drawing/2014/main" id="{A4498D2E-9EAB-F400-361C-A50AB90C59C7}"/>
              </a:ext>
            </a:extLst>
          </p:cNvPr>
          <p:cNvPicPr>
            <a:picLocks noChangeAspect="1"/>
          </p:cNvPicPr>
          <p:nvPr/>
        </p:nvPicPr>
        <p:blipFill>
          <a:blip r:embed="rId3"/>
          <a:stretch>
            <a:fillRect/>
          </a:stretch>
        </p:blipFill>
        <p:spPr>
          <a:xfrm>
            <a:off x="1918741" y="2233445"/>
            <a:ext cx="8034728" cy="3642699"/>
          </a:xfrm>
          <a:prstGeom prst="rect">
            <a:avLst/>
          </a:prstGeom>
        </p:spPr>
      </p:pic>
    </p:spTree>
    <p:extLst>
      <p:ext uri="{BB962C8B-B14F-4D97-AF65-F5344CB8AC3E}">
        <p14:creationId xmlns:p14="http://schemas.microsoft.com/office/powerpoint/2010/main" val="3579550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710534"/>
          </a:xfrm>
        </p:spPr>
        <p:txBody>
          <a:bodyPr>
            <a:normAutofit/>
          </a:bodyPr>
          <a:lstStyle/>
          <a:p>
            <a:r>
              <a:rPr lang="en-IN" sz="4000" b="1" dirty="0">
                <a:latin typeface="+mn-lt"/>
                <a:cs typeface="Times New Roman" panose="02020603050405020304" pitchFamily="18" charset="0"/>
              </a:rPr>
              <a:t>		</a:t>
            </a:r>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1267968" y="701040"/>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		  Installation of Python</a:t>
            </a:r>
            <a:endParaRPr lang="en-IN" sz="4000" b="1" dirty="0">
              <a:latin typeface="+mn-lt"/>
              <a:cs typeface="Times New Roman" panose="02020603050405020304" pitchFamily="18" charset="0"/>
            </a:endParaRPr>
          </a:p>
        </p:txBody>
      </p:sp>
      <p:pic>
        <p:nvPicPr>
          <p:cNvPr id="5" name="Picture 4">
            <a:extLst>
              <a:ext uri="{FF2B5EF4-FFF2-40B4-BE49-F238E27FC236}">
                <a16:creationId xmlns:a16="http://schemas.microsoft.com/office/drawing/2014/main" id="{5094C20E-7C07-C3DA-D5B0-1620180A6B2D}"/>
              </a:ext>
            </a:extLst>
          </p:cNvPr>
          <p:cNvPicPr>
            <a:picLocks noChangeAspect="1"/>
          </p:cNvPicPr>
          <p:nvPr/>
        </p:nvPicPr>
        <p:blipFill>
          <a:blip r:embed="rId3"/>
          <a:stretch>
            <a:fillRect/>
          </a:stretch>
        </p:blipFill>
        <p:spPr>
          <a:xfrm>
            <a:off x="2337863" y="2362200"/>
            <a:ext cx="7516274" cy="3362794"/>
          </a:xfrm>
          <a:prstGeom prst="rect">
            <a:avLst/>
          </a:prstGeom>
        </p:spPr>
      </p:pic>
    </p:spTree>
    <p:extLst>
      <p:ext uri="{BB962C8B-B14F-4D97-AF65-F5344CB8AC3E}">
        <p14:creationId xmlns:p14="http://schemas.microsoft.com/office/powerpoint/2010/main" val="2778726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710534"/>
          </a:xfrm>
        </p:spPr>
        <p:txBody>
          <a:bodyPr>
            <a:normAutofit/>
          </a:bodyPr>
          <a:lstStyle/>
          <a:p>
            <a:r>
              <a:rPr lang="en-IN" sz="4000" b="1" dirty="0">
                <a:latin typeface="+mn-lt"/>
                <a:cs typeface="Times New Roman" panose="02020603050405020304" pitchFamily="18" charset="0"/>
              </a:rPr>
              <a:t>		</a:t>
            </a:r>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1267968" y="701040"/>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		  Installation of PyCharm</a:t>
            </a:r>
            <a:endParaRPr lang="en-IN" sz="4000" b="1" dirty="0">
              <a:latin typeface="+mn-lt"/>
              <a:cs typeface="Times New Roman" panose="02020603050405020304" pitchFamily="18" charset="0"/>
            </a:endParaRPr>
          </a:p>
        </p:txBody>
      </p:sp>
      <p:pic>
        <p:nvPicPr>
          <p:cNvPr id="3" name="Picture 2">
            <a:extLst>
              <a:ext uri="{FF2B5EF4-FFF2-40B4-BE49-F238E27FC236}">
                <a16:creationId xmlns:a16="http://schemas.microsoft.com/office/drawing/2014/main" id="{F1362BD2-BC82-6F21-0F20-FF13F8F3B5B4}"/>
              </a:ext>
            </a:extLst>
          </p:cNvPr>
          <p:cNvPicPr>
            <a:picLocks noChangeAspect="1"/>
          </p:cNvPicPr>
          <p:nvPr/>
        </p:nvPicPr>
        <p:blipFill>
          <a:blip r:embed="rId3"/>
          <a:stretch>
            <a:fillRect/>
          </a:stretch>
        </p:blipFill>
        <p:spPr>
          <a:xfrm>
            <a:off x="1128629" y="2235892"/>
            <a:ext cx="10155067" cy="3696216"/>
          </a:xfrm>
          <a:prstGeom prst="rect">
            <a:avLst/>
          </a:prstGeom>
        </p:spPr>
      </p:pic>
    </p:spTree>
    <p:extLst>
      <p:ext uri="{BB962C8B-B14F-4D97-AF65-F5344CB8AC3E}">
        <p14:creationId xmlns:p14="http://schemas.microsoft.com/office/powerpoint/2010/main" val="633477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p:txBody>
          <a:bodyPr>
            <a:normAutofit/>
          </a:bodyPr>
          <a:lstStyle/>
          <a:p>
            <a:r>
              <a:rPr lang="en-IN" sz="4000" b="1" dirty="0">
                <a:latin typeface="+mn-lt"/>
                <a:cs typeface="Times New Roman" panose="02020603050405020304" pitchFamily="18" charset="0"/>
              </a:rPr>
              <a:t>		</a:t>
            </a:r>
          </a:p>
        </p:txBody>
      </p:sp>
      <p:sp>
        <p:nvSpPr>
          <p:cNvPr id="2" name="Content Placeholder 1">
            <a:extLst>
              <a:ext uri="{FF2B5EF4-FFF2-40B4-BE49-F238E27FC236}">
                <a16:creationId xmlns:a16="http://schemas.microsoft.com/office/drawing/2014/main" id="{B3ED5FA7-01D2-483A-BE66-63852C4507C4}"/>
              </a:ext>
            </a:extLst>
          </p:cNvPr>
          <p:cNvSpPr>
            <a:spLocks noGrp="1"/>
          </p:cNvSpPr>
          <p:nvPr>
            <p:ph idx="1"/>
          </p:nvPr>
        </p:nvSpPr>
        <p:spPr>
          <a:xfrm>
            <a:off x="767070" y="1621069"/>
            <a:ext cx="4374555" cy="2096492"/>
          </a:xfrm>
        </p:spPr>
        <p:txBody>
          <a:bodyPr>
            <a:normAutofit fontScale="92500" lnSpcReduction="20000"/>
          </a:bodyPr>
          <a:lstStyle/>
          <a:p>
            <a:r>
              <a:rPr lang="en-IN" sz="2000" dirty="0"/>
              <a:t>Command to install selenium</a:t>
            </a:r>
          </a:p>
          <a:p>
            <a:r>
              <a:rPr lang="en-IN" sz="2000" dirty="0" err="1"/>
              <a:t>cmd</a:t>
            </a:r>
            <a:r>
              <a:rPr lang="en-IN" sz="2000" dirty="0"/>
              <a:t>&gt; </a:t>
            </a:r>
            <a:r>
              <a:rPr lang="en-IN" sz="2000" dirty="0">
                <a:solidFill>
                  <a:srgbClr val="FF0000"/>
                </a:solidFill>
              </a:rPr>
              <a:t>pip install selenium</a:t>
            </a:r>
          </a:p>
          <a:p>
            <a:r>
              <a:rPr lang="en-IN" sz="2000" dirty="0"/>
              <a:t>Command to install Robot framework</a:t>
            </a:r>
          </a:p>
          <a:p>
            <a:r>
              <a:rPr lang="en-IN" sz="2000" dirty="0" err="1"/>
              <a:t>cmd</a:t>
            </a:r>
            <a:r>
              <a:rPr lang="en-IN" sz="2000" dirty="0"/>
              <a:t>&gt; </a:t>
            </a:r>
            <a:r>
              <a:rPr lang="en-IN" sz="2000" dirty="0">
                <a:solidFill>
                  <a:srgbClr val="FF0000"/>
                </a:solidFill>
              </a:rPr>
              <a:t>pip install </a:t>
            </a:r>
            <a:r>
              <a:rPr lang="en-IN" sz="2000" dirty="0" err="1">
                <a:solidFill>
                  <a:srgbClr val="FF0000"/>
                </a:solidFill>
              </a:rPr>
              <a:t>robotframework</a:t>
            </a:r>
            <a:endParaRPr lang="en-IN" sz="2000" dirty="0">
              <a:solidFill>
                <a:srgbClr val="FF0000"/>
              </a:solidFill>
            </a:endParaRPr>
          </a:p>
          <a:p>
            <a:r>
              <a:rPr lang="en-IN" sz="2000" dirty="0" err="1"/>
              <a:t>cmd</a:t>
            </a:r>
            <a:r>
              <a:rPr lang="en-IN" sz="2000" dirty="0"/>
              <a:t>&gt; </a:t>
            </a:r>
            <a:r>
              <a:rPr lang="en-IN" sz="2000" dirty="0">
                <a:solidFill>
                  <a:srgbClr val="FF0000"/>
                </a:solidFill>
              </a:rPr>
              <a:t>pip show selenium</a:t>
            </a:r>
          </a:p>
          <a:p>
            <a:r>
              <a:rPr lang="en-IN" sz="2000" dirty="0" err="1"/>
              <a:t>cmd</a:t>
            </a:r>
            <a:r>
              <a:rPr lang="en-IN" sz="2000" dirty="0"/>
              <a:t> &gt; </a:t>
            </a:r>
            <a:r>
              <a:rPr lang="en-IN" sz="2000" dirty="0">
                <a:solidFill>
                  <a:srgbClr val="FF0000"/>
                </a:solidFill>
              </a:rPr>
              <a:t>pip show </a:t>
            </a:r>
            <a:r>
              <a:rPr lang="en-IN" sz="2000" dirty="0" err="1">
                <a:solidFill>
                  <a:srgbClr val="FF0000"/>
                </a:solidFill>
              </a:rPr>
              <a:t>robotframework</a:t>
            </a:r>
            <a:endParaRPr lang="en-IN" sz="2000" dirty="0">
              <a:solidFill>
                <a:srgbClr val="FF0000"/>
              </a:solidFill>
            </a:endParaRPr>
          </a:p>
          <a:p>
            <a:endParaRPr lang="en-IN" sz="2000" dirty="0"/>
          </a:p>
          <a:p>
            <a:endParaRPr lang="en-IN" sz="2000" dirty="0"/>
          </a:p>
          <a:p>
            <a:endParaRPr lang="en-IN" sz="2000" dirty="0"/>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1327929" y="16288"/>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       Installation of Selenium/ Robot </a:t>
            </a:r>
            <a:r>
              <a:rPr lang="en-IN" sz="4000" dirty="0" err="1">
                <a:latin typeface="+mn-lt"/>
                <a:cs typeface="Times New Roman" panose="02020603050405020304" pitchFamily="18" charset="0"/>
              </a:rPr>
              <a:t>Fw</a:t>
            </a:r>
            <a:endParaRPr lang="en-IN" sz="4000" b="1" dirty="0">
              <a:latin typeface="+mn-lt"/>
              <a:cs typeface="Times New Roman" panose="02020603050405020304" pitchFamily="18" charset="0"/>
            </a:endParaRPr>
          </a:p>
        </p:txBody>
      </p:sp>
      <p:pic>
        <p:nvPicPr>
          <p:cNvPr id="7" name="Picture 6">
            <a:extLst>
              <a:ext uri="{FF2B5EF4-FFF2-40B4-BE49-F238E27FC236}">
                <a16:creationId xmlns:a16="http://schemas.microsoft.com/office/drawing/2014/main" id="{4E0158BC-DAEE-C8F9-F44F-6153E9D20167}"/>
              </a:ext>
            </a:extLst>
          </p:cNvPr>
          <p:cNvPicPr>
            <a:picLocks noChangeAspect="1"/>
          </p:cNvPicPr>
          <p:nvPr/>
        </p:nvPicPr>
        <p:blipFill>
          <a:blip r:embed="rId3"/>
          <a:stretch>
            <a:fillRect/>
          </a:stretch>
        </p:blipFill>
        <p:spPr>
          <a:xfrm>
            <a:off x="5886138" y="1672888"/>
            <a:ext cx="5851161" cy="4819987"/>
          </a:xfrm>
          <a:prstGeom prst="rect">
            <a:avLst/>
          </a:prstGeom>
        </p:spPr>
      </p:pic>
    </p:spTree>
    <p:extLst>
      <p:ext uri="{BB962C8B-B14F-4D97-AF65-F5344CB8AC3E}">
        <p14:creationId xmlns:p14="http://schemas.microsoft.com/office/powerpoint/2010/main" val="3503311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p:txBody>
          <a:bodyPr>
            <a:normAutofit/>
          </a:bodyPr>
          <a:lstStyle/>
          <a:p>
            <a:r>
              <a:rPr lang="en-IN" sz="4000" b="1" dirty="0">
                <a:latin typeface="+mn-lt"/>
                <a:cs typeface="Times New Roman" panose="02020603050405020304" pitchFamily="18" charset="0"/>
              </a:rPr>
              <a:t>		</a:t>
            </a:r>
          </a:p>
        </p:txBody>
      </p:sp>
      <p:sp>
        <p:nvSpPr>
          <p:cNvPr id="3" name="Content Placeholder 2">
            <a:extLst>
              <a:ext uri="{FF2B5EF4-FFF2-40B4-BE49-F238E27FC236}">
                <a16:creationId xmlns:a16="http://schemas.microsoft.com/office/drawing/2014/main" id="{A02E61EF-3F95-E881-76F8-0AF0F891560E}"/>
              </a:ext>
            </a:extLst>
          </p:cNvPr>
          <p:cNvSpPr>
            <a:spLocks noGrp="1"/>
          </p:cNvSpPr>
          <p:nvPr>
            <p:ph idx="1"/>
          </p:nvPr>
        </p:nvSpPr>
        <p:spPr/>
        <p:txBody>
          <a:bodyPr/>
          <a:lstStyle/>
          <a:p>
            <a:pPr marL="0" indent="0">
              <a:buNone/>
            </a:pPr>
            <a:r>
              <a:rPr lang="en-IN" dirty="0"/>
              <a:t>Other commands </a:t>
            </a:r>
          </a:p>
          <a:p>
            <a:r>
              <a:rPr lang="en-IN" dirty="0"/>
              <a:t>pip install –-upgrade </a:t>
            </a:r>
            <a:r>
              <a:rPr lang="en-IN" dirty="0" err="1"/>
              <a:t>robotframework</a:t>
            </a:r>
            <a:endParaRPr lang="en-IN" dirty="0"/>
          </a:p>
          <a:p>
            <a:r>
              <a:rPr lang="en-IN" dirty="0"/>
              <a:t>pip install </a:t>
            </a:r>
            <a:r>
              <a:rPr lang="en-IN" dirty="0" err="1"/>
              <a:t>robotframework</a:t>
            </a:r>
            <a:r>
              <a:rPr lang="en-IN" dirty="0"/>
              <a:t> == 2.9.0</a:t>
            </a:r>
          </a:p>
          <a:p>
            <a:r>
              <a:rPr lang="en-IN" dirty="0"/>
              <a:t>pip uninstall </a:t>
            </a:r>
            <a:r>
              <a:rPr lang="en-IN" dirty="0" err="1"/>
              <a:t>robotframework</a:t>
            </a:r>
            <a:endParaRPr lang="en-IN" dirty="0"/>
          </a:p>
          <a:p>
            <a:r>
              <a:rPr lang="en-IN" dirty="0"/>
              <a:t>pip list</a:t>
            </a:r>
          </a:p>
          <a:p>
            <a:r>
              <a:rPr lang="en-IN" dirty="0"/>
              <a:t>pip show </a:t>
            </a:r>
            <a:r>
              <a:rPr lang="en-IN" dirty="0" err="1"/>
              <a:t>robotframework</a:t>
            </a:r>
            <a:endParaRPr lang="en-IN" dirty="0"/>
          </a:p>
          <a:p>
            <a:r>
              <a:rPr lang="en-IN" dirty="0"/>
              <a:t>Pip check </a:t>
            </a:r>
            <a:r>
              <a:rPr lang="en-IN" dirty="0" err="1"/>
              <a:t>robotframework</a:t>
            </a:r>
            <a:endParaRPr lang="en-IN" dirty="0"/>
          </a:p>
          <a:p>
            <a:endParaRPr lang="en-IN" dirty="0"/>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1327929" y="16288"/>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Installation of Selenium/Robot Framework</a:t>
            </a:r>
            <a:endParaRPr lang="en-IN" sz="4000" b="1" dirty="0">
              <a:latin typeface="+mn-lt"/>
              <a:cs typeface="Times New Roman" panose="02020603050405020304" pitchFamily="18" charset="0"/>
            </a:endParaRPr>
          </a:p>
        </p:txBody>
      </p:sp>
    </p:spTree>
    <p:extLst>
      <p:ext uri="{BB962C8B-B14F-4D97-AF65-F5344CB8AC3E}">
        <p14:creationId xmlns:p14="http://schemas.microsoft.com/office/powerpoint/2010/main" val="3258631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8200" y="365125"/>
            <a:ext cx="10515600" cy="830739"/>
          </a:xfrm>
        </p:spPr>
        <p:txBody>
          <a:bodyPr>
            <a:normAutofit/>
          </a:bodyPr>
          <a:lstStyle/>
          <a:p>
            <a:r>
              <a:rPr lang="en-IN" sz="4000" b="1" dirty="0">
                <a:latin typeface="+mn-lt"/>
                <a:cs typeface="Times New Roman" panose="02020603050405020304" pitchFamily="18" charset="0"/>
              </a:rPr>
              <a:t>	</a:t>
            </a:r>
          </a:p>
        </p:txBody>
      </p:sp>
      <p:pic>
        <p:nvPicPr>
          <p:cNvPr id="5" name="Content Placeholder 4">
            <a:extLst>
              <a:ext uri="{FF2B5EF4-FFF2-40B4-BE49-F238E27FC236}">
                <a16:creationId xmlns:a16="http://schemas.microsoft.com/office/drawing/2014/main" id="{F4639C81-89FA-C306-E90F-45D85143BFA9}"/>
              </a:ext>
            </a:extLst>
          </p:cNvPr>
          <p:cNvPicPr>
            <a:picLocks noGrp="1" noChangeAspect="1"/>
          </p:cNvPicPr>
          <p:nvPr>
            <p:ph idx="1"/>
          </p:nvPr>
        </p:nvPicPr>
        <p:blipFill>
          <a:blip r:embed="rId3"/>
          <a:stretch>
            <a:fillRect/>
          </a:stretch>
        </p:blipFill>
        <p:spPr>
          <a:xfrm>
            <a:off x="838200" y="2148819"/>
            <a:ext cx="5896798" cy="257211"/>
          </a:xfrm>
        </p:spPr>
      </p:pic>
      <p:sp>
        <p:nvSpPr>
          <p:cNvPr id="6" name="Title 3">
            <a:extLst>
              <a:ext uri="{FF2B5EF4-FFF2-40B4-BE49-F238E27FC236}">
                <a16:creationId xmlns:a16="http://schemas.microsoft.com/office/drawing/2014/main" id="{2E777CAE-39BF-952E-ADED-FE473F32426E}"/>
              </a:ext>
            </a:extLst>
          </p:cNvPr>
          <p:cNvSpPr txBox="1">
            <a:spLocks/>
          </p:cNvSpPr>
          <p:nvPr/>
        </p:nvSpPr>
        <p:spPr>
          <a:xfrm>
            <a:off x="838200" y="331169"/>
            <a:ext cx="10854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Installation of Robot framework selenium library</a:t>
            </a:r>
            <a:endParaRPr lang="en-IN" sz="4000" b="1" dirty="0">
              <a:latin typeface="+mn-lt"/>
              <a:cs typeface="Times New Roman" panose="02020603050405020304" pitchFamily="18" charset="0"/>
            </a:endParaRPr>
          </a:p>
        </p:txBody>
      </p:sp>
      <p:pic>
        <p:nvPicPr>
          <p:cNvPr id="8" name="Picture 7">
            <a:extLst>
              <a:ext uri="{FF2B5EF4-FFF2-40B4-BE49-F238E27FC236}">
                <a16:creationId xmlns:a16="http://schemas.microsoft.com/office/drawing/2014/main" id="{3DBEA008-3510-787B-1CC4-92E651BE67FF}"/>
              </a:ext>
            </a:extLst>
          </p:cNvPr>
          <p:cNvPicPr>
            <a:picLocks noChangeAspect="1"/>
          </p:cNvPicPr>
          <p:nvPr/>
        </p:nvPicPr>
        <p:blipFill>
          <a:blip r:embed="rId4"/>
          <a:stretch>
            <a:fillRect/>
          </a:stretch>
        </p:blipFill>
        <p:spPr>
          <a:xfrm>
            <a:off x="838200" y="3044104"/>
            <a:ext cx="8211696" cy="2181529"/>
          </a:xfrm>
          <a:prstGeom prst="rect">
            <a:avLst/>
          </a:prstGeom>
        </p:spPr>
      </p:pic>
    </p:spTree>
    <p:extLst>
      <p:ext uri="{BB962C8B-B14F-4D97-AF65-F5344CB8AC3E}">
        <p14:creationId xmlns:p14="http://schemas.microsoft.com/office/powerpoint/2010/main" val="3316621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p:txBody>
          <a:bodyPr>
            <a:normAutofit/>
          </a:bodyPr>
          <a:lstStyle/>
          <a:p>
            <a:r>
              <a:rPr lang="en-IN" sz="4000" b="1" dirty="0">
                <a:latin typeface="+mn-lt"/>
                <a:cs typeface="Times New Roman" panose="02020603050405020304" pitchFamily="18" charset="0"/>
              </a:rPr>
              <a:t>	</a:t>
            </a:r>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838200" y="331169"/>
            <a:ext cx="10854128" cy="117957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Installation of Robot framework / selenium library in </a:t>
            </a:r>
            <a:r>
              <a:rPr lang="en-IN" sz="4000" dirty="0" err="1">
                <a:latin typeface="+mn-lt"/>
                <a:cs typeface="Times New Roman" panose="02020603050405020304" pitchFamily="18" charset="0"/>
              </a:rPr>
              <a:t>pycharm</a:t>
            </a:r>
            <a:endParaRPr lang="en-IN" sz="4000" b="1" dirty="0">
              <a:latin typeface="+mn-lt"/>
              <a:cs typeface="Times New Roman" panose="02020603050405020304" pitchFamily="18" charset="0"/>
            </a:endParaRPr>
          </a:p>
        </p:txBody>
      </p:sp>
      <p:sp>
        <p:nvSpPr>
          <p:cNvPr id="11" name="Content Placeholder 10">
            <a:extLst>
              <a:ext uri="{FF2B5EF4-FFF2-40B4-BE49-F238E27FC236}">
                <a16:creationId xmlns:a16="http://schemas.microsoft.com/office/drawing/2014/main" id="{92DC1B5E-EBCF-D756-6091-5B669B4F28C0}"/>
              </a:ext>
            </a:extLst>
          </p:cNvPr>
          <p:cNvSpPr>
            <a:spLocks noGrp="1"/>
          </p:cNvSpPr>
          <p:nvPr>
            <p:ph idx="1"/>
          </p:nvPr>
        </p:nvSpPr>
        <p:spPr/>
        <p:txBody>
          <a:bodyPr/>
          <a:lstStyle/>
          <a:p>
            <a:r>
              <a:rPr lang="en-IN" dirty="0"/>
              <a:t>In </a:t>
            </a:r>
            <a:r>
              <a:rPr lang="en-IN" dirty="0" err="1"/>
              <a:t>pycharm</a:t>
            </a:r>
            <a:r>
              <a:rPr lang="en-IN" dirty="0"/>
              <a:t> </a:t>
            </a:r>
            <a:r>
              <a:rPr lang="en-IN" dirty="0" err="1"/>
              <a:t>goto</a:t>
            </a:r>
            <a:r>
              <a:rPr lang="en-IN" dirty="0"/>
              <a:t> – project -&gt; setting -&gt; project -&gt; project interpreter-&gt; click on + icon add the libraries</a:t>
            </a:r>
          </a:p>
        </p:txBody>
      </p:sp>
      <p:pic>
        <p:nvPicPr>
          <p:cNvPr id="13" name="Picture 12">
            <a:extLst>
              <a:ext uri="{FF2B5EF4-FFF2-40B4-BE49-F238E27FC236}">
                <a16:creationId xmlns:a16="http://schemas.microsoft.com/office/drawing/2014/main" id="{AFC64BAB-349E-C1E8-A028-3AAB577203F2}"/>
              </a:ext>
            </a:extLst>
          </p:cNvPr>
          <p:cNvPicPr>
            <a:picLocks noChangeAspect="1"/>
          </p:cNvPicPr>
          <p:nvPr/>
        </p:nvPicPr>
        <p:blipFill>
          <a:blip r:embed="rId3"/>
          <a:stretch>
            <a:fillRect/>
          </a:stretch>
        </p:blipFill>
        <p:spPr>
          <a:xfrm>
            <a:off x="838200" y="3594599"/>
            <a:ext cx="6716062" cy="1047896"/>
          </a:xfrm>
          <a:prstGeom prst="rect">
            <a:avLst/>
          </a:prstGeom>
        </p:spPr>
      </p:pic>
    </p:spTree>
    <p:extLst>
      <p:ext uri="{BB962C8B-B14F-4D97-AF65-F5344CB8AC3E}">
        <p14:creationId xmlns:p14="http://schemas.microsoft.com/office/powerpoint/2010/main" val="2077221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p:txBody>
          <a:bodyPr>
            <a:normAutofit/>
          </a:bodyPr>
          <a:lstStyle/>
          <a:p>
            <a:r>
              <a:rPr lang="en-IN" sz="4000" b="1" dirty="0">
                <a:latin typeface="+mn-lt"/>
                <a:cs typeface="Times New Roman" panose="02020603050405020304" pitchFamily="18" charset="0"/>
              </a:rPr>
              <a:t>	</a:t>
            </a:r>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838200" y="331169"/>
            <a:ext cx="10854128" cy="117957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Installation of Robot framework / selenium library in </a:t>
            </a:r>
            <a:r>
              <a:rPr lang="en-IN" sz="4000" dirty="0" err="1">
                <a:latin typeface="+mn-lt"/>
                <a:cs typeface="Times New Roman" panose="02020603050405020304" pitchFamily="18" charset="0"/>
              </a:rPr>
              <a:t>Pycharm</a:t>
            </a:r>
            <a:endParaRPr lang="en-IN" sz="4000" b="1" dirty="0">
              <a:latin typeface="+mn-lt"/>
              <a:cs typeface="Times New Roman" panose="02020603050405020304" pitchFamily="18" charset="0"/>
            </a:endParaRPr>
          </a:p>
        </p:txBody>
      </p:sp>
      <p:sp>
        <p:nvSpPr>
          <p:cNvPr id="11" name="Content Placeholder 10">
            <a:extLst>
              <a:ext uri="{FF2B5EF4-FFF2-40B4-BE49-F238E27FC236}">
                <a16:creationId xmlns:a16="http://schemas.microsoft.com/office/drawing/2014/main" id="{92DC1B5E-EBCF-D756-6091-5B669B4F28C0}"/>
              </a:ext>
            </a:extLst>
          </p:cNvPr>
          <p:cNvSpPr>
            <a:spLocks noGrp="1"/>
          </p:cNvSpPr>
          <p:nvPr>
            <p:ph idx="1"/>
          </p:nvPr>
        </p:nvSpPr>
        <p:spPr/>
        <p:txBody>
          <a:bodyPr/>
          <a:lstStyle/>
          <a:p>
            <a:r>
              <a:rPr lang="en-IN" dirty="0"/>
              <a:t>In </a:t>
            </a:r>
            <a:r>
              <a:rPr lang="en-IN" dirty="0" err="1"/>
              <a:t>pycharm</a:t>
            </a:r>
            <a:r>
              <a:rPr lang="en-IN" dirty="0"/>
              <a:t> </a:t>
            </a:r>
            <a:r>
              <a:rPr lang="en-IN" dirty="0" err="1"/>
              <a:t>goto</a:t>
            </a:r>
            <a:r>
              <a:rPr lang="en-IN" dirty="0"/>
              <a:t> – project -&gt; setting -&gt; project -&gt; project interpreter-&gt; click on + icon add the libraries</a:t>
            </a:r>
          </a:p>
        </p:txBody>
      </p:sp>
      <p:pic>
        <p:nvPicPr>
          <p:cNvPr id="13" name="Picture 12">
            <a:extLst>
              <a:ext uri="{FF2B5EF4-FFF2-40B4-BE49-F238E27FC236}">
                <a16:creationId xmlns:a16="http://schemas.microsoft.com/office/drawing/2014/main" id="{AFC64BAB-349E-C1E8-A028-3AAB577203F2}"/>
              </a:ext>
            </a:extLst>
          </p:cNvPr>
          <p:cNvPicPr>
            <a:picLocks noChangeAspect="1"/>
          </p:cNvPicPr>
          <p:nvPr/>
        </p:nvPicPr>
        <p:blipFill>
          <a:blip r:embed="rId3"/>
          <a:stretch>
            <a:fillRect/>
          </a:stretch>
        </p:blipFill>
        <p:spPr>
          <a:xfrm>
            <a:off x="1063052" y="3477346"/>
            <a:ext cx="6716062" cy="1047896"/>
          </a:xfrm>
          <a:prstGeom prst="rect">
            <a:avLst/>
          </a:prstGeom>
        </p:spPr>
      </p:pic>
    </p:spTree>
    <p:extLst>
      <p:ext uri="{BB962C8B-B14F-4D97-AF65-F5344CB8AC3E}">
        <p14:creationId xmlns:p14="http://schemas.microsoft.com/office/powerpoint/2010/main" val="3935563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p:txBody>
          <a:bodyPr>
            <a:normAutofit/>
          </a:bodyPr>
          <a:lstStyle/>
          <a:p>
            <a:r>
              <a:rPr lang="en-IN" sz="4000" b="1" dirty="0">
                <a:latin typeface="+mn-lt"/>
                <a:cs typeface="Times New Roman" panose="02020603050405020304" pitchFamily="18" charset="0"/>
              </a:rPr>
              <a:t>  </a:t>
            </a:r>
          </a:p>
        </p:txBody>
      </p:sp>
      <p:sp>
        <p:nvSpPr>
          <p:cNvPr id="6" name="Title 3">
            <a:extLst>
              <a:ext uri="{FF2B5EF4-FFF2-40B4-BE49-F238E27FC236}">
                <a16:creationId xmlns:a16="http://schemas.microsoft.com/office/drawing/2014/main" id="{2E777CAE-39BF-952E-ADED-FE473F32426E}"/>
              </a:ext>
            </a:extLst>
          </p:cNvPr>
          <p:cNvSpPr txBox="1">
            <a:spLocks/>
          </p:cNvSpPr>
          <p:nvPr/>
        </p:nvSpPr>
        <p:spPr>
          <a:xfrm>
            <a:off x="838200" y="331169"/>
            <a:ext cx="10854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latin typeface="+mn-lt"/>
                <a:cs typeface="Times New Roman" panose="02020603050405020304" pitchFamily="18" charset="0"/>
              </a:rPr>
              <a:t>Installation of </a:t>
            </a:r>
            <a:r>
              <a:rPr lang="en-IN" sz="4000" dirty="0" err="1">
                <a:latin typeface="+mn-lt"/>
                <a:cs typeface="Times New Roman" panose="02020603050405020304" pitchFamily="18" charset="0"/>
              </a:rPr>
              <a:t>Intellibot</a:t>
            </a:r>
            <a:r>
              <a:rPr lang="en-IN" sz="4000" dirty="0">
                <a:latin typeface="+mn-lt"/>
                <a:cs typeface="Times New Roman" panose="02020603050405020304" pitchFamily="18" charset="0"/>
              </a:rPr>
              <a:t>  plugin</a:t>
            </a:r>
            <a:endParaRPr lang="en-IN" sz="4000" b="1" dirty="0">
              <a:latin typeface="+mn-lt"/>
              <a:cs typeface="Times New Roman" panose="02020603050405020304" pitchFamily="18" charset="0"/>
            </a:endParaRPr>
          </a:p>
        </p:txBody>
      </p:sp>
      <p:pic>
        <p:nvPicPr>
          <p:cNvPr id="3" name="Picture 2">
            <a:extLst>
              <a:ext uri="{FF2B5EF4-FFF2-40B4-BE49-F238E27FC236}">
                <a16:creationId xmlns:a16="http://schemas.microsoft.com/office/drawing/2014/main" id="{0CA27BC7-2A01-B61F-1052-DAD3836AF790}"/>
              </a:ext>
            </a:extLst>
          </p:cNvPr>
          <p:cNvPicPr>
            <a:picLocks noChangeAspect="1"/>
          </p:cNvPicPr>
          <p:nvPr/>
        </p:nvPicPr>
        <p:blipFill>
          <a:blip r:embed="rId3"/>
          <a:stretch>
            <a:fillRect/>
          </a:stretch>
        </p:blipFill>
        <p:spPr>
          <a:xfrm>
            <a:off x="838200" y="1825828"/>
            <a:ext cx="9593014" cy="2781688"/>
          </a:xfrm>
          <a:prstGeom prst="rect">
            <a:avLst/>
          </a:prstGeom>
        </p:spPr>
      </p:pic>
    </p:spTree>
    <p:extLst>
      <p:ext uri="{BB962C8B-B14F-4D97-AF65-F5344CB8AC3E}">
        <p14:creationId xmlns:p14="http://schemas.microsoft.com/office/powerpoint/2010/main" val="1817862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r>
              <a:rPr lang="en-IN" sz="4000" dirty="0">
                <a:latin typeface="+mn-lt"/>
                <a:cs typeface="Times New Roman" panose="02020603050405020304" pitchFamily="18" charset="0"/>
              </a:rPr>
              <a:t>	    </a:t>
            </a:r>
            <a:r>
              <a:rPr lang="en-IN" sz="4000" b="1" dirty="0">
                <a:latin typeface="+mn-lt"/>
                <a:cs typeface="Times New Roman" panose="02020603050405020304" pitchFamily="18" charset="0"/>
              </a:rPr>
              <a:t>Test suites in Robot Framework </a:t>
            </a:r>
          </a:p>
        </p:txBody>
      </p:sp>
      <p:pic>
        <p:nvPicPr>
          <p:cNvPr id="3" name="Content Placeholder 2">
            <a:extLst>
              <a:ext uri="{FF2B5EF4-FFF2-40B4-BE49-F238E27FC236}">
                <a16:creationId xmlns:a16="http://schemas.microsoft.com/office/drawing/2014/main" id="{BD419FBD-E19F-5E20-9BA9-EEFDEF0CD128}"/>
              </a:ext>
            </a:extLst>
          </p:cNvPr>
          <p:cNvPicPr>
            <a:picLocks noGrp="1" noChangeAspect="1"/>
          </p:cNvPicPr>
          <p:nvPr>
            <p:ph idx="1"/>
          </p:nvPr>
        </p:nvPicPr>
        <p:blipFill>
          <a:blip r:embed="rId3"/>
          <a:stretch>
            <a:fillRect/>
          </a:stretch>
        </p:blipFill>
        <p:spPr>
          <a:xfrm>
            <a:off x="2158584" y="2276856"/>
            <a:ext cx="7615003" cy="3620416"/>
          </a:xfrm>
        </p:spPr>
      </p:pic>
    </p:spTree>
    <p:extLst>
      <p:ext uri="{BB962C8B-B14F-4D97-AF65-F5344CB8AC3E}">
        <p14:creationId xmlns:p14="http://schemas.microsoft.com/office/powerpoint/2010/main" val="3047948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011936" y="338778"/>
            <a:ext cx="10168128" cy="245839"/>
          </a:xfrm>
        </p:spPr>
        <p:txBody>
          <a:bodyPr>
            <a:normAutofit fontScale="90000"/>
          </a:bodyPr>
          <a:lstStyle/>
          <a:p>
            <a:pPr algn="ctr"/>
            <a:r>
              <a:rPr lang="en-IN" sz="4000" b="1" dirty="0">
                <a:latin typeface="+mn-lt"/>
                <a:cs typeface="Times New Roman" panose="02020603050405020304" pitchFamily="18" charset="0"/>
              </a:rPr>
              <a:t>Testcases in Robot Framework</a:t>
            </a:r>
          </a:p>
        </p:txBody>
      </p:sp>
      <p:sp>
        <p:nvSpPr>
          <p:cNvPr id="9" name="TextBox 8">
            <a:extLst>
              <a:ext uri="{FF2B5EF4-FFF2-40B4-BE49-F238E27FC236}">
                <a16:creationId xmlns:a16="http://schemas.microsoft.com/office/drawing/2014/main" id="{ECCECC95-AA10-9BA9-D85C-40761D80DDDA}"/>
              </a:ext>
            </a:extLst>
          </p:cNvPr>
          <p:cNvSpPr txBox="1"/>
          <p:nvPr/>
        </p:nvSpPr>
        <p:spPr>
          <a:xfrm>
            <a:off x="1011936" y="878185"/>
            <a:ext cx="9855882" cy="6186309"/>
          </a:xfrm>
          <a:prstGeom prst="rect">
            <a:avLst/>
          </a:prstGeom>
          <a:noFill/>
        </p:spPr>
        <p:txBody>
          <a:bodyPr wrap="square">
            <a:spAutoFit/>
          </a:bodyPr>
          <a:lstStyle/>
          <a:p>
            <a:pPr algn="l" fontAlgn="base"/>
            <a:r>
              <a:rPr lang="en-US" b="1" i="0" dirty="0">
                <a:solidFill>
                  <a:srgbClr val="2A2A2A"/>
                </a:solidFill>
                <a:effectLst/>
              </a:rPr>
              <a:t>Robot Framework test scripts are text files with the *.robot or *.txt extensions. The four sections of basic Robot test scripts are setting, variables, keywords, and test cases.</a:t>
            </a:r>
          </a:p>
          <a:p>
            <a:pPr algn="l" fontAlgn="base"/>
            <a:endParaRPr lang="en-US" b="1" i="0" dirty="0">
              <a:solidFill>
                <a:srgbClr val="2A2A2A"/>
              </a:solidFill>
              <a:effectLst/>
            </a:endParaRPr>
          </a:p>
          <a:p>
            <a:pPr algn="l" fontAlgn="base"/>
            <a:r>
              <a:rPr lang="en-US" b="1" i="0" cap="all" dirty="0">
                <a:solidFill>
                  <a:srgbClr val="2A2A2A"/>
                </a:solidFill>
                <a:effectLst/>
              </a:rPr>
              <a:t>SETTINGS</a:t>
            </a:r>
          </a:p>
          <a:p>
            <a:pPr algn="l" fontAlgn="base"/>
            <a:r>
              <a:rPr lang="en-US" b="1" i="0" dirty="0">
                <a:solidFill>
                  <a:srgbClr val="2A2A2A"/>
                </a:solidFill>
                <a:effectLst/>
              </a:rPr>
              <a:t>The settings section contains the import statements for the external libraries, resources, and the setup and teardown commands.</a:t>
            </a:r>
          </a:p>
          <a:p>
            <a:pPr algn="l" fontAlgn="base"/>
            <a:endParaRPr lang="en-US" b="1" i="0" dirty="0">
              <a:solidFill>
                <a:srgbClr val="2A2A2A"/>
              </a:solidFill>
              <a:effectLst/>
            </a:endParaRPr>
          </a:p>
          <a:p>
            <a:pPr algn="l" fontAlgn="base"/>
            <a:r>
              <a:rPr lang="en-US" b="1" i="0" cap="all" dirty="0">
                <a:solidFill>
                  <a:srgbClr val="2A2A2A"/>
                </a:solidFill>
                <a:effectLst/>
              </a:rPr>
              <a:t>VARIABLES</a:t>
            </a:r>
          </a:p>
          <a:p>
            <a:pPr algn="l" fontAlgn="base"/>
            <a:r>
              <a:rPr lang="en-US" b="1" i="0" dirty="0">
                <a:solidFill>
                  <a:srgbClr val="2A2A2A"/>
                </a:solidFill>
                <a:effectLst/>
              </a:rPr>
              <a:t>The variables section contains keyword arguments, global, and local values. Variables make it easy to change the test data in one location.</a:t>
            </a:r>
          </a:p>
          <a:p>
            <a:pPr algn="l" fontAlgn="base"/>
            <a:endParaRPr lang="en-US" b="1" i="0" dirty="0">
              <a:solidFill>
                <a:srgbClr val="2A2A2A"/>
              </a:solidFill>
              <a:effectLst/>
            </a:endParaRPr>
          </a:p>
          <a:p>
            <a:pPr algn="l" fontAlgn="base"/>
            <a:r>
              <a:rPr lang="en-US" b="1" i="0" cap="all" dirty="0">
                <a:solidFill>
                  <a:srgbClr val="2A2A2A"/>
                </a:solidFill>
                <a:effectLst/>
              </a:rPr>
              <a:t>KEYWORDS</a:t>
            </a:r>
          </a:p>
          <a:p>
            <a:pPr algn="l" fontAlgn="base"/>
            <a:r>
              <a:rPr lang="en-US" b="1" i="0" dirty="0">
                <a:solidFill>
                  <a:srgbClr val="2A2A2A"/>
                </a:solidFill>
                <a:effectLst/>
              </a:rPr>
              <a:t>The keywords section contains operations used to execute the tests. The different types of keywords are built-in keywords, library keywords, and user-defined keywords. Built-in and library keywords are lower-level keywords defined by the built-in Robot Framework library or an external library such as Selenium. User-defined keywords are keywords created by combining library keywords.</a:t>
            </a:r>
          </a:p>
          <a:p>
            <a:pPr algn="l" fontAlgn="base"/>
            <a:endParaRPr lang="en-US" b="1" i="0" dirty="0">
              <a:solidFill>
                <a:srgbClr val="2A2A2A"/>
              </a:solidFill>
              <a:effectLst/>
            </a:endParaRPr>
          </a:p>
          <a:p>
            <a:pPr algn="l" fontAlgn="base"/>
            <a:r>
              <a:rPr lang="en-US" b="1" i="0" cap="all" dirty="0">
                <a:solidFill>
                  <a:srgbClr val="2A2A2A"/>
                </a:solidFill>
                <a:effectLst/>
              </a:rPr>
              <a:t>TEST CASES</a:t>
            </a:r>
          </a:p>
          <a:p>
            <a:pPr algn="l" fontAlgn="base"/>
            <a:r>
              <a:rPr lang="en-US" b="1" i="0" dirty="0">
                <a:solidFill>
                  <a:srgbClr val="2A2A2A"/>
                </a:solidFill>
                <a:effectLst/>
              </a:rPr>
              <a:t>The test cases section contains the test cases. Two of the more common approaches to writing test cases are keyword-driven and Gherkin.</a:t>
            </a:r>
          </a:p>
          <a:p>
            <a:pPr algn="l" fontAlgn="base"/>
            <a:endParaRPr lang="en-US" b="1" i="0" cap="all" dirty="0">
              <a:solidFill>
                <a:srgbClr val="2A2A2A"/>
              </a:solidFill>
              <a:effectLst/>
            </a:endParaRPr>
          </a:p>
        </p:txBody>
      </p:sp>
    </p:spTree>
    <p:extLst>
      <p:ext uri="{BB962C8B-B14F-4D97-AF65-F5344CB8AC3E}">
        <p14:creationId xmlns:p14="http://schemas.microsoft.com/office/powerpoint/2010/main" val="4259639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011936" y="338778"/>
            <a:ext cx="10168128" cy="245839"/>
          </a:xfrm>
        </p:spPr>
        <p:txBody>
          <a:bodyPr>
            <a:normAutofit fontScale="90000"/>
          </a:bodyPr>
          <a:lstStyle/>
          <a:p>
            <a:pPr algn="ctr"/>
            <a:r>
              <a:rPr lang="en-IN" sz="4000" b="1" dirty="0">
                <a:latin typeface="+mn-lt"/>
                <a:cs typeface="Times New Roman" panose="02020603050405020304" pitchFamily="18" charset="0"/>
              </a:rPr>
              <a:t>Testcases in Robot Framework</a:t>
            </a:r>
          </a:p>
        </p:txBody>
      </p:sp>
      <p:sp>
        <p:nvSpPr>
          <p:cNvPr id="9" name="TextBox 8">
            <a:extLst>
              <a:ext uri="{FF2B5EF4-FFF2-40B4-BE49-F238E27FC236}">
                <a16:creationId xmlns:a16="http://schemas.microsoft.com/office/drawing/2014/main" id="{ECCECC95-AA10-9BA9-D85C-40761D80DDDA}"/>
              </a:ext>
            </a:extLst>
          </p:cNvPr>
          <p:cNvSpPr txBox="1"/>
          <p:nvPr/>
        </p:nvSpPr>
        <p:spPr>
          <a:xfrm>
            <a:off x="1011936" y="878185"/>
            <a:ext cx="9855882" cy="369332"/>
          </a:xfrm>
          <a:prstGeom prst="rect">
            <a:avLst/>
          </a:prstGeom>
          <a:noFill/>
        </p:spPr>
        <p:txBody>
          <a:bodyPr wrap="square">
            <a:spAutoFit/>
          </a:bodyPr>
          <a:lstStyle/>
          <a:p>
            <a:pPr algn="l" fontAlgn="base"/>
            <a:endParaRPr lang="en-US" b="1" i="0" cap="all" dirty="0">
              <a:solidFill>
                <a:srgbClr val="2A2A2A"/>
              </a:solidFill>
              <a:effectLst/>
            </a:endParaRPr>
          </a:p>
        </p:txBody>
      </p:sp>
      <p:sp>
        <p:nvSpPr>
          <p:cNvPr id="3" name="TextBox 2">
            <a:extLst>
              <a:ext uri="{FF2B5EF4-FFF2-40B4-BE49-F238E27FC236}">
                <a16:creationId xmlns:a16="http://schemas.microsoft.com/office/drawing/2014/main" id="{31A05456-20CB-1875-C1F2-5A1895696843}"/>
              </a:ext>
            </a:extLst>
          </p:cNvPr>
          <p:cNvSpPr txBox="1"/>
          <p:nvPr/>
        </p:nvSpPr>
        <p:spPr>
          <a:xfrm>
            <a:off x="1818857" y="1265841"/>
            <a:ext cx="8914100" cy="923330"/>
          </a:xfrm>
          <a:prstGeom prst="rect">
            <a:avLst/>
          </a:prstGeom>
          <a:noFill/>
        </p:spPr>
        <p:txBody>
          <a:bodyPr wrap="square">
            <a:spAutoFit/>
          </a:bodyPr>
          <a:lstStyle/>
          <a:p>
            <a:r>
              <a:rPr lang="en-US" b="1" i="0" dirty="0">
                <a:solidFill>
                  <a:srgbClr val="2A2A2A"/>
                </a:solidFill>
                <a:effectLst/>
                <a:latin typeface="Roboto" panose="02000000000000000000" pitchFamily="2" charset="0"/>
              </a:rPr>
              <a:t>Keyword-driven Approach</a:t>
            </a:r>
            <a:br>
              <a:rPr lang="en-US" dirty="0"/>
            </a:br>
            <a:r>
              <a:rPr lang="en-US" b="0" i="0" dirty="0">
                <a:solidFill>
                  <a:srgbClr val="2A2A2A"/>
                </a:solidFill>
                <a:effectLst/>
                <a:latin typeface="Roboto" panose="02000000000000000000" pitchFamily="2" charset="0"/>
              </a:rPr>
              <a:t>The keyword-driven approach uses the Robot Framework built-in keywords and keywords from an external library like Selenium.</a:t>
            </a:r>
            <a:endParaRPr lang="en-IN" dirty="0"/>
          </a:p>
        </p:txBody>
      </p:sp>
      <p:pic>
        <p:nvPicPr>
          <p:cNvPr id="1026" name="Picture 2" descr="image">
            <a:extLst>
              <a:ext uri="{FF2B5EF4-FFF2-40B4-BE49-F238E27FC236}">
                <a16:creationId xmlns:a16="http://schemas.microsoft.com/office/drawing/2014/main" id="{E3ADB6CB-B356-B276-43D6-7B1D66AA5A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7957" y="3121463"/>
            <a:ext cx="6686550" cy="189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936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680852" y="264497"/>
            <a:ext cx="10168128" cy="1179576"/>
          </a:xfrm>
        </p:spPr>
        <p:txBody>
          <a:bodyPr>
            <a:normAutofit/>
          </a:bodyPr>
          <a:lstStyle/>
          <a:p>
            <a:pPr algn="ctr"/>
            <a:r>
              <a:rPr lang="en-IN" sz="4000" b="1" dirty="0">
                <a:latin typeface="+mn-lt"/>
                <a:cs typeface="Times New Roman" panose="02020603050405020304" pitchFamily="18" charset="0"/>
              </a:rPr>
              <a:t>Testcases in Robot Framework</a:t>
            </a:r>
          </a:p>
        </p:txBody>
      </p:sp>
      <p:pic>
        <p:nvPicPr>
          <p:cNvPr id="7" name="Picture 6">
            <a:extLst>
              <a:ext uri="{FF2B5EF4-FFF2-40B4-BE49-F238E27FC236}">
                <a16:creationId xmlns:a16="http://schemas.microsoft.com/office/drawing/2014/main" id="{74D45506-BDCC-B20F-0B6E-63D2FAD38F3D}"/>
              </a:ext>
            </a:extLst>
          </p:cNvPr>
          <p:cNvPicPr>
            <a:picLocks noChangeAspect="1"/>
          </p:cNvPicPr>
          <p:nvPr/>
        </p:nvPicPr>
        <p:blipFill>
          <a:blip r:embed="rId3"/>
          <a:stretch>
            <a:fillRect/>
          </a:stretch>
        </p:blipFill>
        <p:spPr>
          <a:xfrm>
            <a:off x="1821222" y="1728216"/>
            <a:ext cx="7887389" cy="4275499"/>
          </a:xfrm>
          <a:prstGeom prst="rect">
            <a:avLst/>
          </a:prstGeom>
        </p:spPr>
      </p:pic>
    </p:spTree>
    <p:extLst>
      <p:ext uri="{BB962C8B-B14F-4D97-AF65-F5344CB8AC3E}">
        <p14:creationId xmlns:p14="http://schemas.microsoft.com/office/powerpoint/2010/main" val="3513758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Keywords and Test libraries </a:t>
            </a:r>
          </a:p>
        </p:txBody>
      </p:sp>
      <p:sp>
        <p:nvSpPr>
          <p:cNvPr id="3" name="TextBox 2">
            <a:extLst>
              <a:ext uri="{FF2B5EF4-FFF2-40B4-BE49-F238E27FC236}">
                <a16:creationId xmlns:a16="http://schemas.microsoft.com/office/drawing/2014/main" id="{31F09F2D-B753-2077-188F-764AC541F112}"/>
              </a:ext>
            </a:extLst>
          </p:cNvPr>
          <p:cNvSpPr txBox="1"/>
          <p:nvPr/>
        </p:nvSpPr>
        <p:spPr>
          <a:xfrm>
            <a:off x="1244183" y="1445256"/>
            <a:ext cx="10168127" cy="5078313"/>
          </a:xfrm>
          <a:prstGeom prst="rect">
            <a:avLst/>
          </a:prstGeom>
          <a:noFill/>
        </p:spPr>
        <p:txBody>
          <a:bodyPr wrap="square">
            <a:spAutoFit/>
          </a:bodyPr>
          <a:lstStyle/>
          <a:p>
            <a:pPr algn="l"/>
            <a:r>
              <a:rPr lang="en-US" b="1" i="0" dirty="0">
                <a:solidFill>
                  <a:srgbClr val="191B1D"/>
                </a:solidFill>
                <a:effectLst/>
                <a:highlight>
                  <a:srgbClr val="FFFFFF"/>
                </a:highlight>
              </a:rPr>
              <a:t>Understanding Keywords</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In Robot Framework, keywords are the fundamental building blocks of test cases. Keywords represent actions, verifications, or operations that you want to perform during your tests. There are three primary types of keywords:</a:t>
            </a:r>
          </a:p>
          <a:p>
            <a:pPr algn="l"/>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Built-In Keywords: These keywords come prepackaged with Robot Framework and cover a wide range of common actions and verifications. They are part of the Robot Framework core and are readily available for use.</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User-Defined Keywords: Testers can create their own custom keywords to encapsulate and reuse sequences of actions or verifications. User-defined keywords enhance test case modularity and maintainability.</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External Keywords: External keywords are provided by libraries or external resources. Robot Framework supports integration with various libraries, such as </a:t>
            </a:r>
            <a:r>
              <a:rPr lang="en-US" b="1" i="0" dirty="0" err="1">
                <a:solidFill>
                  <a:srgbClr val="191B1D"/>
                </a:solidFill>
                <a:effectLst/>
                <a:highlight>
                  <a:srgbClr val="FFFFFF"/>
                </a:highlight>
              </a:rPr>
              <a:t>SeleniumLibrary</a:t>
            </a:r>
            <a:r>
              <a:rPr lang="en-US" b="1" i="0" dirty="0">
                <a:solidFill>
                  <a:srgbClr val="191B1D"/>
                </a:solidFill>
                <a:effectLst/>
                <a:highlight>
                  <a:srgbClr val="FFFFFF"/>
                </a:highlight>
              </a:rPr>
              <a:t> for web testing or </a:t>
            </a:r>
            <a:r>
              <a:rPr lang="en-US" b="1" i="0" dirty="0" err="1">
                <a:solidFill>
                  <a:srgbClr val="191B1D"/>
                </a:solidFill>
                <a:effectLst/>
                <a:highlight>
                  <a:srgbClr val="FFFFFF"/>
                </a:highlight>
              </a:rPr>
              <a:t>DatabaseLibrary</a:t>
            </a:r>
            <a:r>
              <a:rPr lang="en-US" b="1" i="0" dirty="0">
                <a:solidFill>
                  <a:srgbClr val="191B1D"/>
                </a:solidFill>
                <a:effectLst/>
                <a:highlight>
                  <a:srgbClr val="FFFFFF"/>
                </a:highlight>
              </a:rPr>
              <a:t> for database interactions. These libraries extend Robot Framework’s capabilities</a:t>
            </a:r>
          </a:p>
        </p:txBody>
      </p:sp>
    </p:spTree>
    <p:extLst>
      <p:ext uri="{BB962C8B-B14F-4D97-AF65-F5344CB8AC3E}">
        <p14:creationId xmlns:p14="http://schemas.microsoft.com/office/powerpoint/2010/main" val="3460495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Keywords and Test libraries </a:t>
            </a:r>
          </a:p>
        </p:txBody>
      </p:sp>
      <p:sp>
        <p:nvSpPr>
          <p:cNvPr id="3" name="TextBox 2">
            <a:extLst>
              <a:ext uri="{FF2B5EF4-FFF2-40B4-BE49-F238E27FC236}">
                <a16:creationId xmlns:a16="http://schemas.microsoft.com/office/drawing/2014/main" id="{31F09F2D-B753-2077-188F-764AC541F112}"/>
              </a:ext>
            </a:extLst>
          </p:cNvPr>
          <p:cNvSpPr txBox="1"/>
          <p:nvPr/>
        </p:nvSpPr>
        <p:spPr>
          <a:xfrm>
            <a:off x="1244183" y="1445256"/>
            <a:ext cx="10168127" cy="3693319"/>
          </a:xfrm>
          <a:prstGeom prst="rect">
            <a:avLst/>
          </a:prstGeom>
          <a:noFill/>
        </p:spPr>
        <p:txBody>
          <a:bodyPr wrap="square">
            <a:spAutoFit/>
          </a:bodyPr>
          <a:lstStyle/>
          <a:p>
            <a:pPr algn="l"/>
            <a:r>
              <a:rPr lang="en-US" b="1" i="0" dirty="0">
                <a:solidFill>
                  <a:srgbClr val="191B1D"/>
                </a:solidFill>
                <a:effectLst/>
                <a:highlight>
                  <a:srgbClr val="FFFFFF"/>
                </a:highlight>
              </a:rPr>
              <a:t>Using Built-In Keywords</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Built-in keywords are readily available for use in Robot Framework, making it easy to perform common actions and verifications without writing custom code. These keywords are grouped into libraries based on their functionality. Here are some examples of commonly used built-in keywords:</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Open Browser: Opens a web browser.</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Input Text: Types text into a text field.</a:t>
            </a:r>
          </a:p>
          <a:p>
            <a:pPr algn="l"/>
            <a:r>
              <a:rPr lang="en-US" b="1" i="0" dirty="0">
                <a:solidFill>
                  <a:srgbClr val="191B1D"/>
                </a:solidFill>
                <a:effectLst/>
                <a:highlight>
                  <a:srgbClr val="FFFFFF"/>
                </a:highlight>
              </a:rPr>
              <a:t>Click Button: Clicks a button on a web page.</a:t>
            </a:r>
          </a:p>
          <a:p>
            <a:pPr algn="l"/>
            <a:r>
              <a:rPr lang="en-US" b="1" i="0" dirty="0">
                <a:solidFill>
                  <a:srgbClr val="191B1D"/>
                </a:solidFill>
                <a:effectLst/>
                <a:highlight>
                  <a:srgbClr val="FFFFFF"/>
                </a:highlight>
              </a:rPr>
              <a:t>Page Should Contain: Verifies that a web page contains specific text or elements.</a:t>
            </a:r>
          </a:p>
          <a:p>
            <a:pPr algn="l"/>
            <a:r>
              <a:rPr lang="en-US" b="1" i="0" dirty="0">
                <a:solidFill>
                  <a:srgbClr val="191B1D"/>
                </a:solidFill>
                <a:effectLst/>
                <a:highlight>
                  <a:srgbClr val="FFFFFF"/>
                </a:highlight>
              </a:rPr>
              <a:t>Should Be Equal As Strings: Compares two strings for equality.</a:t>
            </a:r>
          </a:p>
        </p:txBody>
      </p:sp>
    </p:spTree>
    <p:extLst>
      <p:ext uri="{BB962C8B-B14F-4D97-AF65-F5344CB8AC3E}">
        <p14:creationId xmlns:p14="http://schemas.microsoft.com/office/powerpoint/2010/main" val="1685333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Built in Keywords</a:t>
            </a:r>
          </a:p>
        </p:txBody>
      </p:sp>
      <p:pic>
        <p:nvPicPr>
          <p:cNvPr id="5" name="Picture 4">
            <a:extLst>
              <a:ext uri="{FF2B5EF4-FFF2-40B4-BE49-F238E27FC236}">
                <a16:creationId xmlns:a16="http://schemas.microsoft.com/office/drawing/2014/main" id="{339991EE-3F21-D3FE-65DC-BF7426E8D280}"/>
              </a:ext>
            </a:extLst>
          </p:cNvPr>
          <p:cNvPicPr>
            <a:picLocks noChangeAspect="1"/>
          </p:cNvPicPr>
          <p:nvPr/>
        </p:nvPicPr>
        <p:blipFill>
          <a:blip r:embed="rId3"/>
          <a:stretch>
            <a:fillRect/>
          </a:stretch>
        </p:blipFill>
        <p:spPr>
          <a:xfrm>
            <a:off x="1862523" y="1413423"/>
            <a:ext cx="7897327" cy="4610743"/>
          </a:xfrm>
          <a:prstGeom prst="rect">
            <a:avLst/>
          </a:prstGeom>
        </p:spPr>
      </p:pic>
    </p:spTree>
    <p:extLst>
      <p:ext uri="{BB962C8B-B14F-4D97-AF65-F5344CB8AC3E}">
        <p14:creationId xmlns:p14="http://schemas.microsoft.com/office/powerpoint/2010/main" val="68261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Custom Keywords</a:t>
            </a:r>
          </a:p>
        </p:txBody>
      </p:sp>
      <p:sp>
        <p:nvSpPr>
          <p:cNvPr id="3" name="TextBox 2">
            <a:extLst>
              <a:ext uri="{FF2B5EF4-FFF2-40B4-BE49-F238E27FC236}">
                <a16:creationId xmlns:a16="http://schemas.microsoft.com/office/drawing/2014/main" id="{0AB7DA05-46E5-A3F2-014E-A63FE097C9C2}"/>
              </a:ext>
            </a:extLst>
          </p:cNvPr>
          <p:cNvSpPr txBox="1"/>
          <p:nvPr/>
        </p:nvSpPr>
        <p:spPr>
          <a:xfrm>
            <a:off x="1720745" y="1757837"/>
            <a:ext cx="8750509" cy="2862322"/>
          </a:xfrm>
          <a:prstGeom prst="rect">
            <a:avLst/>
          </a:prstGeom>
          <a:noFill/>
        </p:spPr>
        <p:txBody>
          <a:bodyPr wrap="square">
            <a:spAutoFit/>
          </a:bodyPr>
          <a:lstStyle/>
          <a:p>
            <a:pPr algn="l"/>
            <a:r>
              <a:rPr lang="en-US" b="1" i="0" dirty="0">
                <a:solidFill>
                  <a:srgbClr val="191B1D"/>
                </a:solidFill>
                <a:effectLst/>
                <a:highlight>
                  <a:srgbClr val="FFFFFF"/>
                </a:highlight>
              </a:rPr>
              <a:t>Creating Custom Keywords</a:t>
            </a:r>
            <a:endParaRPr lang="en-US" b="1" dirty="0">
              <a:solidFill>
                <a:srgbClr val="191B1D"/>
              </a:solidFill>
              <a:highlight>
                <a:srgbClr val="FFFFFF"/>
              </a:highlight>
            </a:endParaRP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While built-in keywords cover a wide range of actions, there will be situations where you need to create custom keywords to encapsulate specific test steps or verifications. </a:t>
            </a:r>
          </a:p>
          <a:p>
            <a:pPr algn="l"/>
            <a:endParaRPr lang="en-US" b="1" dirty="0">
              <a:solidFill>
                <a:srgbClr val="191B1D"/>
              </a:solidFill>
              <a:highlight>
                <a:srgbClr val="FFFFFF"/>
              </a:highlight>
            </a:endParaRPr>
          </a:p>
          <a:p>
            <a:pPr algn="l"/>
            <a:r>
              <a:rPr lang="en-US" b="1" i="0" dirty="0">
                <a:solidFill>
                  <a:srgbClr val="191B1D"/>
                </a:solidFill>
                <a:effectLst/>
                <a:highlight>
                  <a:srgbClr val="FFFFFF"/>
                </a:highlight>
              </a:rPr>
              <a:t>Creating custom keywords is a powerful feature of Robot Framework that enhances the maintainability and reusability of your test cases.</a:t>
            </a:r>
          </a:p>
          <a:p>
            <a:br>
              <a:rPr lang="en-US" b="1" i="0" dirty="0">
                <a:solidFill>
                  <a:srgbClr val="191B1D"/>
                </a:solidFill>
                <a:effectLst/>
                <a:highlight>
                  <a:srgbClr val="FFFFFF"/>
                </a:highlight>
              </a:rPr>
            </a:br>
            <a:endParaRPr lang="en-IN" b="1" dirty="0"/>
          </a:p>
        </p:txBody>
      </p:sp>
    </p:spTree>
    <p:extLst>
      <p:ext uri="{BB962C8B-B14F-4D97-AF65-F5344CB8AC3E}">
        <p14:creationId xmlns:p14="http://schemas.microsoft.com/office/powerpoint/2010/main" val="31298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Custom Keywords</a:t>
            </a:r>
          </a:p>
        </p:txBody>
      </p:sp>
      <p:pic>
        <p:nvPicPr>
          <p:cNvPr id="5" name="Picture 4">
            <a:extLst>
              <a:ext uri="{FF2B5EF4-FFF2-40B4-BE49-F238E27FC236}">
                <a16:creationId xmlns:a16="http://schemas.microsoft.com/office/drawing/2014/main" id="{32B4E63A-DB39-C3AB-A6E5-CBAADDC8D391}"/>
              </a:ext>
            </a:extLst>
          </p:cNvPr>
          <p:cNvPicPr>
            <a:picLocks noChangeAspect="1"/>
          </p:cNvPicPr>
          <p:nvPr/>
        </p:nvPicPr>
        <p:blipFill>
          <a:blip r:embed="rId3"/>
          <a:stretch>
            <a:fillRect/>
          </a:stretch>
        </p:blipFill>
        <p:spPr>
          <a:xfrm>
            <a:off x="2028257" y="1371313"/>
            <a:ext cx="8135485" cy="4115374"/>
          </a:xfrm>
          <a:prstGeom prst="rect">
            <a:avLst/>
          </a:prstGeom>
        </p:spPr>
      </p:pic>
    </p:spTree>
    <p:extLst>
      <p:ext uri="{BB962C8B-B14F-4D97-AF65-F5344CB8AC3E}">
        <p14:creationId xmlns:p14="http://schemas.microsoft.com/office/powerpoint/2010/main" val="1933552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pic>
        <p:nvPicPr>
          <p:cNvPr id="5" name="Picture 4">
            <a:extLst>
              <a:ext uri="{FF2B5EF4-FFF2-40B4-BE49-F238E27FC236}">
                <a16:creationId xmlns:a16="http://schemas.microsoft.com/office/drawing/2014/main" id="{A2786777-BF7E-CC22-5A05-FAA9BBA62055}"/>
              </a:ext>
            </a:extLst>
          </p:cNvPr>
          <p:cNvPicPr>
            <a:picLocks noChangeAspect="1"/>
          </p:cNvPicPr>
          <p:nvPr/>
        </p:nvPicPr>
        <p:blipFill>
          <a:blip r:embed="rId3"/>
          <a:stretch>
            <a:fillRect/>
          </a:stretch>
        </p:blipFill>
        <p:spPr>
          <a:xfrm>
            <a:off x="1975437" y="2319182"/>
            <a:ext cx="7611537" cy="2219635"/>
          </a:xfrm>
          <a:prstGeom prst="rect">
            <a:avLst/>
          </a:prstGeom>
        </p:spPr>
      </p:pic>
    </p:spTree>
    <p:extLst>
      <p:ext uri="{BB962C8B-B14F-4D97-AF65-F5344CB8AC3E}">
        <p14:creationId xmlns:p14="http://schemas.microsoft.com/office/powerpoint/2010/main" val="417213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pic>
        <p:nvPicPr>
          <p:cNvPr id="3" name="Picture 2">
            <a:extLst>
              <a:ext uri="{FF2B5EF4-FFF2-40B4-BE49-F238E27FC236}">
                <a16:creationId xmlns:a16="http://schemas.microsoft.com/office/drawing/2014/main" id="{03AC711E-101C-F956-5CF6-4BA32C743C25}"/>
              </a:ext>
            </a:extLst>
          </p:cNvPr>
          <p:cNvPicPr>
            <a:picLocks noChangeAspect="1"/>
          </p:cNvPicPr>
          <p:nvPr/>
        </p:nvPicPr>
        <p:blipFill>
          <a:blip r:embed="rId3"/>
          <a:stretch>
            <a:fillRect/>
          </a:stretch>
        </p:blipFill>
        <p:spPr>
          <a:xfrm>
            <a:off x="2075047" y="2243307"/>
            <a:ext cx="7802064" cy="2886478"/>
          </a:xfrm>
          <a:prstGeom prst="rect">
            <a:avLst/>
          </a:prstGeom>
        </p:spPr>
      </p:pic>
    </p:spTree>
    <p:extLst>
      <p:ext uri="{BB962C8B-B14F-4D97-AF65-F5344CB8AC3E}">
        <p14:creationId xmlns:p14="http://schemas.microsoft.com/office/powerpoint/2010/main" val="616407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pic>
        <p:nvPicPr>
          <p:cNvPr id="5" name="Picture 4">
            <a:extLst>
              <a:ext uri="{FF2B5EF4-FFF2-40B4-BE49-F238E27FC236}">
                <a16:creationId xmlns:a16="http://schemas.microsoft.com/office/drawing/2014/main" id="{C28D18D6-E0F0-294E-E8E1-8B6CCC571DFA}"/>
              </a:ext>
            </a:extLst>
          </p:cNvPr>
          <p:cNvPicPr>
            <a:picLocks noChangeAspect="1"/>
          </p:cNvPicPr>
          <p:nvPr/>
        </p:nvPicPr>
        <p:blipFill>
          <a:blip r:embed="rId3"/>
          <a:stretch>
            <a:fillRect/>
          </a:stretch>
        </p:blipFill>
        <p:spPr>
          <a:xfrm>
            <a:off x="2356915" y="2352525"/>
            <a:ext cx="7478169" cy="2152950"/>
          </a:xfrm>
          <a:prstGeom prst="rect">
            <a:avLst/>
          </a:prstGeom>
        </p:spPr>
      </p:pic>
    </p:spTree>
    <p:extLst>
      <p:ext uri="{BB962C8B-B14F-4D97-AF65-F5344CB8AC3E}">
        <p14:creationId xmlns:p14="http://schemas.microsoft.com/office/powerpoint/2010/main" val="2400689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pic>
        <p:nvPicPr>
          <p:cNvPr id="3" name="Picture 2">
            <a:extLst>
              <a:ext uri="{FF2B5EF4-FFF2-40B4-BE49-F238E27FC236}">
                <a16:creationId xmlns:a16="http://schemas.microsoft.com/office/drawing/2014/main" id="{BC3CF213-1216-5CBC-BEBE-7413FB49BFAD}"/>
              </a:ext>
            </a:extLst>
          </p:cNvPr>
          <p:cNvPicPr>
            <a:picLocks noChangeAspect="1"/>
          </p:cNvPicPr>
          <p:nvPr/>
        </p:nvPicPr>
        <p:blipFill>
          <a:blip r:embed="rId3"/>
          <a:stretch>
            <a:fillRect/>
          </a:stretch>
        </p:blipFill>
        <p:spPr>
          <a:xfrm>
            <a:off x="2104468" y="1863127"/>
            <a:ext cx="7983064" cy="4067743"/>
          </a:xfrm>
          <a:prstGeom prst="rect">
            <a:avLst/>
          </a:prstGeom>
        </p:spPr>
      </p:pic>
    </p:spTree>
    <p:extLst>
      <p:ext uri="{BB962C8B-B14F-4D97-AF65-F5344CB8AC3E}">
        <p14:creationId xmlns:p14="http://schemas.microsoft.com/office/powerpoint/2010/main" val="1965734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sp>
        <p:nvSpPr>
          <p:cNvPr id="5" name="TextBox 4">
            <a:extLst>
              <a:ext uri="{FF2B5EF4-FFF2-40B4-BE49-F238E27FC236}">
                <a16:creationId xmlns:a16="http://schemas.microsoft.com/office/drawing/2014/main" id="{7F2CC750-84FA-A791-3E19-E9B3BF586EB4}"/>
              </a:ext>
            </a:extLst>
          </p:cNvPr>
          <p:cNvSpPr txBox="1"/>
          <p:nvPr/>
        </p:nvSpPr>
        <p:spPr>
          <a:xfrm>
            <a:off x="1352862" y="2039700"/>
            <a:ext cx="9619938" cy="3693319"/>
          </a:xfrm>
          <a:prstGeom prst="rect">
            <a:avLst/>
          </a:prstGeom>
          <a:noFill/>
        </p:spPr>
        <p:txBody>
          <a:bodyPr wrap="square">
            <a:spAutoFit/>
          </a:bodyPr>
          <a:lstStyle/>
          <a:p>
            <a:pPr algn="l"/>
            <a:r>
              <a:rPr lang="en-US" b="1" i="0" dirty="0">
                <a:solidFill>
                  <a:srgbClr val="191B1D"/>
                </a:solidFill>
                <a:effectLst/>
                <a:highlight>
                  <a:srgbClr val="FFFFFF"/>
                </a:highlight>
              </a:rPr>
              <a:t>Interpreting Test Execution Results</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Once you’ve executed your test cases, Robot Framework generates detailed test execution reports. These reports are available in various formats, including HTML, XML, and plain text. The most commonly used format is HTML, as it provides a user-friendly and visual representation of the test results.</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HTML Report</a:t>
            </a:r>
          </a:p>
          <a:p>
            <a:pPr algn="l"/>
            <a:r>
              <a:rPr lang="en-US" b="1" i="0" dirty="0">
                <a:solidFill>
                  <a:srgbClr val="191B1D"/>
                </a:solidFill>
                <a:effectLst/>
                <a:highlight>
                  <a:srgbClr val="FFFFFF"/>
                </a:highlight>
              </a:rPr>
              <a:t>After running your tests, you can find the HTML report in the output directory (by default, the “output” directory in your project folder). Open the HTML report in a web browser to view the results.</a:t>
            </a:r>
          </a:p>
          <a:p>
            <a:br>
              <a:rPr lang="en-US" b="1" i="0" dirty="0">
                <a:solidFill>
                  <a:srgbClr val="191B1D"/>
                </a:solidFill>
                <a:effectLst/>
                <a:highlight>
                  <a:srgbClr val="FFFFFF"/>
                </a:highlight>
              </a:rPr>
            </a:br>
            <a:endParaRPr lang="en-IN" b="1" dirty="0"/>
          </a:p>
        </p:txBody>
      </p:sp>
    </p:spTree>
    <p:extLst>
      <p:ext uri="{BB962C8B-B14F-4D97-AF65-F5344CB8AC3E}">
        <p14:creationId xmlns:p14="http://schemas.microsoft.com/office/powerpoint/2010/main" val="1604598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sp>
        <p:nvSpPr>
          <p:cNvPr id="5" name="TextBox 4">
            <a:extLst>
              <a:ext uri="{FF2B5EF4-FFF2-40B4-BE49-F238E27FC236}">
                <a16:creationId xmlns:a16="http://schemas.microsoft.com/office/drawing/2014/main" id="{7F2CC750-84FA-A791-3E19-E9B3BF586EB4}"/>
              </a:ext>
            </a:extLst>
          </p:cNvPr>
          <p:cNvSpPr txBox="1"/>
          <p:nvPr/>
        </p:nvSpPr>
        <p:spPr>
          <a:xfrm>
            <a:off x="1352862" y="2039700"/>
            <a:ext cx="9619938" cy="3416320"/>
          </a:xfrm>
          <a:prstGeom prst="rect">
            <a:avLst/>
          </a:prstGeom>
          <a:noFill/>
        </p:spPr>
        <p:txBody>
          <a:bodyPr wrap="square">
            <a:spAutoFit/>
          </a:bodyPr>
          <a:lstStyle/>
          <a:p>
            <a:pPr algn="l"/>
            <a:r>
              <a:rPr lang="en-US" b="1" i="0" dirty="0">
                <a:solidFill>
                  <a:srgbClr val="191B1D"/>
                </a:solidFill>
                <a:effectLst/>
                <a:highlight>
                  <a:srgbClr val="FFFFFF"/>
                </a:highlight>
              </a:rPr>
              <a:t>The HTML report provides a summary of the test execution, including:</a:t>
            </a:r>
          </a:p>
          <a:p>
            <a:pPr algn="l"/>
            <a:endParaRPr lang="en-US" b="1" i="0" dirty="0">
              <a:solidFill>
                <a:srgbClr val="191B1D"/>
              </a:solidFill>
              <a:effectLst/>
              <a:highlight>
                <a:srgbClr val="FFFFFF"/>
              </a:highlight>
            </a:endParaRPr>
          </a:p>
          <a:p>
            <a:pPr algn="l">
              <a:buFont typeface="Arial" panose="020B0604020202020204" pitchFamily="34" charset="0"/>
              <a:buChar char="•"/>
            </a:pPr>
            <a:r>
              <a:rPr lang="en-US" b="1" i="0" dirty="0">
                <a:solidFill>
                  <a:srgbClr val="191B1D"/>
                </a:solidFill>
                <a:effectLst/>
                <a:highlight>
                  <a:srgbClr val="FFFFFF"/>
                </a:highlight>
              </a:rPr>
              <a:t>Number of test cases executed.</a:t>
            </a:r>
          </a:p>
          <a:p>
            <a:pPr algn="l">
              <a:buFont typeface="Arial" panose="020B0604020202020204" pitchFamily="34" charset="0"/>
              <a:buChar char="•"/>
            </a:pPr>
            <a:endParaRPr lang="en-US" b="1" i="0" dirty="0">
              <a:solidFill>
                <a:srgbClr val="191B1D"/>
              </a:solidFill>
              <a:effectLst/>
              <a:highlight>
                <a:srgbClr val="FFFFFF"/>
              </a:highlight>
            </a:endParaRPr>
          </a:p>
          <a:p>
            <a:pPr algn="l">
              <a:buFont typeface="Arial" panose="020B0604020202020204" pitchFamily="34" charset="0"/>
              <a:buChar char="•"/>
            </a:pPr>
            <a:r>
              <a:rPr lang="en-US" b="1" i="0" dirty="0">
                <a:solidFill>
                  <a:srgbClr val="191B1D"/>
                </a:solidFill>
                <a:effectLst/>
                <a:highlight>
                  <a:srgbClr val="FFFFFF"/>
                </a:highlight>
              </a:rPr>
              <a:t>Number of test cases passed, failed, and skipped.</a:t>
            </a:r>
          </a:p>
          <a:p>
            <a:pPr algn="l">
              <a:buFont typeface="Arial" panose="020B0604020202020204" pitchFamily="34" charset="0"/>
              <a:buChar char="•"/>
            </a:pPr>
            <a:endParaRPr lang="en-US" b="1" i="0" dirty="0">
              <a:solidFill>
                <a:srgbClr val="191B1D"/>
              </a:solidFill>
              <a:effectLst/>
              <a:highlight>
                <a:srgbClr val="FFFFFF"/>
              </a:highlight>
            </a:endParaRPr>
          </a:p>
          <a:p>
            <a:pPr algn="l">
              <a:buFont typeface="Arial" panose="020B0604020202020204" pitchFamily="34" charset="0"/>
              <a:buChar char="•"/>
            </a:pPr>
            <a:r>
              <a:rPr lang="en-US" b="1" i="0" dirty="0">
                <a:solidFill>
                  <a:srgbClr val="191B1D"/>
                </a:solidFill>
                <a:effectLst/>
                <a:highlight>
                  <a:srgbClr val="FFFFFF"/>
                </a:highlight>
              </a:rPr>
              <a:t>Execution time for each test case and the entire suite.</a:t>
            </a:r>
          </a:p>
          <a:p>
            <a:pPr algn="l">
              <a:buFont typeface="Arial" panose="020B0604020202020204" pitchFamily="34" charset="0"/>
              <a:buChar char="•"/>
            </a:pPr>
            <a:endParaRPr lang="en-US" b="1" i="0" dirty="0">
              <a:solidFill>
                <a:srgbClr val="191B1D"/>
              </a:solidFill>
              <a:effectLst/>
              <a:highlight>
                <a:srgbClr val="FFFFFF"/>
              </a:highlight>
            </a:endParaRPr>
          </a:p>
          <a:p>
            <a:pPr algn="l">
              <a:buFont typeface="Arial" panose="020B0604020202020204" pitchFamily="34" charset="0"/>
              <a:buChar char="•"/>
            </a:pPr>
            <a:r>
              <a:rPr lang="en-US" b="1" i="0" dirty="0">
                <a:solidFill>
                  <a:srgbClr val="191B1D"/>
                </a:solidFill>
                <a:effectLst/>
                <a:highlight>
                  <a:srgbClr val="FFFFFF"/>
                </a:highlight>
              </a:rPr>
              <a:t>Detailed logs for each test case, including keyword execution and messages.</a:t>
            </a:r>
          </a:p>
          <a:p>
            <a:pPr algn="l">
              <a:buFont typeface="Arial" panose="020B0604020202020204" pitchFamily="34" charset="0"/>
              <a:buChar char="•"/>
            </a:pPr>
            <a:endParaRPr lang="en-US" b="1" i="0" dirty="0">
              <a:solidFill>
                <a:srgbClr val="191B1D"/>
              </a:solidFill>
              <a:effectLst/>
              <a:highlight>
                <a:srgbClr val="FFFFFF"/>
              </a:highlight>
            </a:endParaRPr>
          </a:p>
          <a:p>
            <a:pPr algn="l">
              <a:buFont typeface="Arial" panose="020B0604020202020204" pitchFamily="34" charset="0"/>
              <a:buChar char="•"/>
            </a:pPr>
            <a:r>
              <a:rPr lang="en-US" b="1" i="0" dirty="0">
                <a:solidFill>
                  <a:srgbClr val="191B1D"/>
                </a:solidFill>
                <a:effectLst/>
                <a:highlight>
                  <a:srgbClr val="FFFFFF"/>
                </a:highlight>
              </a:rPr>
              <a:t>A visual representation of test case status (pass or fail).</a:t>
            </a:r>
          </a:p>
          <a:p>
            <a:pPr algn="l"/>
            <a:endParaRPr lang="en-IN" b="1" dirty="0"/>
          </a:p>
        </p:txBody>
      </p:sp>
    </p:spTree>
    <p:extLst>
      <p:ext uri="{BB962C8B-B14F-4D97-AF65-F5344CB8AC3E}">
        <p14:creationId xmlns:p14="http://schemas.microsoft.com/office/powerpoint/2010/main" val="3365468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sp>
        <p:nvSpPr>
          <p:cNvPr id="8" name="TextBox 7">
            <a:extLst>
              <a:ext uri="{FF2B5EF4-FFF2-40B4-BE49-F238E27FC236}">
                <a16:creationId xmlns:a16="http://schemas.microsoft.com/office/drawing/2014/main" id="{382E6F83-47AA-FF50-A207-E19ECD80B262}"/>
              </a:ext>
            </a:extLst>
          </p:cNvPr>
          <p:cNvSpPr txBox="1"/>
          <p:nvPr/>
        </p:nvSpPr>
        <p:spPr>
          <a:xfrm>
            <a:off x="1247930" y="2128364"/>
            <a:ext cx="9320135" cy="1754326"/>
          </a:xfrm>
          <a:prstGeom prst="rect">
            <a:avLst/>
          </a:prstGeom>
          <a:noFill/>
        </p:spPr>
        <p:txBody>
          <a:bodyPr wrap="square">
            <a:spAutoFit/>
          </a:bodyPr>
          <a:lstStyle/>
          <a:p>
            <a:r>
              <a:rPr lang="en-IN" b="1" dirty="0"/>
              <a:t>XML and Other Formats</a:t>
            </a:r>
          </a:p>
          <a:p>
            <a:endParaRPr lang="en-IN" b="1" dirty="0"/>
          </a:p>
          <a:p>
            <a:r>
              <a:rPr lang="en-IN" b="1" dirty="0"/>
              <a:t>Robot Framework also generates test execution results in XML, plain text, and other formats. These formats are useful for integration with CI/CD pipelines and test management systems. You can specify the output format using the --output option when running tests:</a:t>
            </a:r>
          </a:p>
        </p:txBody>
      </p:sp>
      <p:pic>
        <p:nvPicPr>
          <p:cNvPr id="10" name="Picture 9">
            <a:extLst>
              <a:ext uri="{FF2B5EF4-FFF2-40B4-BE49-F238E27FC236}">
                <a16:creationId xmlns:a16="http://schemas.microsoft.com/office/drawing/2014/main" id="{51FF7765-E2BE-173C-CAA5-AC53342878BE}"/>
              </a:ext>
            </a:extLst>
          </p:cNvPr>
          <p:cNvPicPr>
            <a:picLocks noChangeAspect="1"/>
          </p:cNvPicPr>
          <p:nvPr/>
        </p:nvPicPr>
        <p:blipFill>
          <a:blip r:embed="rId3"/>
          <a:stretch>
            <a:fillRect/>
          </a:stretch>
        </p:blipFill>
        <p:spPr>
          <a:xfrm>
            <a:off x="1247930" y="4122014"/>
            <a:ext cx="7706801" cy="1267002"/>
          </a:xfrm>
          <a:prstGeom prst="rect">
            <a:avLst/>
          </a:prstGeom>
        </p:spPr>
      </p:pic>
    </p:spTree>
    <p:extLst>
      <p:ext uri="{BB962C8B-B14F-4D97-AF65-F5344CB8AC3E}">
        <p14:creationId xmlns:p14="http://schemas.microsoft.com/office/powerpoint/2010/main" val="445579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Test execution in Robot Framework</a:t>
            </a:r>
          </a:p>
        </p:txBody>
      </p:sp>
      <p:sp>
        <p:nvSpPr>
          <p:cNvPr id="8" name="TextBox 7">
            <a:extLst>
              <a:ext uri="{FF2B5EF4-FFF2-40B4-BE49-F238E27FC236}">
                <a16:creationId xmlns:a16="http://schemas.microsoft.com/office/drawing/2014/main" id="{382E6F83-47AA-FF50-A207-E19ECD80B262}"/>
              </a:ext>
            </a:extLst>
          </p:cNvPr>
          <p:cNvSpPr txBox="1"/>
          <p:nvPr/>
        </p:nvSpPr>
        <p:spPr>
          <a:xfrm>
            <a:off x="1247930" y="2128364"/>
            <a:ext cx="9320135" cy="3170099"/>
          </a:xfrm>
          <a:prstGeom prst="rect">
            <a:avLst/>
          </a:prstGeom>
          <a:noFill/>
        </p:spPr>
        <p:txBody>
          <a:bodyPr wrap="square">
            <a:spAutoFit/>
          </a:bodyPr>
          <a:lstStyle/>
          <a:p>
            <a:r>
              <a:rPr lang="en-IN" sz="2000" b="1" dirty="0"/>
              <a:t>XML and Other Formats</a:t>
            </a:r>
          </a:p>
          <a:p>
            <a:pPr marL="342900" indent="-342900">
              <a:buFont typeface="Arial" panose="020B0604020202020204" pitchFamily="34" charset="0"/>
              <a:buChar char="•"/>
            </a:pPr>
            <a:endParaRPr lang="en-IN" sz="2000" b="1" dirty="0"/>
          </a:p>
          <a:p>
            <a:pPr marL="342900" indent="-342900">
              <a:buFont typeface="Arial" panose="020B0604020202020204" pitchFamily="34" charset="0"/>
              <a:buChar char="•"/>
            </a:pPr>
            <a:r>
              <a:rPr lang="en-IN" sz="2000" b="1" dirty="0"/>
              <a:t>Robot Framework also generates test execution results in XML, plain text, and other formats.</a:t>
            </a:r>
          </a:p>
          <a:p>
            <a:pPr marL="342900" indent="-342900">
              <a:buFont typeface="Arial" panose="020B0604020202020204" pitchFamily="34" charset="0"/>
              <a:buChar char="•"/>
            </a:pPr>
            <a:endParaRPr lang="en-IN" sz="2000" b="1" dirty="0"/>
          </a:p>
          <a:p>
            <a:pPr marL="342900" indent="-342900">
              <a:buFont typeface="Arial" panose="020B0604020202020204" pitchFamily="34" charset="0"/>
              <a:buChar char="•"/>
            </a:pPr>
            <a:r>
              <a:rPr lang="en-IN" sz="2000" b="1" dirty="0"/>
              <a:t>These formats are useful for integration with CI/CD pipelines and test management systems. </a:t>
            </a:r>
          </a:p>
          <a:p>
            <a:pPr marL="342900" indent="-342900">
              <a:buFont typeface="Arial" panose="020B0604020202020204" pitchFamily="34" charset="0"/>
              <a:buChar char="•"/>
            </a:pPr>
            <a:endParaRPr lang="en-IN" sz="2000" b="1" dirty="0"/>
          </a:p>
          <a:p>
            <a:pPr marL="342900" indent="-342900">
              <a:buFont typeface="Arial" panose="020B0604020202020204" pitchFamily="34" charset="0"/>
              <a:buChar char="•"/>
            </a:pPr>
            <a:r>
              <a:rPr lang="en-IN" sz="2000" b="1" dirty="0"/>
              <a:t>You can specify the output format using the --output option when running tests:</a:t>
            </a:r>
          </a:p>
        </p:txBody>
      </p:sp>
    </p:spTree>
    <p:extLst>
      <p:ext uri="{BB962C8B-B14F-4D97-AF65-F5344CB8AC3E}">
        <p14:creationId xmlns:p14="http://schemas.microsoft.com/office/powerpoint/2010/main" val="1658938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74EF5E70-6103-6615-1780-FCCDF814AC64}"/>
              </a:ext>
            </a:extLst>
          </p:cNvPr>
          <p:cNvPicPr>
            <a:picLocks noChangeAspect="1"/>
          </p:cNvPicPr>
          <p:nvPr/>
        </p:nvPicPr>
        <p:blipFill>
          <a:blip r:embed="rId3"/>
          <a:stretch>
            <a:fillRect/>
          </a:stretch>
        </p:blipFill>
        <p:spPr>
          <a:xfrm>
            <a:off x="2604600" y="2262024"/>
            <a:ext cx="6982799" cy="2333951"/>
          </a:xfrm>
          <a:prstGeom prst="rect">
            <a:avLst/>
          </a:prstGeom>
        </p:spPr>
      </p:pic>
    </p:spTree>
    <p:extLst>
      <p:ext uri="{BB962C8B-B14F-4D97-AF65-F5344CB8AC3E}">
        <p14:creationId xmlns:p14="http://schemas.microsoft.com/office/powerpoint/2010/main" val="22676914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5" name="Picture 4">
            <a:extLst>
              <a:ext uri="{FF2B5EF4-FFF2-40B4-BE49-F238E27FC236}">
                <a16:creationId xmlns:a16="http://schemas.microsoft.com/office/drawing/2014/main" id="{E9BDAB2E-1E75-2C8E-9B07-4D9BE49A2924}"/>
              </a:ext>
            </a:extLst>
          </p:cNvPr>
          <p:cNvPicPr>
            <a:picLocks noChangeAspect="1"/>
          </p:cNvPicPr>
          <p:nvPr/>
        </p:nvPicPr>
        <p:blipFill>
          <a:blip r:embed="rId3"/>
          <a:stretch>
            <a:fillRect/>
          </a:stretch>
        </p:blipFill>
        <p:spPr>
          <a:xfrm>
            <a:off x="2571258" y="2052445"/>
            <a:ext cx="7049484" cy="2753109"/>
          </a:xfrm>
          <a:prstGeom prst="rect">
            <a:avLst/>
          </a:prstGeom>
        </p:spPr>
      </p:pic>
      <p:sp>
        <p:nvSpPr>
          <p:cNvPr id="7" name="TextBox 6">
            <a:extLst>
              <a:ext uri="{FF2B5EF4-FFF2-40B4-BE49-F238E27FC236}">
                <a16:creationId xmlns:a16="http://schemas.microsoft.com/office/drawing/2014/main" id="{815DF5F8-55DE-A053-21AF-DCD5A02EB092}"/>
              </a:ext>
            </a:extLst>
          </p:cNvPr>
          <p:cNvSpPr txBox="1"/>
          <p:nvPr/>
        </p:nvSpPr>
        <p:spPr>
          <a:xfrm>
            <a:off x="2177321" y="5455543"/>
            <a:ext cx="6093500" cy="646331"/>
          </a:xfrm>
          <a:prstGeom prst="rect">
            <a:avLst/>
          </a:prstGeom>
          <a:noFill/>
        </p:spPr>
        <p:txBody>
          <a:bodyPr wrap="square">
            <a:spAutoFit/>
          </a:bodyPr>
          <a:lstStyle/>
          <a:p>
            <a:r>
              <a:rPr lang="en-IN" dirty="0"/>
              <a:t>https://dev.to/juperala/how-to-run-robot-framework-test-from-command-line-5aa</a:t>
            </a:r>
          </a:p>
        </p:txBody>
      </p:sp>
    </p:spTree>
    <p:extLst>
      <p:ext uri="{BB962C8B-B14F-4D97-AF65-F5344CB8AC3E}">
        <p14:creationId xmlns:p14="http://schemas.microsoft.com/office/powerpoint/2010/main" val="835067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4C59249F-E1AF-B28A-13BB-8EA4B6A28FD8}"/>
              </a:ext>
            </a:extLst>
          </p:cNvPr>
          <p:cNvPicPr>
            <a:picLocks noChangeAspect="1"/>
          </p:cNvPicPr>
          <p:nvPr/>
        </p:nvPicPr>
        <p:blipFill>
          <a:blip r:embed="rId3"/>
          <a:stretch>
            <a:fillRect/>
          </a:stretch>
        </p:blipFill>
        <p:spPr>
          <a:xfrm>
            <a:off x="2853969" y="2100643"/>
            <a:ext cx="6963747" cy="3496163"/>
          </a:xfrm>
          <a:prstGeom prst="rect">
            <a:avLst/>
          </a:prstGeom>
        </p:spPr>
      </p:pic>
    </p:spTree>
    <p:extLst>
      <p:ext uri="{BB962C8B-B14F-4D97-AF65-F5344CB8AC3E}">
        <p14:creationId xmlns:p14="http://schemas.microsoft.com/office/powerpoint/2010/main" val="41313038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011936" y="0"/>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C4D3704E-9EDD-F83E-EDE4-D60A6D3F570B}"/>
              </a:ext>
            </a:extLst>
          </p:cNvPr>
          <p:cNvPicPr>
            <a:picLocks noChangeAspect="1"/>
          </p:cNvPicPr>
          <p:nvPr/>
        </p:nvPicPr>
        <p:blipFill>
          <a:blip r:embed="rId3"/>
          <a:stretch>
            <a:fillRect/>
          </a:stretch>
        </p:blipFill>
        <p:spPr>
          <a:xfrm>
            <a:off x="1511409" y="1179576"/>
            <a:ext cx="8951726" cy="5041342"/>
          </a:xfrm>
          <a:prstGeom prst="rect">
            <a:avLst/>
          </a:prstGeom>
        </p:spPr>
      </p:pic>
    </p:spTree>
    <p:extLst>
      <p:ext uri="{BB962C8B-B14F-4D97-AF65-F5344CB8AC3E}">
        <p14:creationId xmlns:p14="http://schemas.microsoft.com/office/powerpoint/2010/main" val="463812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650873" y="308797"/>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395898DE-BE66-2494-B968-0E52AC5286FC}"/>
              </a:ext>
            </a:extLst>
          </p:cNvPr>
          <p:cNvPicPr>
            <a:picLocks noChangeAspect="1"/>
          </p:cNvPicPr>
          <p:nvPr/>
        </p:nvPicPr>
        <p:blipFill>
          <a:blip r:embed="rId3"/>
          <a:stretch>
            <a:fillRect/>
          </a:stretch>
        </p:blipFill>
        <p:spPr>
          <a:xfrm>
            <a:off x="2373024" y="1728216"/>
            <a:ext cx="7116168" cy="4467849"/>
          </a:xfrm>
          <a:prstGeom prst="rect">
            <a:avLst/>
          </a:prstGeom>
        </p:spPr>
      </p:pic>
    </p:spTree>
    <p:extLst>
      <p:ext uri="{BB962C8B-B14F-4D97-AF65-F5344CB8AC3E}">
        <p14:creationId xmlns:p14="http://schemas.microsoft.com/office/powerpoint/2010/main" val="29307221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3C18D7B3-BB0D-45CA-0397-87A7F0D179CE}"/>
              </a:ext>
            </a:extLst>
          </p:cNvPr>
          <p:cNvPicPr>
            <a:picLocks noChangeAspect="1"/>
          </p:cNvPicPr>
          <p:nvPr/>
        </p:nvPicPr>
        <p:blipFill>
          <a:blip r:embed="rId3"/>
          <a:stretch>
            <a:fillRect/>
          </a:stretch>
        </p:blipFill>
        <p:spPr>
          <a:xfrm>
            <a:off x="2552205" y="2276314"/>
            <a:ext cx="7087589" cy="2305372"/>
          </a:xfrm>
          <a:prstGeom prst="rect">
            <a:avLst/>
          </a:prstGeom>
        </p:spPr>
      </p:pic>
    </p:spTree>
    <p:extLst>
      <p:ext uri="{BB962C8B-B14F-4D97-AF65-F5344CB8AC3E}">
        <p14:creationId xmlns:p14="http://schemas.microsoft.com/office/powerpoint/2010/main" val="934733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011936" y="223724"/>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BBCDFD41-E7F8-AEAD-5079-C8AD53913D12}"/>
              </a:ext>
            </a:extLst>
          </p:cNvPr>
          <p:cNvPicPr>
            <a:picLocks noChangeAspect="1"/>
          </p:cNvPicPr>
          <p:nvPr/>
        </p:nvPicPr>
        <p:blipFill>
          <a:blip r:embed="rId3"/>
          <a:stretch>
            <a:fillRect/>
          </a:stretch>
        </p:blipFill>
        <p:spPr>
          <a:xfrm>
            <a:off x="2176051" y="1578314"/>
            <a:ext cx="7030431" cy="4906060"/>
          </a:xfrm>
          <a:prstGeom prst="rect">
            <a:avLst/>
          </a:prstGeom>
        </p:spPr>
      </p:pic>
    </p:spTree>
    <p:extLst>
      <p:ext uri="{BB962C8B-B14F-4D97-AF65-F5344CB8AC3E}">
        <p14:creationId xmlns:p14="http://schemas.microsoft.com/office/powerpoint/2010/main" val="1070076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FF9D255F-0DD3-2B6B-B022-AEA36201D369}"/>
              </a:ext>
            </a:extLst>
          </p:cNvPr>
          <p:cNvPicPr>
            <a:picLocks noChangeAspect="1"/>
          </p:cNvPicPr>
          <p:nvPr/>
        </p:nvPicPr>
        <p:blipFill>
          <a:blip r:embed="rId3"/>
          <a:stretch>
            <a:fillRect/>
          </a:stretch>
        </p:blipFill>
        <p:spPr>
          <a:xfrm>
            <a:off x="2514100" y="1890498"/>
            <a:ext cx="7163800" cy="3077004"/>
          </a:xfrm>
          <a:prstGeom prst="rect">
            <a:avLst/>
          </a:prstGeom>
        </p:spPr>
      </p:pic>
    </p:spTree>
    <p:extLst>
      <p:ext uri="{BB962C8B-B14F-4D97-AF65-F5344CB8AC3E}">
        <p14:creationId xmlns:p14="http://schemas.microsoft.com/office/powerpoint/2010/main" val="184757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115568" y="548640"/>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3" name="Picture 2">
            <a:extLst>
              <a:ext uri="{FF2B5EF4-FFF2-40B4-BE49-F238E27FC236}">
                <a16:creationId xmlns:a16="http://schemas.microsoft.com/office/drawing/2014/main" id="{DDFDC2C0-A4B2-714E-CD1E-355EC7EAE003}"/>
              </a:ext>
            </a:extLst>
          </p:cNvPr>
          <p:cNvPicPr>
            <a:picLocks noChangeAspect="1"/>
          </p:cNvPicPr>
          <p:nvPr/>
        </p:nvPicPr>
        <p:blipFill>
          <a:blip r:embed="rId3"/>
          <a:stretch>
            <a:fillRect/>
          </a:stretch>
        </p:blipFill>
        <p:spPr>
          <a:xfrm>
            <a:off x="2652232" y="2252498"/>
            <a:ext cx="6887536" cy="2353003"/>
          </a:xfrm>
          <a:prstGeom prst="rect">
            <a:avLst/>
          </a:prstGeom>
        </p:spPr>
      </p:pic>
    </p:spTree>
    <p:extLst>
      <p:ext uri="{BB962C8B-B14F-4D97-AF65-F5344CB8AC3E}">
        <p14:creationId xmlns:p14="http://schemas.microsoft.com/office/powerpoint/2010/main" val="23880176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1011936" y="233847"/>
            <a:ext cx="10168128" cy="1179576"/>
          </a:xfrm>
        </p:spPr>
        <p:txBody>
          <a:bodyPr>
            <a:normAutofit/>
          </a:bodyPr>
          <a:lstStyle/>
          <a:p>
            <a:pPr algn="ctr"/>
            <a:r>
              <a:rPr lang="en-IN" sz="4000" b="1" dirty="0">
                <a:latin typeface="+mn-lt"/>
                <a:cs typeface="Times New Roman" panose="02020603050405020304" pitchFamily="18" charset="0"/>
              </a:rPr>
              <a:t>Command Line arguments</a:t>
            </a:r>
          </a:p>
        </p:txBody>
      </p:sp>
      <p:pic>
        <p:nvPicPr>
          <p:cNvPr id="5" name="Picture 4">
            <a:extLst>
              <a:ext uri="{FF2B5EF4-FFF2-40B4-BE49-F238E27FC236}">
                <a16:creationId xmlns:a16="http://schemas.microsoft.com/office/drawing/2014/main" id="{F516451C-07BF-0CDE-6309-C04B224DCC13}"/>
              </a:ext>
            </a:extLst>
          </p:cNvPr>
          <p:cNvPicPr>
            <a:picLocks noChangeAspect="1"/>
          </p:cNvPicPr>
          <p:nvPr/>
        </p:nvPicPr>
        <p:blipFill>
          <a:blip r:embed="rId3"/>
          <a:stretch>
            <a:fillRect/>
          </a:stretch>
        </p:blipFill>
        <p:spPr>
          <a:xfrm>
            <a:off x="2470247" y="1413423"/>
            <a:ext cx="6801799" cy="5182323"/>
          </a:xfrm>
          <a:prstGeom prst="rect">
            <a:avLst/>
          </a:prstGeom>
        </p:spPr>
      </p:pic>
    </p:spTree>
    <p:extLst>
      <p:ext uri="{BB962C8B-B14F-4D97-AF65-F5344CB8AC3E}">
        <p14:creationId xmlns:p14="http://schemas.microsoft.com/office/powerpoint/2010/main" val="778664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External libraries</a:t>
            </a:r>
          </a:p>
        </p:txBody>
      </p:sp>
      <p:sp>
        <p:nvSpPr>
          <p:cNvPr id="3" name="TextBox 2">
            <a:extLst>
              <a:ext uri="{FF2B5EF4-FFF2-40B4-BE49-F238E27FC236}">
                <a16:creationId xmlns:a16="http://schemas.microsoft.com/office/drawing/2014/main" id="{3B043022-50D0-52DE-E79D-A1B3C81E16BA}"/>
              </a:ext>
            </a:extLst>
          </p:cNvPr>
          <p:cNvSpPr txBox="1"/>
          <p:nvPr/>
        </p:nvSpPr>
        <p:spPr>
          <a:xfrm>
            <a:off x="1434059" y="1413423"/>
            <a:ext cx="9323882" cy="2862322"/>
          </a:xfrm>
          <a:prstGeom prst="rect">
            <a:avLst/>
          </a:prstGeom>
          <a:noFill/>
        </p:spPr>
        <p:txBody>
          <a:bodyPr wrap="square">
            <a:spAutoFit/>
          </a:bodyPr>
          <a:lstStyle/>
          <a:p>
            <a:pPr marL="285750" indent="-285750" algn="l">
              <a:buFont typeface="Arial" panose="020B0604020202020204" pitchFamily="34" charset="0"/>
              <a:buChar char="•"/>
            </a:pPr>
            <a:r>
              <a:rPr lang="en-US" b="1" i="0" dirty="0">
                <a:solidFill>
                  <a:srgbClr val="191B1D"/>
                </a:solidFill>
                <a:effectLst/>
                <a:highlight>
                  <a:srgbClr val="FFFFFF"/>
                </a:highlight>
              </a:rPr>
              <a:t>What Are External Libraries?</a:t>
            </a:r>
          </a:p>
          <a:p>
            <a:pPr marL="285750" indent="-285750" algn="l">
              <a:buFont typeface="Arial" panose="020B0604020202020204" pitchFamily="34" charset="0"/>
              <a:buChar char="•"/>
            </a:pPr>
            <a:endParaRPr lang="en-US" b="1" i="0" dirty="0">
              <a:solidFill>
                <a:srgbClr val="191B1D"/>
              </a:solidFill>
              <a:effectLst/>
              <a:highlight>
                <a:srgbClr val="FFFFFF"/>
              </a:highlight>
            </a:endParaRPr>
          </a:p>
          <a:p>
            <a:pPr marL="285750" indent="-285750" algn="l">
              <a:buFont typeface="Arial" panose="020B0604020202020204" pitchFamily="34" charset="0"/>
              <a:buChar char="•"/>
            </a:pPr>
            <a:r>
              <a:rPr lang="en-US" b="1" i="0" dirty="0">
                <a:solidFill>
                  <a:srgbClr val="191B1D"/>
                </a:solidFill>
                <a:effectLst/>
                <a:highlight>
                  <a:srgbClr val="FFFFFF"/>
                </a:highlight>
              </a:rPr>
              <a:t>External libraries in Robot Framework are Python-based modules or packages that extend the framework’s functionality beyond what’s available in its standard libraries.</a:t>
            </a:r>
          </a:p>
          <a:p>
            <a:pPr marL="285750" indent="-285750" algn="l">
              <a:buFont typeface="Arial" panose="020B0604020202020204" pitchFamily="34" charset="0"/>
              <a:buChar char="•"/>
            </a:pPr>
            <a:endParaRPr lang="en-US" b="1" dirty="0">
              <a:solidFill>
                <a:srgbClr val="191B1D"/>
              </a:solidFill>
              <a:highlight>
                <a:srgbClr val="FFFFFF"/>
              </a:highlight>
            </a:endParaRPr>
          </a:p>
          <a:p>
            <a:pPr marL="285750" indent="-285750" algn="l">
              <a:buFont typeface="Arial" panose="020B0604020202020204" pitchFamily="34" charset="0"/>
              <a:buChar char="•"/>
            </a:pPr>
            <a:r>
              <a:rPr lang="en-US" b="1" i="0" dirty="0">
                <a:solidFill>
                  <a:srgbClr val="191B1D"/>
                </a:solidFill>
                <a:effectLst/>
                <a:highlight>
                  <a:srgbClr val="FFFFFF"/>
                </a:highlight>
              </a:rPr>
              <a:t> These external libraries are developed by the community, organizations, or individuals and can address specific automation and testing needs. </a:t>
            </a:r>
          </a:p>
          <a:p>
            <a:pPr marL="285750" indent="-285750" algn="l">
              <a:buFont typeface="Arial" panose="020B0604020202020204" pitchFamily="34" charset="0"/>
              <a:buChar char="•"/>
            </a:pPr>
            <a:endParaRPr lang="en-US" b="1" dirty="0">
              <a:solidFill>
                <a:srgbClr val="191B1D"/>
              </a:solidFill>
              <a:highlight>
                <a:srgbClr val="FFFFFF"/>
              </a:highlight>
            </a:endParaRPr>
          </a:p>
          <a:p>
            <a:pPr marL="285750" indent="-285750" algn="l">
              <a:buFont typeface="Arial" panose="020B0604020202020204" pitchFamily="34" charset="0"/>
              <a:buChar char="•"/>
            </a:pPr>
            <a:r>
              <a:rPr lang="en-US" b="1" i="0" dirty="0">
                <a:solidFill>
                  <a:srgbClr val="191B1D"/>
                </a:solidFill>
                <a:effectLst/>
                <a:highlight>
                  <a:srgbClr val="FFFFFF"/>
                </a:highlight>
              </a:rPr>
              <a:t>They provide custom keywords, utility functions, and integrations that seamlessly integrate with Robot Framework.</a:t>
            </a:r>
          </a:p>
        </p:txBody>
      </p:sp>
    </p:spTree>
    <p:extLst>
      <p:ext uri="{BB962C8B-B14F-4D97-AF65-F5344CB8AC3E}">
        <p14:creationId xmlns:p14="http://schemas.microsoft.com/office/powerpoint/2010/main" val="2412501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External libraries</a:t>
            </a:r>
          </a:p>
        </p:txBody>
      </p:sp>
      <p:sp>
        <p:nvSpPr>
          <p:cNvPr id="5" name="TextBox 4">
            <a:extLst>
              <a:ext uri="{FF2B5EF4-FFF2-40B4-BE49-F238E27FC236}">
                <a16:creationId xmlns:a16="http://schemas.microsoft.com/office/drawing/2014/main" id="{8898BBED-E24F-94AF-F023-14FDAF6A4CA3}"/>
              </a:ext>
            </a:extLst>
          </p:cNvPr>
          <p:cNvSpPr txBox="1"/>
          <p:nvPr/>
        </p:nvSpPr>
        <p:spPr>
          <a:xfrm>
            <a:off x="1293526" y="1582340"/>
            <a:ext cx="9604948" cy="4247317"/>
          </a:xfrm>
          <a:prstGeom prst="rect">
            <a:avLst/>
          </a:prstGeom>
          <a:noFill/>
        </p:spPr>
        <p:txBody>
          <a:bodyPr wrap="square">
            <a:spAutoFit/>
          </a:bodyPr>
          <a:lstStyle/>
          <a:p>
            <a:pPr algn="l"/>
            <a:r>
              <a:rPr lang="en-US" b="1" i="0" dirty="0">
                <a:solidFill>
                  <a:srgbClr val="191B1D"/>
                </a:solidFill>
                <a:effectLst/>
                <a:highlight>
                  <a:srgbClr val="FFFFFF"/>
                </a:highlight>
              </a:rPr>
              <a:t>External libraries come in various types, each designed to fulfill specific automation and testing needs. Here are some common types of external libraries used in Robot Framework:</a:t>
            </a:r>
          </a:p>
          <a:p>
            <a:pPr algn="l"/>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Testing Libraries: These libraries provide functionality for specific types of testing, such as web testing (e.g., </a:t>
            </a:r>
            <a:r>
              <a:rPr lang="en-US" b="1" i="0" dirty="0" err="1">
                <a:solidFill>
                  <a:srgbClr val="191B1D"/>
                </a:solidFill>
                <a:effectLst/>
                <a:highlight>
                  <a:srgbClr val="FFFFFF"/>
                </a:highlight>
              </a:rPr>
              <a:t>SeleniumLibrary</a:t>
            </a:r>
            <a:r>
              <a:rPr lang="en-US" b="1" i="0" dirty="0">
                <a:solidFill>
                  <a:srgbClr val="191B1D"/>
                </a:solidFill>
                <a:effectLst/>
                <a:highlight>
                  <a:srgbClr val="FFFFFF"/>
                </a:highlight>
              </a:rPr>
              <a:t>), REST API testing (e.g., </a:t>
            </a:r>
            <a:r>
              <a:rPr lang="en-US" b="1" i="0" dirty="0" err="1">
                <a:solidFill>
                  <a:srgbClr val="191B1D"/>
                </a:solidFill>
                <a:effectLst/>
                <a:highlight>
                  <a:srgbClr val="FFFFFF"/>
                </a:highlight>
              </a:rPr>
              <a:t>RequestsLibrary</a:t>
            </a:r>
            <a:r>
              <a:rPr lang="en-US" b="1" i="0" dirty="0">
                <a:solidFill>
                  <a:srgbClr val="191B1D"/>
                </a:solidFill>
                <a:effectLst/>
                <a:highlight>
                  <a:srgbClr val="FFFFFF"/>
                </a:highlight>
              </a:rPr>
              <a:t>), or database testing (e.g., </a:t>
            </a:r>
            <a:r>
              <a:rPr lang="en-US" b="1" i="0" dirty="0" err="1">
                <a:solidFill>
                  <a:srgbClr val="191B1D"/>
                </a:solidFill>
                <a:effectLst/>
                <a:highlight>
                  <a:srgbClr val="FFFFFF"/>
                </a:highlight>
              </a:rPr>
              <a:t>DatabaseLibrary</a:t>
            </a:r>
            <a:r>
              <a:rPr lang="en-US" b="1" i="0" dirty="0">
                <a:solidFill>
                  <a:srgbClr val="191B1D"/>
                </a:solidFill>
                <a:effectLst/>
                <a:highlight>
                  <a:srgbClr val="FFFFFF"/>
                </a:highlight>
              </a:rPr>
              <a:t>).</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Custom Libraries: You can create custom external libraries to encapsulate project-specific functionality or interact with internal systems and tools.</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Utility Libraries: These libraries offer utility functions and keywords to simplify common automation tasks, such as working with files, dates, or strings.</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Reporting Libraries: Reporting libraries allow you to customize the format and content of your test reports and logs, tailoring them to your project’s specific needs.</a:t>
            </a:r>
          </a:p>
        </p:txBody>
      </p:sp>
    </p:spTree>
    <p:extLst>
      <p:ext uri="{BB962C8B-B14F-4D97-AF65-F5344CB8AC3E}">
        <p14:creationId xmlns:p14="http://schemas.microsoft.com/office/powerpoint/2010/main" val="35379082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External libraries</a:t>
            </a:r>
          </a:p>
        </p:txBody>
      </p:sp>
      <p:sp>
        <p:nvSpPr>
          <p:cNvPr id="5" name="TextBox 4">
            <a:extLst>
              <a:ext uri="{FF2B5EF4-FFF2-40B4-BE49-F238E27FC236}">
                <a16:creationId xmlns:a16="http://schemas.microsoft.com/office/drawing/2014/main" id="{8898BBED-E24F-94AF-F023-14FDAF6A4CA3}"/>
              </a:ext>
            </a:extLst>
          </p:cNvPr>
          <p:cNvSpPr txBox="1"/>
          <p:nvPr/>
        </p:nvSpPr>
        <p:spPr>
          <a:xfrm>
            <a:off x="1293526" y="1582340"/>
            <a:ext cx="9604948" cy="3416320"/>
          </a:xfrm>
          <a:prstGeom prst="rect">
            <a:avLst/>
          </a:prstGeom>
          <a:noFill/>
        </p:spPr>
        <p:txBody>
          <a:bodyPr wrap="square">
            <a:spAutoFit/>
          </a:bodyPr>
          <a:lstStyle/>
          <a:p>
            <a:pPr algn="l"/>
            <a:r>
              <a:rPr lang="en-US" b="1" i="0" dirty="0">
                <a:solidFill>
                  <a:srgbClr val="191B1D"/>
                </a:solidFill>
                <a:effectLst/>
                <a:highlight>
                  <a:srgbClr val="FFFFFF"/>
                </a:highlight>
              </a:rPr>
              <a:t>Integrating External Libraries</a:t>
            </a:r>
          </a:p>
          <a:p>
            <a:pPr algn="l"/>
            <a:r>
              <a:rPr lang="en-US" b="1" i="0" dirty="0">
                <a:solidFill>
                  <a:srgbClr val="191B1D"/>
                </a:solidFill>
                <a:effectLst/>
                <a:highlight>
                  <a:srgbClr val="FFFFFF"/>
                </a:highlight>
              </a:rPr>
              <a:t>Integrating external libraries into your Robot Framework test suites is a straightforward process. Here are the general steps to follow:</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1. Install the External Library</a:t>
            </a:r>
          </a:p>
          <a:p>
            <a:pPr algn="l"/>
            <a:r>
              <a:rPr lang="en-US" b="1" i="0" dirty="0">
                <a:solidFill>
                  <a:srgbClr val="191B1D"/>
                </a:solidFill>
                <a:effectLst/>
                <a:highlight>
                  <a:srgbClr val="FFFFFF"/>
                </a:highlight>
              </a:rPr>
              <a:t>Before using an external library, you need to install it. You can typically install external libraries using Python’s package manager, pip. For example:</a:t>
            </a:r>
          </a:p>
          <a:p>
            <a:pPr algn="l"/>
            <a:endParaRPr lang="en-US" b="1" dirty="0">
              <a:solidFill>
                <a:srgbClr val="191B1D"/>
              </a:solidFill>
              <a:highlight>
                <a:srgbClr val="FFFFFF"/>
              </a:highlight>
            </a:endParaRPr>
          </a:p>
          <a:p>
            <a:pPr algn="l"/>
            <a:endParaRPr lang="en-US" b="1" i="0" dirty="0">
              <a:solidFill>
                <a:srgbClr val="191B1D"/>
              </a:solidFill>
              <a:effectLst/>
              <a:highlight>
                <a:srgbClr val="FFFFFF"/>
              </a:highlight>
            </a:endParaRPr>
          </a:p>
          <a:p>
            <a:pPr algn="l"/>
            <a:endParaRPr lang="en-US" b="1" i="0" dirty="0">
              <a:solidFill>
                <a:srgbClr val="191B1D"/>
              </a:solidFill>
              <a:effectLst/>
              <a:highlight>
                <a:srgbClr val="FFFFFF"/>
              </a:highlight>
            </a:endParaRPr>
          </a:p>
          <a:p>
            <a:pPr algn="l"/>
            <a:endParaRPr lang="en-US" b="1" dirty="0">
              <a:solidFill>
                <a:srgbClr val="191B1D"/>
              </a:solidFill>
              <a:highlight>
                <a:srgbClr val="FFFFFF"/>
              </a:highlight>
            </a:endParaRPr>
          </a:p>
          <a:p>
            <a:pPr algn="l"/>
            <a:endParaRPr lang="en-US" b="1" i="0" dirty="0">
              <a:solidFill>
                <a:srgbClr val="191B1D"/>
              </a:solidFill>
              <a:effectLst/>
              <a:highlight>
                <a:srgbClr val="FFFFFF"/>
              </a:highlight>
            </a:endParaRPr>
          </a:p>
        </p:txBody>
      </p:sp>
      <p:pic>
        <p:nvPicPr>
          <p:cNvPr id="3" name="Picture 2">
            <a:extLst>
              <a:ext uri="{FF2B5EF4-FFF2-40B4-BE49-F238E27FC236}">
                <a16:creationId xmlns:a16="http://schemas.microsoft.com/office/drawing/2014/main" id="{9E77C8E5-17C8-2180-98AA-F7880FBAF63B}"/>
              </a:ext>
            </a:extLst>
          </p:cNvPr>
          <p:cNvPicPr>
            <a:picLocks noChangeAspect="1"/>
          </p:cNvPicPr>
          <p:nvPr/>
        </p:nvPicPr>
        <p:blipFill>
          <a:blip r:embed="rId3"/>
          <a:stretch>
            <a:fillRect/>
          </a:stretch>
        </p:blipFill>
        <p:spPr>
          <a:xfrm>
            <a:off x="1293526" y="3951500"/>
            <a:ext cx="7487695" cy="1324160"/>
          </a:xfrm>
          <a:prstGeom prst="rect">
            <a:avLst/>
          </a:prstGeom>
        </p:spPr>
      </p:pic>
    </p:spTree>
    <p:extLst>
      <p:ext uri="{BB962C8B-B14F-4D97-AF65-F5344CB8AC3E}">
        <p14:creationId xmlns:p14="http://schemas.microsoft.com/office/powerpoint/2010/main" val="2793057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1179576"/>
          </a:xfrm>
        </p:spPr>
        <p:txBody>
          <a:bodyPr>
            <a:normAutofit/>
          </a:bodyPr>
          <a:lstStyle/>
          <a:p>
            <a:pPr algn="ctr"/>
            <a:r>
              <a:rPr lang="en-IN" sz="4000" b="1" dirty="0">
                <a:latin typeface="+mn-lt"/>
                <a:cs typeface="Times New Roman" panose="02020603050405020304" pitchFamily="18" charset="0"/>
              </a:rPr>
              <a:t>External libraries</a:t>
            </a:r>
          </a:p>
        </p:txBody>
      </p:sp>
      <p:sp>
        <p:nvSpPr>
          <p:cNvPr id="5" name="TextBox 4">
            <a:extLst>
              <a:ext uri="{FF2B5EF4-FFF2-40B4-BE49-F238E27FC236}">
                <a16:creationId xmlns:a16="http://schemas.microsoft.com/office/drawing/2014/main" id="{8898BBED-E24F-94AF-F023-14FDAF6A4CA3}"/>
              </a:ext>
            </a:extLst>
          </p:cNvPr>
          <p:cNvSpPr txBox="1"/>
          <p:nvPr/>
        </p:nvSpPr>
        <p:spPr>
          <a:xfrm>
            <a:off x="1293526" y="1582340"/>
            <a:ext cx="9604948" cy="1754326"/>
          </a:xfrm>
          <a:prstGeom prst="rect">
            <a:avLst/>
          </a:prstGeom>
          <a:noFill/>
        </p:spPr>
        <p:txBody>
          <a:bodyPr wrap="square">
            <a:spAutoFit/>
          </a:bodyPr>
          <a:lstStyle/>
          <a:p>
            <a:pPr algn="l"/>
            <a:r>
              <a:rPr lang="en-US" b="1" dirty="0">
                <a:solidFill>
                  <a:srgbClr val="191B1D"/>
                </a:solidFill>
                <a:highlight>
                  <a:srgbClr val="FFFFFF"/>
                </a:highlight>
              </a:rPr>
              <a:t>2. Import the External Library</a:t>
            </a:r>
          </a:p>
          <a:p>
            <a:pPr algn="l"/>
            <a:endParaRPr lang="en-US" b="1" dirty="0">
              <a:solidFill>
                <a:srgbClr val="191B1D"/>
              </a:solidFill>
              <a:highlight>
                <a:srgbClr val="FFFFFF"/>
              </a:highlight>
            </a:endParaRPr>
          </a:p>
          <a:p>
            <a:pPr algn="l"/>
            <a:r>
              <a:rPr lang="en-US" b="1" dirty="0">
                <a:solidFill>
                  <a:srgbClr val="191B1D"/>
                </a:solidFill>
                <a:highlight>
                  <a:srgbClr val="FFFFFF"/>
                </a:highlight>
              </a:rPr>
              <a:t>In your Robot Framework test suite, you import the external library using the Library setting. Specify the name of the library or the path to the library file, depending on the library’s requirements.</a:t>
            </a:r>
          </a:p>
          <a:p>
            <a:pPr algn="l"/>
            <a:endParaRPr lang="en-US" b="1" i="0" dirty="0">
              <a:solidFill>
                <a:srgbClr val="191B1D"/>
              </a:solidFill>
              <a:effectLst/>
              <a:highlight>
                <a:srgbClr val="FFFFFF"/>
              </a:highlight>
            </a:endParaRPr>
          </a:p>
        </p:txBody>
      </p:sp>
      <p:pic>
        <p:nvPicPr>
          <p:cNvPr id="7" name="Picture 6">
            <a:extLst>
              <a:ext uri="{FF2B5EF4-FFF2-40B4-BE49-F238E27FC236}">
                <a16:creationId xmlns:a16="http://schemas.microsoft.com/office/drawing/2014/main" id="{181EDEF9-3E7C-25DF-F8F9-FBD0E0CFB2D8}"/>
              </a:ext>
            </a:extLst>
          </p:cNvPr>
          <p:cNvPicPr>
            <a:picLocks noChangeAspect="1"/>
          </p:cNvPicPr>
          <p:nvPr/>
        </p:nvPicPr>
        <p:blipFill>
          <a:blip r:embed="rId3"/>
          <a:stretch>
            <a:fillRect/>
          </a:stretch>
        </p:blipFill>
        <p:spPr>
          <a:xfrm>
            <a:off x="1115676" y="3521335"/>
            <a:ext cx="7802064" cy="1419423"/>
          </a:xfrm>
          <a:prstGeom prst="rect">
            <a:avLst/>
          </a:prstGeom>
        </p:spPr>
      </p:pic>
    </p:spTree>
    <p:extLst>
      <p:ext uri="{BB962C8B-B14F-4D97-AF65-F5344CB8AC3E}">
        <p14:creationId xmlns:p14="http://schemas.microsoft.com/office/powerpoint/2010/main" val="5823070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rmAutofit/>
          </a:bodyPr>
          <a:lstStyle/>
          <a:p>
            <a:pPr algn="ctr"/>
            <a:r>
              <a:rPr lang="en-IN" sz="4000" b="1" dirty="0">
                <a:latin typeface="+mn-lt"/>
                <a:cs typeface="Times New Roman" panose="02020603050405020304" pitchFamily="18" charset="0"/>
              </a:rPr>
              <a:t>External libraries</a:t>
            </a:r>
          </a:p>
        </p:txBody>
      </p:sp>
      <p:sp>
        <p:nvSpPr>
          <p:cNvPr id="5" name="TextBox 4">
            <a:extLst>
              <a:ext uri="{FF2B5EF4-FFF2-40B4-BE49-F238E27FC236}">
                <a16:creationId xmlns:a16="http://schemas.microsoft.com/office/drawing/2014/main" id="{8898BBED-E24F-94AF-F023-14FDAF6A4CA3}"/>
              </a:ext>
            </a:extLst>
          </p:cNvPr>
          <p:cNvSpPr txBox="1"/>
          <p:nvPr/>
        </p:nvSpPr>
        <p:spPr>
          <a:xfrm>
            <a:off x="1113644" y="1016024"/>
            <a:ext cx="9604948" cy="2308324"/>
          </a:xfrm>
          <a:prstGeom prst="rect">
            <a:avLst/>
          </a:prstGeom>
          <a:noFill/>
        </p:spPr>
        <p:txBody>
          <a:bodyPr wrap="square">
            <a:spAutoFit/>
          </a:bodyPr>
          <a:lstStyle/>
          <a:p>
            <a:pPr algn="l"/>
            <a:r>
              <a:rPr lang="en-US" b="1" i="0" dirty="0">
                <a:solidFill>
                  <a:srgbClr val="191B1D"/>
                </a:solidFill>
                <a:effectLst/>
                <a:highlight>
                  <a:srgbClr val="FFFFFF"/>
                </a:highlight>
              </a:rPr>
              <a:t>3. Use External Library Keywords</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Once the library is imported, you can use its keywords in your test cases just like built-in Robot Framework keywords.</a:t>
            </a:r>
          </a:p>
          <a:p>
            <a:pPr algn="l"/>
            <a:endParaRPr lang="en-US" b="1" i="0" dirty="0">
              <a:solidFill>
                <a:srgbClr val="191B1D"/>
              </a:solidFill>
              <a:effectLst/>
              <a:highlight>
                <a:srgbClr val="FFFFFF"/>
              </a:highlight>
            </a:endParaRPr>
          </a:p>
          <a:p>
            <a:pPr algn="l"/>
            <a:r>
              <a:rPr lang="en-US" b="1" i="0" dirty="0">
                <a:solidFill>
                  <a:srgbClr val="191B1D"/>
                </a:solidFill>
                <a:effectLst/>
                <a:highlight>
                  <a:srgbClr val="FFFFFF"/>
                </a:highlight>
              </a:rPr>
              <a:t> You can invoke custom keywords provided by the external library to perform specific actions or verifications in your automation tasks.</a:t>
            </a:r>
          </a:p>
          <a:p>
            <a:pPr algn="l"/>
            <a:endParaRPr lang="en-US" b="1" i="0" dirty="0">
              <a:solidFill>
                <a:srgbClr val="191B1D"/>
              </a:solidFill>
              <a:effectLst/>
              <a:highlight>
                <a:srgbClr val="FFFFFF"/>
              </a:highlight>
            </a:endParaRPr>
          </a:p>
        </p:txBody>
      </p:sp>
      <p:pic>
        <p:nvPicPr>
          <p:cNvPr id="3" name="Picture 2">
            <a:extLst>
              <a:ext uri="{FF2B5EF4-FFF2-40B4-BE49-F238E27FC236}">
                <a16:creationId xmlns:a16="http://schemas.microsoft.com/office/drawing/2014/main" id="{07CDB815-D72B-91BD-3954-3036A84EAB7D}"/>
              </a:ext>
            </a:extLst>
          </p:cNvPr>
          <p:cNvPicPr>
            <a:picLocks noChangeAspect="1"/>
          </p:cNvPicPr>
          <p:nvPr/>
        </p:nvPicPr>
        <p:blipFill>
          <a:blip r:embed="rId3"/>
          <a:stretch>
            <a:fillRect/>
          </a:stretch>
        </p:blipFill>
        <p:spPr>
          <a:xfrm>
            <a:off x="1113644" y="3324348"/>
            <a:ext cx="9706656" cy="3057952"/>
          </a:xfrm>
          <a:prstGeom prst="rect">
            <a:avLst/>
          </a:prstGeom>
        </p:spPr>
      </p:pic>
    </p:spTree>
    <p:extLst>
      <p:ext uri="{BB962C8B-B14F-4D97-AF65-F5344CB8AC3E}">
        <p14:creationId xmlns:p14="http://schemas.microsoft.com/office/powerpoint/2010/main" val="1812854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rmAutofit/>
          </a:bodyPr>
          <a:lstStyle/>
          <a:p>
            <a:pPr algn="ctr"/>
            <a:r>
              <a:rPr lang="en-IN" sz="4000" b="1" dirty="0">
                <a:latin typeface="+mn-lt"/>
                <a:cs typeface="Times New Roman" panose="02020603050405020304" pitchFamily="18" charset="0"/>
              </a:rPr>
              <a:t>Data Driven testing </a:t>
            </a:r>
          </a:p>
        </p:txBody>
      </p:sp>
      <p:sp>
        <p:nvSpPr>
          <p:cNvPr id="6" name="TextBox 5">
            <a:extLst>
              <a:ext uri="{FF2B5EF4-FFF2-40B4-BE49-F238E27FC236}">
                <a16:creationId xmlns:a16="http://schemas.microsoft.com/office/drawing/2014/main" id="{CD44D99C-07B8-9F57-D328-458EA19E3BDF}"/>
              </a:ext>
            </a:extLst>
          </p:cNvPr>
          <p:cNvSpPr txBox="1"/>
          <p:nvPr/>
        </p:nvSpPr>
        <p:spPr>
          <a:xfrm>
            <a:off x="2027419" y="1288277"/>
            <a:ext cx="6093500" cy="646331"/>
          </a:xfrm>
          <a:prstGeom prst="rect">
            <a:avLst/>
          </a:prstGeom>
          <a:noFill/>
        </p:spPr>
        <p:txBody>
          <a:bodyPr wrap="square">
            <a:spAutoFit/>
          </a:bodyPr>
          <a:lstStyle/>
          <a:p>
            <a:r>
              <a:rPr lang="en-IN" dirty="0"/>
              <a:t>https://docs.robotframework.org/docs/testcase_styles/datadriven</a:t>
            </a:r>
          </a:p>
        </p:txBody>
      </p:sp>
      <p:sp>
        <p:nvSpPr>
          <p:cNvPr id="8" name="TextBox 7">
            <a:extLst>
              <a:ext uri="{FF2B5EF4-FFF2-40B4-BE49-F238E27FC236}">
                <a16:creationId xmlns:a16="http://schemas.microsoft.com/office/drawing/2014/main" id="{F68BE414-885E-EB09-F8A5-62157D71F0B9}"/>
              </a:ext>
            </a:extLst>
          </p:cNvPr>
          <p:cNvSpPr txBox="1"/>
          <p:nvPr/>
        </p:nvSpPr>
        <p:spPr>
          <a:xfrm>
            <a:off x="1382842" y="2169747"/>
            <a:ext cx="9617340" cy="2031325"/>
          </a:xfrm>
          <a:prstGeom prst="rect">
            <a:avLst/>
          </a:prstGeom>
          <a:noFill/>
        </p:spPr>
        <p:txBody>
          <a:bodyPr wrap="square">
            <a:spAutoFit/>
          </a:bodyPr>
          <a:lstStyle/>
          <a:p>
            <a:pPr algn="l"/>
            <a:r>
              <a:rPr lang="en-US" b="1" i="0" dirty="0">
                <a:solidFill>
                  <a:srgbClr val="212529"/>
                </a:solidFill>
                <a:effectLst/>
                <a:highlight>
                  <a:srgbClr val="FFFFFF"/>
                </a:highlight>
              </a:rPr>
              <a:t>What is Data-Driven Testing?</a:t>
            </a:r>
          </a:p>
          <a:p>
            <a:pPr algn="l"/>
            <a:endParaRPr lang="en-US" b="1" i="0" dirty="0">
              <a:solidFill>
                <a:srgbClr val="212529"/>
              </a:solidFill>
              <a:effectLst/>
              <a:highlight>
                <a:srgbClr val="FFFFFF"/>
              </a:highlight>
            </a:endParaRPr>
          </a:p>
          <a:p>
            <a:pPr algn="l"/>
            <a:r>
              <a:rPr lang="en-US" b="1" i="0" dirty="0">
                <a:solidFill>
                  <a:srgbClr val="212529"/>
                </a:solidFill>
                <a:effectLst/>
                <a:highlight>
                  <a:srgbClr val="FFFFFF"/>
                </a:highlight>
              </a:rPr>
              <a:t>Data-Driven Testing is a test design and execution method where the test scripts read data from sources such as XLS, XML, and CSV files rather than utilizing hard-coded values. </a:t>
            </a:r>
          </a:p>
          <a:p>
            <a:pPr algn="l"/>
            <a:endParaRPr lang="en-US" b="1" dirty="0">
              <a:solidFill>
                <a:srgbClr val="212529"/>
              </a:solidFill>
              <a:highlight>
                <a:srgbClr val="FFFFFF"/>
              </a:highlight>
            </a:endParaRPr>
          </a:p>
          <a:p>
            <a:pPr algn="l"/>
            <a:r>
              <a:rPr lang="en-US" b="1" i="0" dirty="0">
                <a:solidFill>
                  <a:srgbClr val="212529"/>
                </a:solidFill>
                <a:effectLst/>
                <a:highlight>
                  <a:srgbClr val="FFFFFF"/>
                </a:highlight>
              </a:rPr>
              <a:t>This strategy allows the automation engineers to implement a single test script that can execute tests for all the test data in the table.</a:t>
            </a:r>
          </a:p>
        </p:txBody>
      </p:sp>
    </p:spTree>
    <p:extLst>
      <p:ext uri="{BB962C8B-B14F-4D97-AF65-F5344CB8AC3E}">
        <p14:creationId xmlns:p14="http://schemas.microsoft.com/office/powerpoint/2010/main" val="13875675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rmAutofit/>
          </a:bodyPr>
          <a:lstStyle/>
          <a:p>
            <a:pPr algn="ctr"/>
            <a:r>
              <a:rPr lang="en-IN" sz="4000" b="1" dirty="0">
                <a:latin typeface="+mn-lt"/>
                <a:cs typeface="Times New Roman" panose="02020603050405020304" pitchFamily="18" charset="0"/>
              </a:rPr>
              <a:t>Data Driven testing </a:t>
            </a:r>
          </a:p>
        </p:txBody>
      </p:sp>
      <p:sp>
        <p:nvSpPr>
          <p:cNvPr id="3" name="TextBox 2">
            <a:extLst>
              <a:ext uri="{FF2B5EF4-FFF2-40B4-BE49-F238E27FC236}">
                <a16:creationId xmlns:a16="http://schemas.microsoft.com/office/drawing/2014/main" id="{93424864-C267-92C9-6A85-6DFE120AE0BA}"/>
              </a:ext>
            </a:extLst>
          </p:cNvPr>
          <p:cNvSpPr txBox="1"/>
          <p:nvPr/>
        </p:nvSpPr>
        <p:spPr>
          <a:xfrm>
            <a:off x="1487774" y="1320172"/>
            <a:ext cx="9512408" cy="3970318"/>
          </a:xfrm>
          <a:prstGeom prst="rect">
            <a:avLst/>
          </a:prstGeom>
          <a:noFill/>
        </p:spPr>
        <p:txBody>
          <a:bodyPr wrap="square">
            <a:spAutoFit/>
          </a:bodyPr>
          <a:lstStyle/>
          <a:p>
            <a:endParaRPr lang="en-IN" b="1" dirty="0"/>
          </a:p>
          <a:p>
            <a:r>
              <a:rPr lang="en-IN" b="1" dirty="0"/>
              <a:t>Test Cases can be written in a data-driven style where test cases use only one higher-level keyword, that hides the actual test workflow.</a:t>
            </a:r>
          </a:p>
          <a:p>
            <a:endParaRPr lang="en-IN" b="1" dirty="0"/>
          </a:p>
          <a:p>
            <a:r>
              <a:rPr lang="en-IN" b="1" dirty="0"/>
              <a:t> These tests are very useful when there is a need to test the same scenario with different input and/or output data.</a:t>
            </a:r>
          </a:p>
          <a:p>
            <a:endParaRPr lang="en-IN" b="1" dirty="0"/>
          </a:p>
          <a:p>
            <a:r>
              <a:rPr lang="en-IN" b="1" dirty="0"/>
              <a:t>The Test Template setting defines the Keyword which is executed for every test case.</a:t>
            </a:r>
          </a:p>
          <a:p>
            <a:endParaRPr lang="en-IN" b="1" dirty="0"/>
          </a:p>
          <a:p>
            <a:r>
              <a:rPr lang="en-IN" b="1" dirty="0"/>
              <a:t>The Test Cases section just contains</a:t>
            </a:r>
          </a:p>
          <a:p>
            <a:endParaRPr lang="en-IN" b="1" dirty="0"/>
          </a:p>
          <a:p>
            <a:r>
              <a:rPr lang="en-IN" b="1" dirty="0"/>
              <a:t>the Test Case Name</a:t>
            </a:r>
          </a:p>
          <a:p>
            <a:r>
              <a:rPr lang="en-IN" b="1" dirty="0"/>
              <a:t>the arguments for the Keyword defined in the Test Template setting</a:t>
            </a:r>
          </a:p>
          <a:p>
            <a:endParaRPr lang="en-IN" b="1" dirty="0"/>
          </a:p>
        </p:txBody>
      </p:sp>
    </p:spTree>
    <p:extLst>
      <p:ext uri="{BB962C8B-B14F-4D97-AF65-F5344CB8AC3E}">
        <p14:creationId xmlns:p14="http://schemas.microsoft.com/office/powerpoint/2010/main" val="11851099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rmAutofit/>
          </a:bodyPr>
          <a:lstStyle/>
          <a:p>
            <a:pPr algn="ctr"/>
            <a:r>
              <a:rPr lang="en-IN" sz="4000" b="1" dirty="0">
                <a:latin typeface="+mn-lt"/>
                <a:cs typeface="Times New Roman" panose="02020603050405020304" pitchFamily="18" charset="0"/>
              </a:rPr>
              <a:t>Data Driven testing </a:t>
            </a:r>
          </a:p>
        </p:txBody>
      </p:sp>
      <p:pic>
        <p:nvPicPr>
          <p:cNvPr id="5" name="Picture 4">
            <a:extLst>
              <a:ext uri="{FF2B5EF4-FFF2-40B4-BE49-F238E27FC236}">
                <a16:creationId xmlns:a16="http://schemas.microsoft.com/office/drawing/2014/main" id="{447105E8-592B-B17C-C21D-04EA2019948E}"/>
              </a:ext>
            </a:extLst>
          </p:cNvPr>
          <p:cNvPicPr>
            <a:picLocks noChangeAspect="1"/>
          </p:cNvPicPr>
          <p:nvPr/>
        </p:nvPicPr>
        <p:blipFill>
          <a:blip r:embed="rId3"/>
          <a:stretch>
            <a:fillRect/>
          </a:stretch>
        </p:blipFill>
        <p:spPr>
          <a:xfrm>
            <a:off x="2020684" y="1689504"/>
            <a:ext cx="8367500" cy="4156660"/>
          </a:xfrm>
          <a:prstGeom prst="rect">
            <a:avLst/>
          </a:prstGeom>
        </p:spPr>
      </p:pic>
    </p:spTree>
    <p:extLst>
      <p:ext uri="{BB962C8B-B14F-4D97-AF65-F5344CB8AC3E}">
        <p14:creationId xmlns:p14="http://schemas.microsoft.com/office/powerpoint/2010/main" val="4111932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rmAutofit/>
          </a:bodyPr>
          <a:lstStyle/>
          <a:p>
            <a:pPr algn="ctr"/>
            <a:r>
              <a:rPr lang="en-IN" sz="4000" b="1" dirty="0">
                <a:latin typeface="+mn-lt"/>
                <a:cs typeface="Times New Roman" panose="02020603050405020304" pitchFamily="18" charset="0"/>
              </a:rPr>
              <a:t>Data Driven testing </a:t>
            </a:r>
          </a:p>
        </p:txBody>
      </p:sp>
      <p:sp>
        <p:nvSpPr>
          <p:cNvPr id="6" name="TextBox 5">
            <a:extLst>
              <a:ext uri="{FF2B5EF4-FFF2-40B4-BE49-F238E27FC236}">
                <a16:creationId xmlns:a16="http://schemas.microsoft.com/office/drawing/2014/main" id="{0682EC6F-FAD0-C082-43E4-D98C49929F32}"/>
              </a:ext>
            </a:extLst>
          </p:cNvPr>
          <p:cNvSpPr txBox="1"/>
          <p:nvPr/>
        </p:nvSpPr>
        <p:spPr>
          <a:xfrm>
            <a:off x="1247931" y="1503004"/>
            <a:ext cx="10168128" cy="3139321"/>
          </a:xfrm>
          <a:prstGeom prst="rect">
            <a:avLst/>
          </a:prstGeom>
          <a:noFill/>
        </p:spPr>
        <p:txBody>
          <a:bodyPr wrap="square">
            <a:spAutoFit/>
          </a:bodyPr>
          <a:lstStyle/>
          <a:p>
            <a:r>
              <a:rPr lang="en-IN" b="1" dirty="0"/>
              <a:t>Using </a:t>
            </a:r>
            <a:r>
              <a:rPr lang="en-IN" b="1" dirty="0" err="1"/>
              <a:t>DataDriver</a:t>
            </a:r>
            <a:r>
              <a:rPr lang="en-IN" b="1" dirty="0"/>
              <a:t> Library</a:t>
            </a:r>
          </a:p>
          <a:p>
            <a:endParaRPr lang="en-IN" b="1" dirty="0"/>
          </a:p>
          <a:p>
            <a:r>
              <a:rPr lang="en-IN" b="1" dirty="0"/>
              <a:t>The </a:t>
            </a:r>
            <a:r>
              <a:rPr lang="en-IN" b="1" dirty="0" err="1"/>
              <a:t>DataDriver</a:t>
            </a:r>
            <a:r>
              <a:rPr lang="en-IN" b="1" dirty="0"/>
              <a:t> library is an extension for Robot Framework®.</a:t>
            </a:r>
          </a:p>
          <a:p>
            <a:endParaRPr lang="en-IN" b="1" dirty="0"/>
          </a:p>
          <a:p>
            <a:r>
              <a:rPr lang="en-IN" b="1" dirty="0" err="1"/>
              <a:t>DataDriver</a:t>
            </a:r>
            <a:r>
              <a:rPr lang="en-IN" b="1" dirty="0"/>
              <a:t> creates new test cases based on a Data-File that contains the data for Data-Driven Testing. These data file may be .csv , .</a:t>
            </a:r>
            <a:r>
              <a:rPr lang="en-IN" b="1" dirty="0" err="1"/>
              <a:t>xls</a:t>
            </a:r>
            <a:r>
              <a:rPr lang="en-IN" b="1" dirty="0"/>
              <a:t> or .xlsx files.</a:t>
            </a:r>
          </a:p>
          <a:p>
            <a:endParaRPr lang="en-IN" b="1" dirty="0"/>
          </a:p>
          <a:p>
            <a:r>
              <a:rPr lang="en-IN" b="1" dirty="0"/>
              <a:t>The </a:t>
            </a:r>
            <a:r>
              <a:rPr lang="en-IN" b="1" dirty="0" err="1"/>
              <a:t>DataDriver</a:t>
            </a:r>
            <a:r>
              <a:rPr lang="en-IN" b="1" dirty="0"/>
              <a:t> library is not included in the Robot Framework distribution, but it can be installed using pip.</a:t>
            </a:r>
          </a:p>
          <a:p>
            <a:endParaRPr lang="en-IN" b="1" dirty="0"/>
          </a:p>
          <a:p>
            <a:r>
              <a:rPr lang="en-IN" b="1" dirty="0"/>
              <a:t>pip install </a:t>
            </a:r>
            <a:r>
              <a:rPr lang="en-IN" b="1" dirty="0" err="1"/>
              <a:t>robotframework-datadriver</a:t>
            </a:r>
            <a:endParaRPr lang="en-IN" b="1" dirty="0"/>
          </a:p>
        </p:txBody>
      </p:sp>
    </p:spTree>
    <p:extLst>
      <p:ext uri="{BB962C8B-B14F-4D97-AF65-F5344CB8AC3E}">
        <p14:creationId xmlns:p14="http://schemas.microsoft.com/office/powerpoint/2010/main" val="1051010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rmAutofit/>
          </a:bodyPr>
          <a:lstStyle/>
          <a:p>
            <a:pPr algn="ctr"/>
            <a:r>
              <a:rPr lang="en-IN" sz="4000" b="1" dirty="0">
                <a:latin typeface="+mn-lt"/>
                <a:cs typeface="Times New Roman" panose="02020603050405020304" pitchFamily="18" charset="0"/>
              </a:rPr>
              <a:t>Data Driven testing </a:t>
            </a:r>
          </a:p>
        </p:txBody>
      </p:sp>
      <p:pic>
        <p:nvPicPr>
          <p:cNvPr id="3" name="Picture 2">
            <a:extLst>
              <a:ext uri="{FF2B5EF4-FFF2-40B4-BE49-F238E27FC236}">
                <a16:creationId xmlns:a16="http://schemas.microsoft.com/office/drawing/2014/main" id="{4779385C-20E4-3CCC-8E64-86ADE755CE6D}"/>
              </a:ext>
            </a:extLst>
          </p:cNvPr>
          <p:cNvPicPr>
            <a:picLocks noChangeAspect="1"/>
          </p:cNvPicPr>
          <p:nvPr/>
        </p:nvPicPr>
        <p:blipFill>
          <a:blip r:embed="rId3"/>
          <a:stretch>
            <a:fillRect/>
          </a:stretch>
        </p:blipFill>
        <p:spPr>
          <a:xfrm>
            <a:off x="1723869" y="1833340"/>
            <a:ext cx="8829205" cy="4192706"/>
          </a:xfrm>
          <a:prstGeom prst="rect">
            <a:avLst/>
          </a:prstGeom>
        </p:spPr>
      </p:pic>
    </p:spTree>
    <p:extLst>
      <p:ext uri="{BB962C8B-B14F-4D97-AF65-F5344CB8AC3E}">
        <p14:creationId xmlns:p14="http://schemas.microsoft.com/office/powerpoint/2010/main" val="4072675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rmAutofit/>
          </a:bodyPr>
          <a:lstStyle/>
          <a:p>
            <a:pPr algn="ctr"/>
            <a:r>
              <a:rPr lang="en-IN" sz="3600" b="1" i="0" u="none" strike="noStrike" dirty="0">
                <a:solidFill>
                  <a:srgbClr val="000000"/>
                </a:solidFill>
                <a:effectLst/>
                <a:latin typeface="+mn-lt"/>
              </a:rPr>
              <a:t>Web Testing with </a:t>
            </a:r>
            <a:r>
              <a:rPr lang="en-IN" sz="3600" b="1" i="0" u="none" strike="noStrike" dirty="0" err="1">
                <a:solidFill>
                  <a:srgbClr val="000000"/>
                </a:solidFill>
                <a:effectLst/>
                <a:latin typeface="+mn-lt"/>
              </a:rPr>
              <a:t>SeleniumLibrary</a:t>
            </a:r>
            <a:r>
              <a:rPr lang="en-IN" sz="3600" dirty="0">
                <a:latin typeface="+mn-lt"/>
              </a:rPr>
              <a:t> </a:t>
            </a:r>
            <a:endParaRPr lang="en-IN" sz="3600" b="1" dirty="0">
              <a:latin typeface="+mn-lt"/>
              <a:cs typeface="Times New Roman" panose="02020603050405020304" pitchFamily="18" charset="0"/>
            </a:endParaRPr>
          </a:p>
        </p:txBody>
      </p:sp>
      <p:sp>
        <p:nvSpPr>
          <p:cNvPr id="3" name="TextBox 2">
            <a:extLst>
              <a:ext uri="{FF2B5EF4-FFF2-40B4-BE49-F238E27FC236}">
                <a16:creationId xmlns:a16="http://schemas.microsoft.com/office/drawing/2014/main" id="{7CDD0A8E-2A1F-9FED-7C06-8AC727281FEA}"/>
              </a:ext>
            </a:extLst>
          </p:cNvPr>
          <p:cNvSpPr txBox="1"/>
          <p:nvPr/>
        </p:nvSpPr>
        <p:spPr>
          <a:xfrm>
            <a:off x="1292902" y="1443841"/>
            <a:ext cx="10168128" cy="3139321"/>
          </a:xfrm>
          <a:prstGeom prst="rect">
            <a:avLst/>
          </a:prstGeom>
          <a:noFill/>
        </p:spPr>
        <p:txBody>
          <a:bodyPr wrap="square">
            <a:spAutoFit/>
          </a:bodyPr>
          <a:lstStyle/>
          <a:p>
            <a:endParaRPr lang="en-IN" b="1" dirty="0"/>
          </a:p>
          <a:p>
            <a:r>
              <a:rPr lang="en-IN" b="1" dirty="0" err="1"/>
              <a:t>SeleniumLibrary</a:t>
            </a:r>
            <a:r>
              <a:rPr lang="en-IN" b="1" dirty="0"/>
              <a:t> is a web testing library for Robot Framework that utilizes the Selenium tool internally. The project is hosted on GitHub and downloads can be found from </a:t>
            </a:r>
            <a:r>
              <a:rPr lang="en-IN" b="1" dirty="0" err="1"/>
              <a:t>PyPI</a:t>
            </a:r>
            <a:r>
              <a:rPr lang="en-IN" b="1" dirty="0"/>
              <a:t>.</a:t>
            </a:r>
          </a:p>
          <a:p>
            <a:endParaRPr lang="en-IN" b="1" dirty="0"/>
          </a:p>
          <a:p>
            <a:r>
              <a:rPr lang="en-IN" b="1" dirty="0"/>
              <a:t>See Keyword Documentation for available keywords and more information about the library in general.</a:t>
            </a:r>
          </a:p>
          <a:p>
            <a:endParaRPr lang="en-IN" b="1" dirty="0"/>
          </a:p>
          <a:p>
            <a:r>
              <a:rPr lang="en-IN" b="1" dirty="0"/>
              <a:t>Installation instructions</a:t>
            </a:r>
          </a:p>
          <a:p>
            <a:r>
              <a:rPr lang="en-IN" b="1" dirty="0"/>
              <a:t>pip install --upgrade </a:t>
            </a:r>
            <a:r>
              <a:rPr lang="en-IN" b="1" dirty="0" err="1"/>
              <a:t>robotframework-seleniumlibrary</a:t>
            </a:r>
            <a:endParaRPr lang="en-IN" b="1" dirty="0"/>
          </a:p>
          <a:p>
            <a:endParaRPr lang="en-IN" b="1" dirty="0"/>
          </a:p>
          <a:p>
            <a:r>
              <a:rPr lang="en-IN" b="1" dirty="0"/>
              <a:t>Afterwards you can import the library into your test case or resource file.</a:t>
            </a:r>
          </a:p>
        </p:txBody>
      </p:sp>
    </p:spTree>
    <p:extLst>
      <p:ext uri="{BB962C8B-B14F-4D97-AF65-F5344CB8AC3E}">
        <p14:creationId xmlns:p14="http://schemas.microsoft.com/office/powerpoint/2010/main" val="23240328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7FB4EF-3108-7ED1-6D5D-2851BA46BFCE}"/>
              </a:ext>
            </a:extLst>
          </p:cNvPr>
          <p:cNvSpPr>
            <a:spLocks noGrp="1"/>
          </p:cNvSpPr>
          <p:nvPr>
            <p:ph type="title"/>
          </p:nvPr>
        </p:nvSpPr>
        <p:spPr>
          <a:xfrm>
            <a:off x="832054" y="233847"/>
            <a:ext cx="10168128" cy="710533"/>
          </a:xfrm>
        </p:spPr>
        <p:txBody>
          <a:bodyPr>
            <a:noAutofit/>
          </a:bodyPr>
          <a:lstStyle/>
          <a:p>
            <a:pPr algn="l"/>
            <a:r>
              <a:rPr lang="en-US" sz="3600" b="1" i="0" dirty="0">
                <a:solidFill>
                  <a:srgbClr val="191B1D"/>
                </a:solidFill>
                <a:effectLst/>
                <a:highlight>
                  <a:srgbClr val="FFFFFF"/>
                </a:highlight>
                <a:latin typeface="var(--font-head)"/>
              </a:rPr>
              <a:t>Benefits of </a:t>
            </a:r>
            <a:r>
              <a:rPr lang="en-US" sz="3600" b="1" i="0" dirty="0" err="1">
                <a:solidFill>
                  <a:srgbClr val="191B1D"/>
                </a:solidFill>
                <a:effectLst/>
                <a:highlight>
                  <a:srgbClr val="FFFFFF"/>
                </a:highlight>
                <a:latin typeface="var(--font-head)"/>
              </a:rPr>
              <a:t>SeleniumLibrary</a:t>
            </a:r>
            <a:r>
              <a:rPr lang="en-US" sz="3600" b="1" i="0" dirty="0">
                <a:solidFill>
                  <a:srgbClr val="191B1D"/>
                </a:solidFill>
                <a:effectLst/>
                <a:highlight>
                  <a:srgbClr val="FFFFFF"/>
                </a:highlight>
                <a:latin typeface="var(--font-head)"/>
              </a:rPr>
              <a:t> in Robot Framework</a:t>
            </a:r>
          </a:p>
        </p:txBody>
      </p:sp>
      <p:sp>
        <p:nvSpPr>
          <p:cNvPr id="5" name="TextBox 4">
            <a:extLst>
              <a:ext uri="{FF2B5EF4-FFF2-40B4-BE49-F238E27FC236}">
                <a16:creationId xmlns:a16="http://schemas.microsoft.com/office/drawing/2014/main" id="{A1D69E2F-005E-0A87-0CFC-6DD1121977C7}"/>
              </a:ext>
            </a:extLst>
          </p:cNvPr>
          <p:cNvSpPr txBox="1"/>
          <p:nvPr/>
        </p:nvSpPr>
        <p:spPr>
          <a:xfrm>
            <a:off x="513414" y="1261666"/>
            <a:ext cx="10774180" cy="4801314"/>
          </a:xfrm>
          <a:prstGeom prst="rect">
            <a:avLst/>
          </a:prstGeom>
          <a:noFill/>
        </p:spPr>
        <p:txBody>
          <a:bodyPr wrap="square">
            <a:spAutoFit/>
          </a:bodyPr>
          <a:lstStyle/>
          <a:p>
            <a:pPr algn="l">
              <a:buFont typeface="+mj-lt"/>
              <a:buAutoNum type="arabicPeriod"/>
            </a:pPr>
            <a:r>
              <a:rPr lang="en-US" b="1" i="0" dirty="0">
                <a:solidFill>
                  <a:srgbClr val="191B1D"/>
                </a:solidFill>
                <a:effectLst/>
                <a:highlight>
                  <a:srgbClr val="FFFFFF"/>
                </a:highlight>
              </a:rPr>
              <a:t>Cross-Browser Compatibility: </a:t>
            </a:r>
            <a:r>
              <a:rPr lang="en-US" b="1" i="0" dirty="0" err="1">
                <a:solidFill>
                  <a:srgbClr val="191B1D"/>
                </a:solidFill>
                <a:effectLst/>
                <a:highlight>
                  <a:srgbClr val="FFFFFF"/>
                </a:highlight>
              </a:rPr>
              <a:t>SeleniumLibrary</a:t>
            </a:r>
            <a:r>
              <a:rPr lang="en-US" b="1" i="0" dirty="0">
                <a:solidFill>
                  <a:srgbClr val="191B1D"/>
                </a:solidFill>
                <a:effectLst/>
                <a:highlight>
                  <a:srgbClr val="FFFFFF"/>
                </a:highlight>
              </a:rPr>
              <a:t> supports multiple web browsers, allowing you to test web applications across different browser types.</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Extensive Documentation: </a:t>
            </a:r>
            <a:r>
              <a:rPr lang="en-US" b="1" i="0" dirty="0" err="1">
                <a:solidFill>
                  <a:srgbClr val="191B1D"/>
                </a:solidFill>
                <a:effectLst/>
                <a:highlight>
                  <a:srgbClr val="FFFFFF"/>
                </a:highlight>
              </a:rPr>
              <a:t>SeleniumLibrary</a:t>
            </a:r>
            <a:r>
              <a:rPr lang="en-US" b="1" i="0" dirty="0">
                <a:solidFill>
                  <a:srgbClr val="191B1D"/>
                </a:solidFill>
                <a:effectLst/>
                <a:highlight>
                  <a:srgbClr val="FFFFFF"/>
                </a:highlight>
              </a:rPr>
              <a:t> provides comprehensive documentation and examples, making it accessible for both beginners and experienced testers.</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Community Support: Selenium has a large and active community, which means you can find support, tutorials, and plugins to extend its functionality.</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Integration with Other Libraries: </a:t>
            </a:r>
            <a:r>
              <a:rPr lang="en-US" b="1" i="0" dirty="0" err="1">
                <a:solidFill>
                  <a:srgbClr val="191B1D"/>
                </a:solidFill>
                <a:effectLst/>
                <a:highlight>
                  <a:srgbClr val="FFFFFF"/>
                </a:highlight>
              </a:rPr>
              <a:t>SeleniumLibrary</a:t>
            </a:r>
            <a:r>
              <a:rPr lang="en-US" b="1" i="0" dirty="0">
                <a:solidFill>
                  <a:srgbClr val="191B1D"/>
                </a:solidFill>
                <a:effectLst/>
                <a:highlight>
                  <a:srgbClr val="FFFFFF"/>
                </a:highlight>
              </a:rPr>
              <a:t> can be integrated with other Robot Framework libraries for broader testing capabilities, such as database testing or REST API testing.</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Parallel Testing: </a:t>
            </a:r>
            <a:r>
              <a:rPr lang="en-US" b="1" i="0" dirty="0" err="1">
                <a:solidFill>
                  <a:srgbClr val="191B1D"/>
                </a:solidFill>
                <a:effectLst/>
                <a:highlight>
                  <a:srgbClr val="FFFFFF"/>
                </a:highlight>
              </a:rPr>
              <a:t>SeleniumLibrary</a:t>
            </a:r>
            <a:r>
              <a:rPr lang="en-US" b="1" i="0" dirty="0">
                <a:solidFill>
                  <a:srgbClr val="191B1D"/>
                </a:solidFill>
                <a:effectLst/>
                <a:highlight>
                  <a:srgbClr val="FFFFFF"/>
                </a:highlight>
              </a:rPr>
              <a:t> supports parallel test execution, which can significantly reduce test execution time for large test suites.</a:t>
            </a:r>
          </a:p>
          <a:p>
            <a:pPr algn="l">
              <a:buFont typeface="+mj-lt"/>
              <a:buAutoNum type="arabicPeriod"/>
            </a:pPr>
            <a:endParaRPr lang="en-US" b="1" i="0" dirty="0">
              <a:solidFill>
                <a:srgbClr val="191B1D"/>
              </a:solidFill>
              <a:effectLst/>
              <a:highlight>
                <a:srgbClr val="FFFFFF"/>
              </a:highlight>
            </a:endParaRPr>
          </a:p>
          <a:p>
            <a:pPr algn="l">
              <a:buFont typeface="+mj-lt"/>
              <a:buAutoNum type="arabicPeriod"/>
            </a:pPr>
            <a:r>
              <a:rPr lang="en-US" b="1" i="0" dirty="0">
                <a:solidFill>
                  <a:srgbClr val="191B1D"/>
                </a:solidFill>
                <a:effectLst/>
                <a:highlight>
                  <a:srgbClr val="FFFFFF"/>
                </a:highlight>
              </a:rPr>
              <a:t>Robust Reporting: Robot Framework’s reporting capabilities, combined with </a:t>
            </a:r>
            <a:r>
              <a:rPr lang="en-US" b="1" i="0" dirty="0" err="1">
                <a:solidFill>
                  <a:srgbClr val="191B1D"/>
                </a:solidFill>
                <a:effectLst/>
                <a:highlight>
                  <a:srgbClr val="FFFFFF"/>
                </a:highlight>
              </a:rPr>
              <a:t>SeleniumLibrary</a:t>
            </a:r>
            <a:r>
              <a:rPr lang="en-US" b="1" i="0" dirty="0">
                <a:solidFill>
                  <a:srgbClr val="191B1D"/>
                </a:solidFill>
                <a:effectLst/>
                <a:highlight>
                  <a:srgbClr val="FFFFFF"/>
                </a:highlight>
              </a:rPr>
              <a:t>, provide detailed logs and reports for test execution, helping you identify and diagnose issues quickly.</a:t>
            </a:r>
          </a:p>
        </p:txBody>
      </p:sp>
    </p:spTree>
    <p:extLst>
      <p:ext uri="{BB962C8B-B14F-4D97-AF65-F5344CB8AC3E}">
        <p14:creationId xmlns:p14="http://schemas.microsoft.com/office/powerpoint/2010/main" val="38187104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317BEF4-F659-05B0-B884-5FBC9950BC38}"/>
              </a:ext>
            </a:extLst>
          </p:cNvPr>
          <p:cNvCxnSpPr>
            <a:cxnSpLocks/>
          </p:cNvCxnSpPr>
          <p:nvPr/>
        </p:nvCxnSpPr>
        <p:spPr>
          <a:xfrm>
            <a:off x="3327085" y="1145136"/>
            <a:ext cx="0" cy="322420"/>
          </a:xfrm>
          <a:prstGeom prst="line">
            <a:avLst/>
          </a:prstGeom>
          <a:ln w="12700">
            <a:solidFill>
              <a:srgbClr val="DD4F2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7" name="TextBox 6">
            <a:extLst>
              <a:ext uri="{FF2B5EF4-FFF2-40B4-BE49-F238E27FC236}">
                <a16:creationId xmlns:a16="http://schemas.microsoft.com/office/drawing/2014/main" id="{29DD8C4D-F76C-9822-675B-A53D048E5DFD}"/>
              </a:ext>
            </a:extLst>
          </p:cNvPr>
          <p:cNvSpPr txBox="1"/>
          <p:nvPr/>
        </p:nvSpPr>
        <p:spPr>
          <a:xfrm>
            <a:off x="1346059" y="985498"/>
            <a:ext cx="10331279" cy="5940088"/>
          </a:xfrm>
          <a:prstGeom prst="rect">
            <a:avLst/>
          </a:prstGeom>
          <a:noFill/>
        </p:spPr>
        <p:txBody>
          <a:bodyPr wrap="square">
            <a:spAutoFit/>
          </a:bodyPr>
          <a:lstStyle/>
          <a:p>
            <a:pPr marL="214313" indent="-214313">
              <a:buClr>
                <a:schemeClr val="dk1"/>
              </a:buClr>
              <a:buSzPts val="1800"/>
              <a:buFont typeface="Arial"/>
              <a:buChar char="•"/>
            </a:pPr>
            <a:r>
              <a:rPr lang="en-US" b="1" dirty="0">
                <a:solidFill>
                  <a:schemeClr val="dk1"/>
                </a:solidFill>
                <a:ea typeface="Calibri"/>
                <a:cs typeface="Calibri"/>
                <a:sym typeface="Calibri"/>
              </a:rPr>
              <a:t>Automation testing is a Software testing technique to test and compare the actual outcome with the expected outcome. </a:t>
            </a:r>
            <a:endParaRPr lang="en-US" b="1" dirty="0"/>
          </a:p>
          <a:p>
            <a:pPr marL="214313" indent="-214313">
              <a:buClr>
                <a:schemeClr val="dk1"/>
              </a:buClr>
              <a:buSzPts val="1800"/>
              <a:buFont typeface="Arial"/>
              <a:buChar char="•"/>
            </a:pPr>
            <a:r>
              <a:rPr lang="en-US" b="1" dirty="0">
                <a:solidFill>
                  <a:schemeClr val="dk1"/>
                </a:solidFill>
                <a:ea typeface="Calibri"/>
                <a:cs typeface="Calibri"/>
                <a:sym typeface="Calibri"/>
              </a:rPr>
              <a:t>This can be achieved by writing test scripts or using any automation testing tool. Test automation is used to automate repetitive tasks and other testing tasks which are difficult to perform manually. </a:t>
            </a:r>
            <a:endParaRPr lang="en-US" b="1" dirty="0"/>
          </a:p>
          <a:p>
            <a:pPr marL="214313" indent="-214313">
              <a:buClr>
                <a:schemeClr val="dk1"/>
              </a:buClr>
              <a:buSzPts val="1800"/>
              <a:buFont typeface="Arial"/>
              <a:buChar char="•"/>
            </a:pPr>
            <a:r>
              <a:rPr lang="en-US" b="1" dirty="0">
                <a:solidFill>
                  <a:schemeClr val="dk1"/>
                </a:solidFill>
                <a:ea typeface="Calibri"/>
                <a:cs typeface="Calibri"/>
                <a:sym typeface="Calibri"/>
              </a:rPr>
              <a:t>Automated testing is most preferable for large projects that require testing the same areas over and over</a:t>
            </a:r>
          </a:p>
          <a:p>
            <a:pPr marL="214313" indent="-214313">
              <a:buClr>
                <a:schemeClr val="dk1"/>
              </a:buClr>
              <a:buSzPts val="1800"/>
              <a:buFont typeface="Arial"/>
              <a:buChar char="•"/>
            </a:pPr>
            <a:r>
              <a:rPr lang="en-US" b="1" dirty="0">
                <a:solidFill>
                  <a:schemeClr val="dk1"/>
                </a:solidFill>
                <a:ea typeface="Calibri"/>
                <a:cs typeface="Calibri"/>
                <a:sym typeface="Calibri"/>
              </a:rPr>
              <a:t>The test automation performs testing at three different levels:</a:t>
            </a:r>
            <a:endParaRPr lang="en-US" b="1" dirty="0"/>
          </a:p>
          <a:p>
            <a:endParaRPr lang="en-US" b="1" dirty="0">
              <a:solidFill>
                <a:schemeClr val="dk1"/>
              </a:solidFill>
              <a:ea typeface="Calibri"/>
              <a:cs typeface="Calibri"/>
              <a:sym typeface="Calibri"/>
            </a:endParaRPr>
          </a:p>
          <a:p>
            <a:pPr marL="557213" lvl="1" indent="-214313">
              <a:buClr>
                <a:schemeClr val="dk1"/>
              </a:buClr>
              <a:buSzPts val="1800"/>
              <a:buFont typeface="Arial"/>
              <a:buChar char="•"/>
            </a:pPr>
            <a:r>
              <a:rPr lang="en-US" b="1" dirty="0">
                <a:solidFill>
                  <a:schemeClr val="dk1"/>
                </a:solidFill>
                <a:ea typeface="Calibri"/>
                <a:cs typeface="Calibri"/>
                <a:sym typeface="Calibri"/>
              </a:rPr>
              <a:t>Unit Level Automation</a:t>
            </a:r>
            <a:endParaRPr lang="en-US" b="1" dirty="0"/>
          </a:p>
          <a:p>
            <a:pPr marL="900113" lvl="2" indent="-214313">
              <a:buClr>
                <a:schemeClr val="dk1"/>
              </a:buClr>
              <a:buSzPts val="1800"/>
              <a:buFont typeface="Arial"/>
              <a:buChar char="•"/>
            </a:pPr>
            <a:r>
              <a:rPr lang="en-US" b="1" dirty="0" err="1">
                <a:solidFill>
                  <a:schemeClr val="dk1"/>
                </a:solidFill>
                <a:ea typeface="Calibri"/>
                <a:cs typeface="Calibri"/>
                <a:sym typeface="Calibri"/>
              </a:rPr>
              <a:t>Nunit</a:t>
            </a:r>
            <a:endParaRPr lang="en-US" b="1" dirty="0">
              <a:solidFill>
                <a:schemeClr val="dk1"/>
              </a:solidFill>
              <a:ea typeface="Calibri"/>
              <a:cs typeface="Calibri"/>
              <a:sym typeface="Calibri"/>
            </a:endParaRPr>
          </a:p>
          <a:p>
            <a:pPr marL="900113" lvl="2" indent="-214313">
              <a:buClr>
                <a:schemeClr val="dk1"/>
              </a:buClr>
              <a:buSzPts val="1800"/>
              <a:buFont typeface="Arial"/>
              <a:buChar char="•"/>
            </a:pPr>
            <a:r>
              <a:rPr lang="en-US" b="1" dirty="0">
                <a:solidFill>
                  <a:schemeClr val="dk1"/>
                </a:solidFill>
                <a:ea typeface="Calibri"/>
                <a:cs typeface="Calibri"/>
                <a:sym typeface="Calibri"/>
              </a:rPr>
              <a:t>Junit</a:t>
            </a:r>
            <a:endParaRPr lang="en-US" b="1" dirty="0"/>
          </a:p>
          <a:p>
            <a:pPr marL="900113" lvl="2" indent="-214313">
              <a:buClr>
                <a:schemeClr val="dk1"/>
              </a:buClr>
              <a:buSzPts val="1800"/>
              <a:buFont typeface="Arial"/>
              <a:buChar char="•"/>
            </a:pPr>
            <a:r>
              <a:rPr lang="en-US" b="1" dirty="0" err="1">
                <a:solidFill>
                  <a:schemeClr val="dk1"/>
                </a:solidFill>
                <a:ea typeface="Calibri"/>
                <a:cs typeface="Calibri"/>
                <a:sym typeface="Calibri"/>
              </a:rPr>
              <a:t>TestNg</a:t>
            </a:r>
            <a:endParaRPr lang="en-US" b="1" dirty="0">
              <a:solidFill>
                <a:schemeClr val="dk1"/>
              </a:solidFill>
              <a:ea typeface="Calibri"/>
              <a:cs typeface="Calibri"/>
              <a:sym typeface="Calibri"/>
            </a:endParaRPr>
          </a:p>
          <a:p>
            <a:pPr marL="557213" lvl="1" indent="-214313">
              <a:buClr>
                <a:schemeClr val="dk1"/>
              </a:buClr>
              <a:buSzPts val="1800"/>
              <a:buFont typeface="Arial"/>
              <a:buChar char="•"/>
            </a:pPr>
            <a:r>
              <a:rPr lang="en-US" b="1" dirty="0">
                <a:solidFill>
                  <a:schemeClr val="dk1"/>
                </a:solidFill>
                <a:ea typeface="Calibri"/>
                <a:cs typeface="Calibri"/>
                <a:sym typeface="Calibri"/>
              </a:rPr>
              <a:t>API Testing</a:t>
            </a:r>
            <a:endParaRPr lang="en-US" b="1" dirty="0"/>
          </a:p>
          <a:p>
            <a:pPr marL="900113" lvl="2" indent="-214313">
              <a:buClr>
                <a:schemeClr val="dk1"/>
              </a:buClr>
              <a:buSzPts val="1800"/>
              <a:buFont typeface="Arial"/>
              <a:buChar char="•"/>
            </a:pPr>
            <a:r>
              <a:rPr lang="en-US" b="1" dirty="0">
                <a:solidFill>
                  <a:schemeClr val="dk1"/>
                </a:solidFill>
                <a:ea typeface="Calibri"/>
                <a:cs typeface="Calibri"/>
                <a:sym typeface="Calibri"/>
              </a:rPr>
              <a:t>Rest Assured</a:t>
            </a:r>
            <a:endParaRPr lang="en-US" b="1" dirty="0"/>
          </a:p>
          <a:p>
            <a:pPr marL="900113" lvl="2" indent="-214313">
              <a:buClr>
                <a:schemeClr val="dk1"/>
              </a:buClr>
              <a:buSzPts val="1800"/>
              <a:buFont typeface="Arial"/>
              <a:buChar char="•"/>
            </a:pPr>
            <a:r>
              <a:rPr lang="en-US" b="1" dirty="0" err="1">
                <a:solidFill>
                  <a:schemeClr val="dk1"/>
                </a:solidFill>
                <a:ea typeface="Calibri"/>
                <a:cs typeface="Calibri"/>
                <a:sym typeface="Calibri"/>
              </a:rPr>
              <a:t>Katalon</a:t>
            </a:r>
            <a:endParaRPr lang="en-US" b="1" dirty="0">
              <a:solidFill>
                <a:schemeClr val="dk1"/>
              </a:solidFill>
              <a:ea typeface="Calibri"/>
              <a:cs typeface="Calibri"/>
              <a:sym typeface="Calibri"/>
            </a:endParaRPr>
          </a:p>
          <a:p>
            <a:pPr marL="557213" lvl="1" indent="-214313">
              <a:buClr>
                <a:schemeClr val="dk1"/>
              </a:buClr>
              <a:buSzPts val="1800"/>
              <a:buFont typeface="Arial"/>
              <a:buChar char="•"/>
            </a:pPr>
            <a:r>
              <a:rPr lang="en-US" b="1" dirty="0">
                <a:solidFill>
                  <a:schemeClr val="dk1"/>
                </a:solidFill>
                <a:ea typeface="Calibri"/>
                <a:cs typeface="Calibri"/>
                <a:sym typeface="Calibri"/>
              </a:rPr>
              <a:t>User Interface</a:t>
            </a:r>
            <a:endParaRPr lang="en-US" b="1" dirty="0"/>
          </a:p>
          <a:p>
            <a:pPr marL="900113" lvl="2" indent="-214313">
              <a:buClr>
                <a:schemeClr val="dk1"/>
              </a:buClr>
              <a:buSzPts val="1800"/>
              <a:buFont typeface="Arial"/>
              <a:buChar char="•"/>
            </a:pPr>
            <a:r>
              <a:rPr lang="en-US" b="1" dirty="0">
                <a:solidFill>
                  <a:schemeClr val="dk1"/>
                </a:solidFill>
                <a:ea typeface="Calibri"/>
                <a:cs typeface="Calibri"/>
                <a:sym typeface="Calibri"/>
              </a:rPr>
              <a:t>Selenium</a:t>
            </a:r>
            <a:endParaRPr lang="en-US" b="1" dirty="0"/>
          </a:p>
          <a:p>
            <a:pPr marL="900113" lvl="2" indent="-214313">
              <a:buClr>
                <a:schemeClr val="dk1"/>
              </a:buClr>
              <a:buSzPts val="1800"/>
              <a:buFont typeface="Arial"/>
              <a:buChar char="•"/>
            </a:pPr>
            <a:r>
              <a:rPr lang="en-US" b="1" dirty="0">
                <a:solidFill>
                  <a:schemeClr val="dk1"/>
                </a:solidFill>
                <a:ea typeface="Calibri"/>
                <a:cs typeface="Calibri"/>
                <a:sym typeface="Calibri"/>
              </a:rPr>
              <a:t>Cypress</a:t>
            </a:r>
            <a:endParaRPr lang="en-US" b="1" dirty="0"/>
          </a:p>
          <a:p>
            <a:pPr marL="900113" lvl="2" indent="-214313">
              <a:buClr>
                <a:schemeClr val="dk1"/>
              </a:buClr>
              <a:buSzPts val="1800"/>
              <a:buFont typeface="Arial"/>
              <a:buChar char="•"/>
            </a:pPr>
            <a:r>
              <a:rPr lang="en-US" b="1" dirty="0">
                <a:solidFill>
                  <a:schemeClr val="dk1"/>
                </a:solidFill>
                <a:ea typeface="Calibri"/>
                <a:cs typeface="Calibri"/>
                <a:sym typeface="Calibri"/>
              </a:rPr>
              <a:t>Playwright</a:t>
            </a:r>
          </a:p>
          <a:p>
            <a:endParaRPr lang="en-US" sz="2000" b="1" dirty="0">
              <a:solidFill>
                <a:schemeClr val="dk1"/>
              </a:solidFill>
              <a:ea typeface="Calibri"/>
              <a:cs typeface="Calibri"/>
              <a:sym typeface="Calibri"/>
            </a:endParaRPr>
          </a:p>
        </p:txBody>
      </p:sp>
      <p:sp>
        <p:nvSpPr>
          <p:cNvPr id="8" name="Google Shape;97;p2">
            <a:extLst>
              <a:ext uri="{FF2B5EF4-FFF2-40B4-BE49-F238E27FC236}">
                <a16:creationId xmlns:a16="http://schemas.microsoft.com/office/drawing/2014/main" id="{36C4E222-1B8E-3548-2DCB-4B89D98DF1FA}"/>
              </a:ext>
            </a:extLst>
          </p:cNvPr>
          <p:cNvSpPr txBox="1">
            <a:spLocks noGrp="1"/>
          </p:cNvSpPr>
          <p:nvPr>
            <p:ph type="title"/>
          </p:nvPr>
        </p:nvSpPr>
        <p:spPr>
          <a:xfrm>
            <a:off x="2505141" y="200743"/>
            <a:ext cx="8013113" cy="533516"/>
          </a:xfrm>
          <a:prstGeom prst="rect">
            <a:avLst/>
          </a:prstGeom>
          <a:noFill/>
          <a:ln>
            <a:noFill/>
          </a:ln>
        </p:spPr>
        <p:txBody>
          <a:bodyPr spcFirstLastPara="1" vert="horz" wrap="square" lIns="68569" tIns="34275" rIns="68569" bIns="34275" rtlCol="0" anchor="b" anchorCtr="0">
            <a:normAutofit fontScale="90000"/>
          </a:bodyPr>
          <a:lstStyle/>
          <a:p>
            <a:pPr>
              <a:spcBef>
                <a:spcPts val="0"/>
              </a:spcBef>
              <a:buClr>
                <a:schemeClr val="dk1"/>
              </a:buClr>
              <a:buSzPts val="4400"/>
            </a:pPr>
            <a:r>
              <a:rPr lang="en-US" dirty="0"/>
              <a:t>         What is Automation ?</a:t>
            </a:r>
            <a:endParaRPr dirty="0"/>
          </a:p>
        </p:txBody>
      </p:sp>
    </p:spTree>
    <p:extLst>
      <p:ext uri="{BB962C8B-B14F-4D97-AF65-F5344CB8AC3E}">
        <p14:creationId xmlns:p14="http://schemas.microsoft.com/office/powerpoint/2010/main" val="10802280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317BEF4-F659-05B0-B884-5FBC9950BC38}"/>
              </a:ext>
            </a:extLst>
          </p:cNvPr>
          <p:cNvCxnSpPr>
            <a:cxnSpLocks/>
          </p:cNvCxnSpPr>
          <p:nvPr/>
        </p:nvCxnSpPr>
        <p:spPr>
          <a:xfrm>
            <a:off x="3327085" y="1145136"/>
            <a:ext cx="0" cy="322420"/>
          </a:xfrm>
          <a:prstGeom prst="line">
            <a:avLst/>
          </a:prstGeom>
          <a:ln w="12700">
            <a:solidFill>
              <a:srgbClr val="DD4F2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Google Shape;95;p2">
            <a:extLst>
              <a:ext uri="{FF2B5EF4-FFF2-40B4-BE49-F238E27FC236}">
                <a16:creationId xmlns:a16="http://schemas.microsoft.com/office/drawing/2014/main" id="{62AF5AA9-E736-DA69-226B-DFF713D5458A}"/>
              </a:ext>
            </a:extLst>
          </p:cNvPr>
          <p:cNvSpPr txBox="1">
            <a:spLocks/>
          </p:cNvSpPr>
          <p:nvPr/>
        </p:nvSpPr>
        <p:spPr>
          <a:xfrm>
            <a:off x="2592984" y="1049026"/>
            <a:ext cx="8013113" cy="514640"/>
          </a:xfrm>
          <a:prstGeom prst="rect">
            <a:avLst/>
          </a:prstGeom>
          <a:noFill/>
          <a:ln>
            <a:noFill/>
          </a:ln>
        </p:spPr>
        <p:txBody>
          <a:bodyPr spcFirstLastPara="1" vert="horz" wrap="square" lIns="68569" tIns="34275" rIns="68569" bIns="34275" rtlCol="0" anchor="b"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chemeClr val="dk1"/>
              </a:buClr>
              <a:buSzPct val="100000"/>
            </a:pPr>
            <a:endParaRPr lang="en-US" sz="1800" b="1" dirty="0">
              <a:latin typeface="+mn-lt"/>
            </a:endParaRPr>
          </a:p>
        </p:txBody>
      </p:sp>
      <p:sp>
        <p:nvSpPr>
          <p:cNvPr id="11" name="Google Shape;113;p3">
            <a:extLst>
              <a:ext uri="{FF2B5EF4-FFF2-40B4-BE49-F238E27FC236}">
                <a16:creationId xmlns:a16="http://schemas.microsoft.com/office/drawing/2014/main" id="{D39EFC8A-1792-3C39-AB1C-33D1C703BB59}"/>
              </a:ext>
            </a:extLst>
          </p:cNvPr>
          <p:cNvSpPr txBox="1">
            <a:spLocks noGrp="1"/>
          </p:cNvSpPr>
          <p:nvPr>
            <p:ph type="title"/>
          </p:nvPr>
        </p:nvSpPr>
        <p:spPr>
          <a:xfrm>
            <a:off x="3096522" y="520295"/>
            <a:ext cx="8013113" cy="533516"/>
          </a:xfrm>
          <a:prstGeom prst="rect">
            <a:avLst/>
          </a:prstGeom>
          <a:noFill/>
          <a:ln>
            <a:noFill/>
          </a:ln>
        </p:spPr>
        <p:txBody>
          <a:bodyPr spcFirstLastPara="1" vert="horz" wrap="square" lIns="68569" tIns="34275" rIns="68569" bIns="34275" rtlCol="0" anchor="b" anchorCtr="0">
            <a:normAutofit fontScale="90000"/>
          </a:bodyPr>
          <a:lstStyle/>
          <a:p>
            <a:pPr>
              <a:spcBef>
                <a:spcPts val="0"/>
              </a:spcBef>
              <a:buClr>
                <a:schemeClr val="dk1"/>
              </a:buClr>
              <a:buSzPts val="4400"/>
            </a:pPr>
            <a:r>
              <a:rPr lang="en-US" dirty="0"/>
              <a:t>Automation Testing life cycle </a:t>
            </a:r>
          </a:p>
        </p:txBody>
      </p:sp>
      <p:sp>
        <p:nvSpPr>
          <p:cNvPr id="12" name="Google Shape;114;p3">
            <a:extLst>
              <a:ext uri="{FF2B5EF4-FFF2-40B4-BE49-F238E27FC236}">
                <a16:creationId xmlns:a16="http://schemas.microsoft.com/office/drawing/2014/main" id="{49759FA9-0EB8-D6CF-B9F6-C8BBABBCBBCD}"/>
              </a:ext>
            </a:extLst>
          </p:cNvPr>
          <p:cNvSpPr txBox="1"/>
          <p:nvPr/>
        </p:nvSpPr>
        <p:spPr>
          <a:xfrm>
            <a:off x="3096523" y="791164"/>
            <a:ext cx="8013113" cy="533516"/>
          </a:xfrm>
          <a:prstGeom prst="rect">
            <a:avLst/>
          </a:prstGeom>
          <a:noFill/>
          <a:ln>
            <a:noFill/>
          </a:ln>
        </p:spPr>
        <p:txBody>
          <a:bodyPr spcFirstLastPara="1" wrap="square" lIns="68569" tIns="34275" rIns="68569" bIns="34275" anchor="b" anchorCtr="0">
            <a:normAutofit/>
          </a:bodyPr>
          <a:lstStyle/>
          <a:p>
            <a:pPr algn="ctr">
              <a:lnSpc>
                <a:spcPct val="90000"/>
              </a:lnSpc>
              <a:buClr>
                <a:schemeClr val="dk1"/>
              </a:buClr>
              <a:buSzPts val="4400"/>
            </a:pPr>
            <a:endParaRPr sz="3300">
              <a:solidFill>
                <a:schemeClr val="dk2"/>
              </a:solidFill>
              <a:latin typeface="Calibri"/>
              <a:ea typeface="Calibri"/>
              <a:cs typeface="Calibri"/>
              <a:sym typeface="Calibri"/>
            </a:endParaRPr>
          </a:p>
        </p:txBody>
      </p:sp>
      <p:pic>
        <p:nvPicPr>
          <p:cNvPr id="13" name="Google Shape;115;p3">
            <a:extLst>
              <a:ext uri="{FF2B5EF4-FFF2-40B4-BE49-F238E27FC236}">
                <a16:creationId xmlns:a16="http://schemas.microsoft.com/office/drawing/2014/main" id="{99BBDD7A-9839-C825-2B13-CA9372AFE9FC}"/>
              </a:ext>
            </a:extLst>
          </p:cNvPr>
          <p:cNvPicPr preferRelativeResize="0"/>
          <p:nvPr/>
        </p:nvPicPr>
        <p:blipFill rotWithShape="1">
          <a:blip r:embed="rId2">
            <a:alphaModFix/>
          </a:blip>
          <a:srcRect/>
          <a:stretch/>
        </p:blipFill>
        <p:spPr>
          <a:xfrm>
            <a:off x="2089444" y="1654991"/>
            <a:ext cx="8013112" cy="4466894"/>
          </a:xfrm>
          <a:prstGeom prst="rect">
            <a:avLst/>
          </a:prstGeom>
          <a:noFill/>
          <a:ln>
            <a:noFill/>
          </a:ln>
        </p:spPr>
      </p:pic>
    </p:spTree>
    <p:extLst>
      <p:ext uri="{BB962C8B-B14F-4D97-AF65-F5344CB8AC3E}">
        <p14:creationId xmlns:p14="http://schemas.microsoft.com/office/powerpoint/2010/main" val="33871760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317BEF4-F659-05B0-B884-5FBC9950BC38}"/>
              </a:ext>
            </a:extLst>
          </p:cNvPr>
          <p:cNvCxnSpPr>
            <a:cxnSpLocks/>
          </p:cNvCxnSpPr>
          <p:nvPr/>
        </p:nvCxnSpPr>
        <p:spPr>
          <a:xfrm>
            <a:off x="3327085" y="1145136"/>
            <a:ext cx="0" cy="322420"/>
          </a:xfrm>
          <a:prstGeom prst="line">
            <a:avLst/>
          </a:prstGeom>
          <a:ln w="12700">
            <a:solidFill>
              <a:srgbClr val="DD4F2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2" name="Google Shape;122;p4">
            <a:extLst>
              <a:ext uri="{FF2B5EF4-FFF2-40B4-BE49-F238E27FC236}">
                <a16:creationId xmlns:a16="http://schemas.microsoft.com/office/drawing/2014/main" id="{DC1DD46D-55EF-561C-1D01-557A2E587540}"/>
              </a:ext>
            </a:extLst>
          </p:cNvPr>
          <p:cNvSpPr txBox="1">
            <a:spLocks noGrp="1"/>
          </p:cNvSpPr>
          <p:nvPr>
            <p:ph type="title"/>
          </p:nvPr>
        </p:nvSpPr>
        <p:spPr>
          <a:xfrm>
            <a:off x="2592984" y="368033"/>
            <a:ext cx="7848703" cy="719357"/>
          </a:xfrm>
          <a:prstGeom prst="rect">
            <a:avLst/>
          </a:prstGeom>
          <a:noFill/>
          <a:ln>
            <a:noFill/>
          </a:ln>
        </p:spPr>
        <p:txBody>
          <a:bodyPr spcFirstLastPara="1" vert="horz" wrap="square" lIns="68569" tIns="34275" rIns="68569" bIns="34275" rtlCol="0" anchor="ctr" anchorCtr="0">
            <a:normAutofit/>
          </a:bodyPr>
          <a:lstStyle/>
          <a:p>
            <a:pPr>
              <a:spcBef>
                <a:spcPts val="0"/>
              </a:spcBef>
              <a:buClr>
                <a:schemeClr val="dk1"/>
              </a:buClr>
              <a:buSzPts val="4400"/>
            </a:pPr>
            <a:r>
              <a:rPr lang="en-US" b="1" i="0" dirty="0"/>
              <a:t>Why Automation Testing?</a:t>
            </a:r>
            <a:endParaRPr dirty="0"/>
          </a:p>
        </p:txBody>
      </p:sp>
      <p:sp>
        <p:nvSpPr>
          <p:cNvPr id="23" name="Google Shape;129;p4">
            <a:extLst>
              <a:ext uri="{FF2B5EF4-FFF2-40B4-BE49-F238E27FC236}">
                <a16:creationId xmlns:a16="http://schemas.microsoft.com/office/drawing/2014/main" id="{234CF00B-0D7B-F358-6197-7D1AA39EBBDE}"/>
              </a:ext>
            </a:extLst>
          </p:cNvPr>
          <p:cNvSpPr txBox="1"/>
          <p:nvPr/>
        </p:nvSpPr>
        <p:spPr>
          <a:xfrm>
            <a:off x="1179873" y="1306346"/>
            <a:ext cx="10060853" cy="5055200"/>
          </a:xfrm>
          <a:prstGeom prst="rect">
            <a:avLst/>
          </a:prstGeom>
          <a:noFill/>
          <a:ln>
            <a:noFill/>
          </a:ln>
        </p:spPr>
        <p:txBody>
          <a:bodyPr spcFirstLastPara="1" wrap="square" lIns="68569" tIns="34275" rIns="68569" bIns="34275" anchor="t" anchorCtr="0">
            <a:spAutoFit/>
          </a:bodyPr>
          <a:lstStyle/>
          <a:p>
            <a:r>
              <a:rPr lang="en-US" b="1" dirty="0">
                <a:solidFill>
                  <a:schemeClr val="dk1"/>
                </a:solidFill>
                <a:ea typeface="Calibri"/>
                <a:cs typeface="Calibri"/>
                <a:sym typeface="Calibri"/>
              </a:rPr>
              <a:t>Some of the reasons why Automation Testing is important:</a:t>
            </a:r>
            <a:endParaRPr b="1" dirty="0"/>
          </a:p>
          <a:p>
            <a:endParaRPr b="1" dirty="0">
              <a:solidFill>
                <a:schemeClr val="dk1"/>
              </a:solidFill>
              <a:ea typeface="Calibri"/>
              <a:cs typeface="Calibri"/>
              <a:sym typeface="Calibri"/>
            </a:endParaRPr>
          </a:p>
          <a:p>
            <a:pPr indent="-85725">
              <a:buClr>
                <a:schemeClr val="dk1"/>
              </a:buClr>
              <a:buSzPts val="1800"/>
              <a:buFont typeface="Arial"/>
              <a:buChar char="•"/>
            </a:pPr>
            <a:r>
              <a:rPr lang="en-US" b="1" dirty="0">
                <a:solidFill>
                  <a:schemeClr val="dk1"/>
                </a:solidFill>
                <a:ea typeface="Calibri"/>
                <a:cs typeface="Calibri"/>
                <a:sym typeface="Calibri"/>
              </a:rPr>
              <a:t>Running Tests 24/7: You can start the test from anywhere in the world and anytime you want to. You can even do that remotely if you don’t have a lot of devices or you don’t have the possibility to buy them.</a:t>
            </a:r>
            <a:endParaRPr lang="en-US" b="1" dirty="0"/>
          </a:p>
          <a:p>
            <a:endParaRPr b="1" dirty="0">
              <a:solidFill>
                <a:schemeClr val="dk1"/>
              </a:solidFill>
              <a:ea typeface="Calibri"/>
              <a:cs typeface="Calibri"/>
              <a:sym typeface="Calibri"/>
            </a:endParaRPr>
          </a:p>
          <a:p>
            <a:pPr indent="-85725">
              <a:buClr>
                <a:schemeClr val="dk1"/>
              </a:buClr>
              <a:buSzPts val="1800"/>
              <a:buFont typeface="Arial"/>
              <a:buChar char="•"/>
            </a:pPr>
            <a:r>
              <a:rPr lang="en-US" b="1" dirty="0">
                <a:solidFill>
                  <a:schemeClr val="dk1"/>
                </a:solidFill>
                <a:ea typeface="Calibri"/>
                <a:cs typeface="Calibri"/>
                <a:sym typeface="Calibri"/>
              </a:rPr>
              <a:t>Fewer Human Resources: You just need a test automation engineer to write your scripts to automate your tests, instead of a lot of people doing boring manual tests over and over again.</a:t>
            </a:r>
            <a:endParaRPr b="1" dirty="0"/>
          </a:p>
          <a:p>
            <a:endParaRPr b="1" dirty="0">
              <a:solidFill>
                <a:schemeClr val="dk1"/>
              </a:solidFill>
              <a:ea typeface="Calibri"/>
              <a:cs typeface="Calibri"/>
              <a:sym typeface="Calibri"/>
            </a:endParaRPr>
          </a:p>
          <a:p>
            <a:pPr indent="-85725">
              <a:buClr>
                <a:schemeClr val="dk1"/>
              </a:buClr>
              <a:buSzPts val="1800"/>
              <a:buFont typeface="Arial"/>
              <a:buChar char="•"/>
            </a:pPr>
            <a:r>
              <a:rPr lang="en-US" b="1" dirty="0">
                <a:solidFill>
                  <a:schemeClr val="dk1"/>
                </a:solidFill>
                <a:ea typeface="Calibri"/>
                <a:cs typeface="Calibri"/>
                <a:sym typeface="Calibri"/>
              </a:rPr>
              <a:t>Reusability: The scripts are reusable and you don’t need new scripts every time. Also, you can redo the steps that are exactly as the previous ones.</a:t>
            </a:r>
            <a:endParaRPr b="1" dirty="0"/>
          </a:p>
          <a:p>
            <a:endParaRPr b="1" dirty="0">
              <a:solidFill>
                <a:schemeClr val="dk1"/>
              </a:solidFill>
              <a:ea typeface="Calibri"/>
              <a:cs typeface="Calibri"/>
              <a:sym typeface="Calibri"/>
            </a:endParaRPr>
          </a:p>
          <a:p>
            <a:pPr indent="-85725">
              <a:buClr>
                <a:schemeClr val="dk1"/>
              </a:buClr>
              <a:buSzPts val="1800"/>
              <a:buFont typeface="Arial"/>
              <a:buChar char="•"/>
            </a:pPr>
            <a:r>
              <a:rPr lang="en-US" b="1" dirty="0">
                <a:solidFill>
                  <a:schemeClr val="dk1"/>
                </a:solidFill>
                <a:ea typeface="Calibri"/>
                <a:cs typeface="Calibri"/>
                <a:sym typeface="Calibri"/>
              </a:rPr>
              <a:t>Bugs: Automation helps you find bugs in the early stages of software development, reducing expenses and working hours to fix these problems as well.</a:t>
            </a:r>
            <a:endParaRPr b="1" dirty="0"/>
          </a:p>
          <a:p>
            <a:endParaRPr b="1" dirty="0">
              <a:solidFill>
                <a:schemeClr val="dk1"/>
              </a:solidFill>
              <a:ea typeface="Calibri"/>
              <a:cs typeface="Calibri"/>
              <a:sym typeface="Calibri"/>
            </a:endParaRPr>
          </a:p>
          <a:p>
            <a:pPr indent="-85725">
              <a:buClr>
                <a:schemeClr val="dk1"/>
              </a:buClr>
              <a:buSzPts val="1800"/>
              <a:buFont typeface="Arial"/>
              <a:buChar char="•"/>
            </a:pPr>
            <a:r>
              <a:rPr lang="en-US" b="1" dirty="0">
                <a:solidFill>
                  <a:schemeClr val="dk1"/>
                </a:solidFill>
                <a:ea typeface="Calibri"/>
                <a:cs typeface="Calibri"/>
                <a:sym typeface="Calibri"/>
              </a:rPr>
              <a:t>Reliability: Automated testing is more reliable and way quicker when running boring repetitive standardized tests which can not be skipped, but may cause errors when manually tested.</a:t>
            </a:r>
            <a:endParaRPr b="1" dirty="0"/>
          </a:p>
          <a:p>
            <a:endParaRPr b="1" dirty="0">
              <a:solidFill>
                <a:schemeClr val="dk1"/>
              </a:solidFill>
              <a:ea typeface="Calibri"/>
              <a:cs typeface="Calibri"/>
              <a:sym typeface="Calibri"/>
            </a:endParaRPr>
          </a:p>
        </p:txBody>
      </p:sp>
    </p:spTree>
    <p:extLst>
      <p:ext uri="{BB962C8B-B14F-4D97-AF65-F5344CB8AC3E}">
        <p14:creationId xmlns:p14="http://schemas.microsoft.com/office/powerpoint/2010/main" val="15723835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11" name="Google Shape;152;p7">
            <a:extLst>
              <a:ext uri="{FF2B5EF4-FFF2-40B4-BE49-F238E27FC236}">
                <a16:creationId xmlns:a16="http://schemas.microsoft.com/office/drawing/2014/main" id="{99D4D010-7638-0350-320F-B04A57FED01D}"/>
              </a:ext>
            </a:extLst>
          </p:cNvPr>
          <p:cNvSpPr txBox="1">
            <a:spLocks noGrp="1"/>
          </p:cNvSpPr>
          <p:nvPr>
            <p:ph type="title"/>
          </p:nvPr>
        </p:nvSpPr>
        <p:spPr>
          <a:xfrm>
            <a:off x="2782238" y="481570"/>
            <a:ext cx="8142039" cy="662497"/>
          </a:xfrm>
          <a:prstGeom prst="rect">
            <a:avLst/>
          </a:prstGeom>
          <a:noFill/>
          <a:ln>
            <a:noFill/>
          </a:ln>
        </p:spPr>
        <p:txBody>
          <a:bodyPr spcFirstLastPara="1" vert="horz" wrap="square" lIns="68569" tIns="34275" rIns="68569" bIns="34275" rtlCol="0" anchor="ctr" anchorCtr="0">
            <a:normAutofit/>
          </a:bodyPr>
          <a:lstStyle/>
          <a:p>
            <a:pPr>
              <a:spcBef>
                <a:spcPts val="0"/>
              </a:spcBef>
              <a:buClr>
                <a:schemeClr val="dk1"/>
              </a:buClr>
              <a:buSzPts val="4400"/>
            </a:pPr>
            <a:r>
              <a:rPr lang="en-US" sz="3300" dirty="0">
                <a:solidFill>
                  <a:schemeClr val="dk1"/>
                </a:solidFill>
              </a:rPr>
              <a:t>What is Selenium and Tools ?</a:t>
            </a:r>
            <a:endParaRPr dirty="0"/>
          </a:p>
        </p:txBody>
      </p:sp>
      <p:sp>
        <p:nvSpPr>
          <p:cNvPr id="12" name="Google Shape;153;p7">
            <a:extLst>
              <a:ext uri="{FF2B5EF4-FFF2-40B4-BE49-F238E27FC236}">
                <a16:creationId xmlns:a16="http://schemas.microsoft.com/office/drawing/2014/main" id="{031FA263-429A-5196-5F2A-9E2BE986C6DD}"/>
              </a:ext>
            </a:extLst>
          </p:cNvPr>
          <p:cNvSpPr txBox="1">
            <a:spLocks/>
          </p:cNvSpPr>
          <p:nvPr/>
        </p:nvSpPr>
        <p:spPr>
          <a:xfrm>
            <a:off x="2038350" y="1260892"/>
            <a:ext cx="7886700" cy="3263504"/>
          </a:xfrm>
          <a:prstGeom prst="rect">
            <a:avLst/>
          </a:prstGeom>
          <a:noFill/>
          <a:ln>
            <a:noFill/>
          </a:ln>
        </p:spPr>
        <p:txBody>
          <a:bodyPr spcFirstLastPara="1" vert="horz" wrap="square" lIns="68569" tIns="34275" rIns="68569" bIns="3427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Clr>
                <a:schemeClr val="dk1"/>
              </a:buClr>
              <a:buSzPts val="1800"/>
            </a:pPr>
            <a:r>
              <a:rPr lang="en-US" sz="2000" b="1" dirty="0"/>
              <a:t>Selenium is a free (open-source) automated testing framework used to validate web applications across different browsers and platforms. </a:t>
            </a:r>
          </a:p>
          <a:p>
            <a:pPr>
              <a:buClr>
                <a:schemeClr val="dk1"/>
              </a:buClr>
              <a:buSzPts val="1800"/>
            </a:pPr>
            <a:r>
              <a:rPr lang="en-US" sz="2000" b="1" dirty="0"/>
              <a:t>You can use multiple programming languages like Java, C#, Python, </a:t>
            </a:r>
            <a:r>
              <a:rPr lang="en-US" sz="2000" b="1" dirty="0" err="1"/>
              <a:t>etc</a:t>
            </a:r>
            <a:r>
              <a:rPr lang="en-US" sz="2000" b="1" dirty="0"/>
              <a:t> to create Selenium Test Scripts. Testing done using the Selenium testing tool is usually referred to as Selenium Testing.</a:t>
            </a:r>
          </a:p>
          <a:p>
            <a:pPr>
              <a:buClr>
                <a:schemeClr val="dk1"/>
              </a:buClr>
              <a:buSzPts val="1800"/>
            </a:pPr>
            <a:r>
              <a:rPr lang="en-US" sz="2000" b="1" dirty="0"/>
              <a:t>Only testing web applications is possible with Selenium. You cannot use it to test desktop applications or mobile applications.</a:t>
            </a:r>
          </a:p>
          <a:p>
            <a:pPr>
              <a:buClr>
                <a:schemeClr val="dk1"/>
              </a:buClr>
              <a:buSzPts val="1800"/>
            </a:pPr>
            <a:r>
              <a:rPr lang="en-US" sz="2000" b="1" dirty="0"/>
              <a:t>Selenium Tools</a:t>
            </a:r>
          </a:p>
          <a:p>
            <a:pPr lvl="1">
              <a:buClr>
                <a:schemeClr val="dk1"/>
              </a:buClr>
              <a:buSzPts val="1800"/>
            </a:pPr>
            <a:r>
              <a:rPr lang="en-US" sz="2000" b="1" dirty="0"/>
              <a:t>Selenium Integrated Development Environment (IDE)</a:t>
            </a:r>
          </a:p>
          <a:p>
            <a:pPr lvl="1">
              <a:buClr>
                <a:srgbClr val="FF0000"/>
              </a:buClr>
              <a:buSzPts val="1800"/>
            </a:pPr>
            <a:r>
              <a:rPr lang="en-US" sz="2000" b="1" dirty="0">
                <a:solidFill>
                  <a:srgbClr val="FF0000"/>
                </a:solidFill>
              </a:rPr>
              <a:t>Selenium Remote Control (RC)</a:t>
            </a:r>
          </a:p>
          <a:p>
            <a:pPr lvl="1">
              <a:buClr>
                <a:schemeClr val="dk1"/>
              </a:buClr>
              <a:buSzPts val="1800"/>
            </a:pPr>
            <a:r>
              <a:rPr lang="en-US" sz="2000" b="1" dirty="0"/>
              <a:t>Selenium WebDriver</a:t>
            </a:r>
          </a:p>
          <a:p>
            <a:pPr lvl="1">
              <a:buClr>
                <a:schemeClr val="dk1"/>
              </a:buClr>
              <a:buSzPts val="1800"/>
            </a:pPr>
            <a:r>
              <a:rPr lang="en-US" sz="2000" b="1" dirty="0"/>
              <a:t>Selenium Grid</a:t>
            </a:r>
          </a:p>
          <a:p>
            <a:pPr lvl="1" indent="-133350">
              <a:buClr>
                <a:schemeClr val="dk1"/>
              </a:buClr>
              <a:buSzPts val="800"/>
              <a:buNone/>
            </a:pPr>
            <a:endParaRPr lang="en-US" sz="2000" b="1" dirty="0">
              <a:latin typeface="Open Sans"/>
              <a:ea typeface="Open Sans"/>
              <a:cs typeface="Open Sans"/>
              <a:sym typeface="Open Sans"/>
            </a:endParaRPr>
          </a:p>
        </p:txBody>
      </p:sp>
      <p:pic>
        <p:nvPicPr>
          <p:cNvPr id="13" name="Google Shape;154;p7">
            <a:extLst>
              <a:ext uri="{FF2B5EF4-FFF2-40B4-BE49-F238E27FC236}">
                <a16:creationId xmlns:a16="http://schemas.microsoft.com/office/drawing/2014/main" id="{751B0A47-6FB9-C565-4FC4-F336FD851C26}"/>
              </a:ext>
            </a:extLst>
          </p:cNvPr>
          <p:cNvPicPr preferRelativeResize="0"/>
          <p:nvPr/>
        </p:nvPicPr>
        <p:blipFill rotWithShape="1">
          <a:blip r:embed="rId2">
            <a:alphaModFix/>
          </a:blip>
          <a:srcRect/>
          <a:stretch/>
        </p:blipFill>
        <p:spPr>
          <a:xfrm>
            <a:off x="8899830" y="3530306"/>
            <a:ext cx="2964840" cy="2190792"/>
          </a:xfrm>
          <a:prstGeom prst="rect">
            <a:avLst/>
          </a:prstGeom>
          <a:noFill/>
          <a:ln>
            <a:noFill/>
          </a:ln>
        </p:spPr>
      </p:pic>
    </p:spTree>
    <p:extLst>
      <p:ext uri="{BB962C8B-B14F-4D97-AF65-F5344CB8AC3E}">
        <p14:creationId xmlns:p14="http://schemas.microsoft.com/office/powerpoint/2010/main" val="37597259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317BEF4-F659-05B0-B884-5FBC9950BC38}"/>
              </a:ext>
            </a:extLst>
          </p:cNvPr>
          <p:cNvCxnSpPr>
            <a:cxnSpLocks/>
          </p:cNvCxnSpPr>
          <p:nvPr/>
        </p:nvCxnSpPr>
        <p:spPr>
          <a:xfrm>
            <a:off x="3327085" y="1145136"/>
            <a:ext cx="0" cy="322420"/>
          </a:xfrm>
          <a:prstGeom prst="line">
            <a:avLst/>
          </a:prstGeom>
          <a:ln w="12700">
            <a:solidFill>
              <a:srgbClr val="DD4F2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726281"/>
          </a:xfrm>
        </p:spPr>
        <p:txBody>
          <a:bodyPr>
            <a:normAutofit/>
          </a:bodyPr>
          <a:lstStyle/>
          <a:p>
            <a:pPr>
              <a:lnSpc>
                <a:spcPct val="90000"/>
              </a:lnSpc>
            </a:pPr>
            <a:r>
              <a:rPr lang="en-IN" dirty="0"/>
              <a:t>       Who developed Selenium?</a:t>
            </a:r>
          </a:p>
        </p:txBody>
      </p:sp>
      <p:sp>
        <p:nvSpPr>
          <p:cNvPr id="8" name="TextBox 7">
            <a:extLst>
              <a:ext uri="{FF2B5EF4-FFF2-40B4-BE49-F238E27FC236}">
                <a16:creationId xmlns:a16="http://schemas.microsoft.com/office/drawing/2014/main" id="{3AFF11B8-2336-452F-DBDE-CCBBC4C54CA7}"/>
              </a:ext>
            </a:extLst>
          </p:cNvPr>
          <p:cNvSpPr txBox="1"/>
          <p:nvPr/>
        </p:nvSpPr>
        <p:spPr>
          <a:xfrm>
            <a:off x="2152650" y="2217191"/>
            <a:ext cx="8001000" cy="1323439"/>
          </a:xfrm>
          <a:prstGeom prst="rect">
            <a:avLst/>
          </a:prstGeom>
          <a:noFill/>
        </p:spPr>
        <p:txBody>
          <a:bodyPr wrap="square">
            <a:spAutoFit/>
          </a:bodyPr>
          <a:lstStyle/>
          <a:p>
            <a:r>
              <a:rPr lang="en-US" sz="2000" b="1" dirty="0"/>
              <a:t>Since Selenium is a collection of different tools, it had different developers as well. Below are the key persons who made notable contributions to the Selenium Project Primarily, Selenium was created by Jason Huggins in 2004</a:t>
            </a:r>
            <a:endParaRPr lang="en-IN" sz="2000" b="1" dirty="0"/>
          </a:p>
        </p:txBody>
      </p:sp>
    </p:spTree>
    <p:extLst>
      <p:ext uri="{BB962C8B-B14F-4D97-AF65-F5344CB8AC3E}">
        <p14:creationId xmlns:p14="http://schemas.microsoft.com/office/powerpoint/2010/main" val="26601728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11" name="Google Shape;152;p7">
            <a:extLst>
              <a:ext uri="{FF2B5EF4-FFF2-40B4-BE49-F238E27FC236}">
                <a16:creationId xmlns:a16="http://schemas.microsoft.com/office/drawing/2014/main" id="{99D4D010-7638-0350-320F-B04A57FED01D}"/>
              </a:ext>
            </a:extLst>
          </p:cNvPr>
          <p:cNvSpPr txBox="1">
            <a:spLocks noGrp="1"/>
          </p:cNvSpPr>
          <p:nvPr>
            <p:ph type="title"/>
          </p:nvPr>
        </p:nvSpPr>
        <p:spPr>
          <a:xfrm>
            <a:off x="4049961" y="402776"/>
            <a:ext cx="8142039" cy="662497"/>
          </a:xfrm>
          <a:prstGeom prst="rect">
            <a:avLst/>
          </a:prstGeom>
          <a:noFill/>
          <a:ln>
            <a:noFill/>
          </a:ln>
        </p:spPr>
        <p:txBody>
          <a:bodyPr spcFirstLastPara="1" vert="horz" wrap="square" lIns="68569" tIns="34275" rIns="68569" bIns="34275" rtlCol="0" anchor="ctr" anchorCtr="0">
            <a:normAutofit/>
          </a:bodyPr>
          <a:lstStyle/>
          <a:p>
            <a:pPr>
              <a:spcBef>
                <a:spcPts val="0"/>
              </a:spcBef>
              <a:buClr>
                <a:schemeClr val="dk1"/>
              </a:buClr>
              <a:buSzPts val="4400"/>
            </a:pPr>
            <a:r>
              <a:rPr lang="en-US" sz="3600" dirty="0">
                <a:solidFill>
                  <a:schemeClr val="dk1"/>
                </a:solidFill>
              </a:rPr>
              <a:t>Why Selenium?</a:t>
            </a:r>
            <a:endParaRPr lang="en-US" sz="3600" dirty="0"/>
          </a:p>
        </p:txBody>
      </p:sp>
      <p:sp>
        <p:nvSpPr>
          <p:cNvPr id="3" name="Google Shape;162;p8">
            <a:extLst>
              <a:ext uri="{FF2B5EF4-FFF2-40B4-BE49-F238E27FC236}">
                <a16:creationId xmlns:a16="http://schemas.microsoft.com/office/drawing/2014/main" id="{249149E9-E6A2-E083-AFC5-4E63462DB01D}"/>
              </a:ext>
            </a:extLst>
          </p:cNvPr>
          <p:cNvSpPr txBox="1"/>
          <p:nvPr/>
        </p:nvSpPr>
        <p:spPr>
          <a:xfrm>
            <a:off x="1177426" y="1411379"/>
            <a:ext cx="6688123" cy="5332199"/>
          </a:xfrm>
          <a:prstGeom prst="rect">
            <a:avLst/>
          </a:prstGeom>
          <a:noFill/>
          <a:ln>
            <a:noFill/>
          </a:ln>
        </p:spPr>
        <p:txBody>
          <a:bodyPr spcFirstLastPara="1" wrap="square" lIns="68569" tIns="34275" rIns="68569" bIns="34275" anchor="t" anchorCtr="0">
            <a:spAutoFit/>
          </a:bodyPr>
          <a:lstStyle/>
          <a:p>
            <a:pPr marL="214313" indent="-214313">
              <a:buClr>
                <a:schemeClr val="dk1"/>
              </a:buClr>
              <a:buSzPts val="1800"/>
              <a:buFont typeface="Arial"/>
              <a:buChar char="•"/>
            </a:pPr>
            <a:r>
              <a:rPr lang="en-US" b="1" dirty="0">
                <a:solidFill>
                  <a:schemeClr val="dk1"/>
                </a:solidFill>
                <a:ea typeface="Calibri"/>
                <a:cs typeface="Calibri"/>
                <a:sym typeface="Calibri"/>
              </a:rPr>
              <a:t>Open Source Availability</a:t>
            </a:r>
          </a:p>
          <a:p>
            <a:pPr marL="214313" indent="-214313">
              <a:buClr>
                <a:schemeClr val="dk1"/>
              </a:buClr>
              <a:buSzPts val="1800"/>
              <a:buFont typeface="Arial"/>
              <a:buChar char="•"/>
            </a:pPr>
            <a:endParaRPr b="1" dirty="0"/>
          </a:p>
          <a:p>
            <a:pPr marL="214313" indent="-214313">
              <a:buClr>
                <a:schemeClr val="dk1"/>
              </a:buClr>
              <a:buSzPts val="1800"/>
              <a:buFont typeface="Arial"/>
              <a:buChar char="•"/>
            </a:pPr>
            <a:r>
              <a:rPr lang="en-US" b="1" dirty="0">
                <a:solidFill>
                  <a:schemeClr val="dk1"/>
                </a:solidFill>
                <a:ea typeface="Calibri"/>
                <a:cs typeface="Calibri"/>
                <a:sym typeface="Calibri"/>
              </a:rPr>
              <a:t>Widely used in Industry</a:t>
            </a:r>
          </a:p>
          <a:p>
            <a:pPr marL="214313" indent="-214313">
              <a:buClr>
                <a:schemeClr val="dk1"/>
              </a:buClr>
              <a:buSzPts val="1800"/>
              <a:buFont typeface="Arial"/>
              <a:buChar char="•"/>
            </a:pPr>
            <a:endParaRPr b="1" dirty="0">
              <a:solidFill>
                <a:schemeClr val="dk1"/>
              </a:solidFill>
              <a:ea typeface="Calibri"/>
              <a:cs typeface="Calibri"/>
              <a:sym typeface="Calibri"/>
            </a:endParaRPr>
          </a:p>
          <a:p>
            <a:pPr marL="214313" indent="-214313">
              <a:buClr>
                <a:schemeClr val="dk1"/>
              </a:buClr>
              <a:buSzPts val="1800"/>
              <a:buFont typeface="Arial"/>
              <a:buChar char="•"/>
            </a:pPr>
            <a:r>
              <a:rPr lang="en-US" b="1" dirty="0">
                <a:solidFill>
                  <a:schemeClr val="dk1"/>
                </a:solidFill>
                <a:ea typeface="Calibri"/>
                <a:cs typeface="Calibri"/>
                <a:sym typeface="Calibri"/>
              </a:rPr>
              <a:t>Multi-Browser Support</a:t>
            </a:r>
          </a:p>
          <a:p>
            <a:pPr marL="214313" indent="-214313">
              <a:buClr>
                <a:schemeClr val="dk1"/>
              </a:buClr>
              <a:buSzPts val="1800"/>
              <a:buFont typeface="Arial"/>
              <a:buChar char="•"/>
            </a:pPr>
            <a:endParaRPr b="1" dirty="0"/>
          </a:p>
          <a:p>
            <a:pPr marL="214313" indent="-214313">
              <a:buClr>
                <a:schemeClr val="dk1"/>
              </a:buClr>
              <a:buSzPts val="1800"/>
              <a:buFont typeface="Arial"/>
              <a:buChar char="•"/>
            </a:pPr>
            <a:r>
              <a:rPr lang="en-US" b="1" dirty="0">
                <a:solidFill>
                  <a:schemeClr val="dk1"/>
                </a:solidFill>
                <a:ea typeface="Calibri"/>
                <a:cs typeface="Calibri"/>
                <a:sym typeface="Calibri"/>
              </a:rPr>
              <a:t>Support for programming languages and framework</a:t>
            </a:r>
          </a:p>
          <a:p>
            <a:pPr marL="214313" indent="-214313">
              <a:buClr>
                <a:schemeClr val="dk1"/>
              </a:buClr>
              <a:buSzPts val="1800"/>
              <a:buFont typeface="Arial"/>
              <a:buChar char="•"/>
            </a:pPr>
            <a:endParaRPr b="1" dirty="0">
              <a:solidFill>
                <a:schemeClr val="dk1"/>
              </a:solidFill>
              <a:ea typeface="Calibri"/>
              <a:cs typeface="Calibri"/>
              <a:sym typeface="Calibri"/>
            </a:endParaRPr>
          </a:p>
          <a:p>
            <a:pPr marL="214313" indent="-214313">
              <a:buClr>
                <a:schemeClr val="dk1"/>
              </a:buClr>
              <a:buSzPts val="1800"/>
              <a:buFont typeface="Arial"/>
              <a:buChar char="•"/>
            </a:pPr>
            <a:r>
              <a:rPr lang="en-US" b="1" dirty="0">
                <a:solidFill>
                  <a:schemeClr val="dk1"/>
                </a:solidFill>
                <a:ea typeface="Calibri"/>
                <a:cs typeface="Calibri"/>
                <a:sym typeface="Calibri"/>
              </a:rPr>
              <a:t>Support Across Various Operating Systems</a:t>
            </a:r>
          </a:p>
          <a:p>
            <a:pPr marL="214313" indent="-214313">
              <a:buClr>
                <a:schemeClr val="dk1"/>
              </a:buClr>
              <a:buSzPts val="1800"/>
              <a:buFont typeface="Arial"/>
              <a:buChar char="•"/>
            </a:pPr>
            <a:endParaRPr b="1" dirty="0"/>
          </a:p>
          <a:p>
            <a:pPr marL="214313" indent="-214313">
              <a:buClr>
                <a:schemeClr val="dk1"/>
              </a:buClr>
              <a:buSzPts val="1800"/>
              <a:buFont typeface="Arial"/>
              <a:buChar char="•"/>
            </a:pPr>
            <a:r>
              <a:rPr lang="en-US" b="1" dirty="0">
                <a:solidFill>
                  <a:schemeClr val="dk1"/>
                </a:solidFill>
                <a:ea typeface="Calibri"/>
                <a:cs typeface="Calibri"/>
                <a:sym typeface="Calibri"/>
              </a:rPr>
              <a:t>Ease Of Implementation</a:t>
            </a:r>
          </a:p>
          <a:p>
            <a:pPr marL="214313" indent="-214313">
              <a:buClr>
                <a:schemeClr val="dk1"/>
              </a:buClr>
              <a:buSzPts val="1800"/>
              <a:buFont typeface="Arial"/>
              <a:buChar char="•"/>
            </a:pPr>
            <a:endParaRPr b="1" dirty="0"/>
          </a:p>
          <a:p>
            <a:pPr marL="214313" indent="-214313">
              <a:buClr>
                <a:schemeClr val="dk1"/>
              </a:buClr>
              <a:buSzPts val="1800"/>
              <a:buFont typeface="Arial"/>
              <a:buChar char="•"/>
            </a:pPr>
            <a:r>
              <a:rPr lang="en-US" b="1" dirty="0">
                <a:solidFill>
                  <a:schemeClr val="dk1"/>
                </a:solidFill>
                <a:ea typeface="Calibri"/>
                <a:cs typeface="Calibri"/>
                <a:sym typeface="Calibri"/>
              </a:rPr>
              <a:t>Reusability and Integrations</a:t>
            </a:r>
          </a:p>
          <a:p>
            <a:pPr marL="214313" indent="-214313">
              <a:buClr>
                <a:schemeClr val="dk1"/>
              </a:buClr>
              <a:buSzPts val="1800"/>
              <a:buFont typeface="Arial"/>
              <a:buChar char="•"/>
            </a:pPr>
            <a:endParaRPr b="1" dirty="0"/>
          </a:p>
          <a:p>
            <a:pPr marL="214313" indent="-214313">
              <a:buClr>
                <a:schemeClr val="dk1"/>
              </a:buClr>
              <a:buSzPts val="1800"/>
              <a:buFont typeface="Arial"/>
              <a:buChar char="•"/>
            </a:pPr>
            <a:r>
              <a:rPr lang="en-US" b="1" dirty="0">
                <a:solidFill>
                  <a:schemeClr val="dk1"/>
                </a:solidFill>
                <a:ea typeface="Calibri"/>
                <a:cs typeface="Calibri"/>
                <a:sym typeface="Calibri"/>
              </a:rPr>
              <a:t>Parallel Test Execution</a:t>
            </a:r>
          </a:p>
          <a:p>
            <a:pPr marL="214313" indent="-214313">
              <a:buClr>
                <a:schemeClr val="dk1"/>
              </a:buClr>
              <a:buSzPts val="1800"/>
              <a:buFont typeface="Arial"/>
              <a:buChar char="•"/>
            </a:pPr>
            <a:endParaRPr b="1" dirty="0"/>
          </a:p>
          <a:p>
            <a:pPr marL="214313" indent="-214313">
              <a:buClr>
                <a:schemeClr val="dk1"/>
              </a:buClr>
              <a:buSzPts val="1800"/>
              <a:buFont typeface="Arial"/>
              <a:buChar char="•"/>
            </a:pPr>
            <a:r>
              <a:rPr lang="en-US" b="1" dirty="0">
                <a:solidFill>
                  <a:schemeClr val="dk1"/>
                </a:solidFill>
                <a:ea typeface="Calibri"/>
                <a:cs typeface="Calibri"/>
                <a:sym typeface="Calibri"/>
              </a:rPr>
              <a:t>Less Hardware Usage</a:t>
            </a:r>
          </a:p>
          <a:p>
            <a:pPr marL="214313" indent="-214313">
              <a:buClr>
                <a:schemeClr val="dk1"/>
              </a:buClr>
              <a:buSzPts val="1800"/>
              <a:buFont typeface="Arial"/>
              <a:buChar char="•"/>
            </a:pPr>
            <a:endParaRPr b="1" dirty="0"/>
          </a:p>
          <a:p>
            <a:pPr marL="214313" indent="-214313">
              <a:buClr>
                <a:schemeClr val="dk1"/>
              </a:buClr>
              <a:buSzPts val="1800"/>
              <a:buFont typeface="Arial"/>
              <a:buChar char="•"/>
            </a:pPr>
            <a:r>
              <a:rPr lang="en-US" b="1" dirty="0">
                <a:solidFill>
                  <a:schemeClr val="dk1"/>
                </a:solidFill>
                <a:ea typeface="Calibri"/>
                <a:cs typeface="Calibri"/>
                <a:sym typeface="Calibri"/>
              </a:rPr>
              <a:t>Constant Updates and Good Community Support</a:t>
            </a:r>
            <a:endParaRPr b="1" dirty="0">
              <a:solidFill>
                <a:schemeClr val="dk1"/>
              </a:solidFill>
              <a:ea typeface="Calibri"/>
              <a:cs typeface="Calibri"/>
              <a:sym typeface="Calibri"/>
            </a:endParaRPr>
          </a:p>
        </p:txBody>
      </p:sp>
      <p:pic>
        <p:nvPicPr>
          <p:cNvPr id="7" name="Google Shape;163;p8">
            <a:extLst>
              <a:ext uri="{FF2B5EF4-FFF2-40B4-BE49-F238E27FC236}">
                <a16:creationId xmlns:a16="http://schemas.microsoft.com/office/drawing/2014/main" id="{7B3B35E1-6681-35BD-1C46-4D3BDC32B4D4}"/>
              </a:ext>
            </a:extLst>
          </p:cNvPr>
          <p:cNvPicPr preferRelativeResize="0"/>
          <p:nvPr/>
        </p:nvPicPr>
        <p:blipFill rotWithShape="1">
          <a:blip r:embed="rId2">
            <a:alphaModFix/>
          </a:blip>
          <a:srcRect/>
          <a:stretch/>
        </p:blipFill>
        <p:spPr>
          <a:xfrm>
            <a:off x="7639326" y="1253727"/>
            <a:ext cx="3603848" cy="3643984"/>
          </a:xfrm>
          <a:prstGeom prst="rect">
            <a:avLst/>
          </a:prstGeom>
          <a:noFill/>
          <a:ln>
            <a:noFill/>
          </a:ln>
        </p:spPr>
      </p:pic>
    </p:spTree>
    <p:extLst>
      <p:ext uri="{BB962C8B-B14F-4D97-AF65-F5344CB8AC3E}">
        <p14:creationId xmlns:p14="http://schemas.microsoft.com/office/powerpoint/2010/main" val="3775739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317BEF4-F659-05B0-B884-5FBC9950BC38}"/>
              </a:ext>
            </a:extLst>
          </p:cNvPr>
          <p:cNvCxnSpPr>
            <a:cxnSpLocks/>
          </p:cNvCxnSpPr>
          <p:nvPr/>
        </p:nvCxnSpPr>
        <p:spPr>
          <a:xfrm>
            <a:off x="3327085" y="1145136"/>
            <a:ext cx="0" cy="322420"/>
          </a:xfrm>
          <a:prstGeom prst="line">
            <a:avLst/>
          </a:prstGeom>
          <a:ln w="12700">
            <a:solidFill>
              <a:srgbClr val="DD4F2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8" name="Google Shape;174;p10">
            <a:extLst>
              <a:ext uri="{FF2B5EF4-FFF2-40B4-BE49-F238E27FC236}">
                <a16:creationId xmlns:a16="http://schemas.microsoft.com/office/drawing/2014/main" id="{4734949E-3212-1939-7CE9-1180C9B01CDE}"/>
              </a:ext>
            </a:extLst>
          </p:cNvPr>
          <p:cNvSpPr txBox="1">
            <a:spLocks noGrp="1"/>
          </p:cNvSpPr>
          <p:nvPr>
            <p:ph type="title"/>
          </p:nvPr>
        </p:nvSpPr>
        <p:spPr>
          <a:xfrm>
            <a:off x="2636396" y="580065"/>
            <a:ext cx="7886700" cy="726281"/>
          </a:xfrm>
          <a:prstGeom prst="rect">
            <a:avLst/>
          </a:prstGeom>
          <a:noFill/>
          <a:ln>
            <a:noFill/>
          </a:ln>
        </p:spPr>
        <p:txBody>
          <a:bodyPr spcFirstLastPara="1" vert="horz" wrap="square" lIns="68569" tIns="34275" rIns="68569" bIns="34275" rtlCol="0" anchor="ctr" anchorCtr="0">
            <a:normAutofit/>
          </a:bodyPr>
          <a:lstStyle/>
          <a:p>
            <a:pPr>
              <a:spcBef>
                <a:spcPts val="0"/>
              </a:spcBef>
              <a:buClr>
                <a:schemeClr val="dk1"/>
              </a:buClr>
              <a:buSzPts val="4400"/>
            </a:pPr>
            <a:r>
              <a:rPr lang="en-US" sz="3600" dirty="0">
                <a:latin typeface="+mn-lt"/>
                <a:ea typeface="Calibri"/>
                <a:cs typeface="Calibri"/>
                <a:sym typeface="Calibri"/>
              </a:rPr>
              <a:t>Disadvantages of</a:t>
            </a:r>
            <a:r>
              <a:rPr lang="en-US" sz="3600" i="0" u="none" strike="noStrike" cap="none" dirty="0">
                <a:latin typeface="+mn-lt"/>
                <a:ea typeface="Calibri"/>
                <a:cs typeface="Calibri"/>
                <a:sym typeface="Calibri"/>
              </a:rPr>
              <a:t> Selenium </a:t>
            </a:r>
            <a:endParaRPr sz="3600" dirty="0">
              <a:latin typeface="+mn-lt"/>
            </a:endParaRPr>
          </a:p>
        </p:txBody>
      </p:sp>
      <p:sp>
        <p:nvSpPr>
          <p:cNvPr id="10" name="Google Shape;175;p10">
            <a:extLst>
              <a:ext uri="{FF2B5EF4-FFF2-40B4-BE49-F238E27FC236}">
                <a16:creationId xmlns:a16="http://schemas.microsoft.com/office/drawing/2014/main" id="{881ACD8A-BB93-C769-4FBE-A233AC673E1B}"/>
              </a:ext>
            </a:extLst>
          </p:cNvPr>
          <p:cNvSpPr txBox="1"/>
          <p:nvPr/>
        </p:nvSpPr>
        <p:spPr>
          <a:xfrm>
            <a:off x="1355010" y="1950949"/>
            <a:ext cx="9168086" cy="3146985"/>
          </a:xfrm>
          <a:prstGeom prst="rect">
            <a:avLst/>
          </a:prstGeom>
          <a:noFill/>
          <a:ln>
            <a:noFill/>
          </a:ln>
        </p:spPr>
        <p:txBody>
          <a:bodyPr spcFirstLastPara="1" wrap="square" lIns="68569" tIns="34275" rIns="68569" bIns="34275" anchor="t" anchorCtr="0">
            <a:spAutoFit/>
          </a:bodyPr>
          <a:lstStyle/>
          <a:p>
            <a:pPr marL="342900" indent="-342900">
              <a:buClr>
                <a:srgbClr val="000000"/>
              </a:buClr>
              <a:buSzPts val="1800"/>
              <a:buFont typeface="Arial" panose="020B0604020202020204" pitchFamily="34" charset="0"/>
              <a:buChar char="•"/>
            </a:pPr>
            <a:r>
              <a:rPr lang="en-US" sz="2000" b="1" dirty="0">
                <a:solidFill>
                  <a:srgbClr val="000000"/>
                </a:solidFill>
                <a:ea typeface="Calibri"/>
                <a:cs typeface="Calibri"/>
                <a:sym typeface="Calibri"/>
              </a:rPr>
              <a:t>Selenium can test only web applications. It cannot test software applications and other desktop applications. </a:t>
            </a:r>
            <a:endParaRPr sz="2000" b="1" dirty="0"/>
          </a:p>
          <a:p>
            <a:pPr marL="342900" indent="-342900">
              <a:buClr>
                <a:srgbClr val="000000"/>
              </a:buClr>
              <a:buSzPts val="1800"/>
              <a:buFont typeface="Arial" panose="020B0604020202020204" pitchFamily="34" charset="0"/>
              <a:buChar char="•"/>
            </a:pPr>
            <a:r>
              <a:rPr lang="en-US" sz="2000" b="1" dirty="0">
                <a:solidFill>
                  <a:srgbClr val="000000"/>
                </a:solidFill>
                <a:ea typeface="Calibri"/>
                <a:cs typeface="Calibri"/>
                <a:sym typeface="Calibri"/>
              </a:rPr>
              <a:t>Selenium cannot access the web elements outside the web applications that are under test.</a:t>
            </a:r>
            <a:endParaRPr sz="2000" b="1" dirty="0"/>
          </a:p>
          <a:p>
            <a:pPr marL="342900" indent="-342900">
              <a:buClr>
                <a:srgbClr val="000000"/>
              </a:buClr>
              <a:buSzPts val="1800"/>
              <a:buFont typeface="Arial" panose="020B0604020202020204" pitchFamily="34" charset="0"/>
              <a:buChar char="•"/>
            </a:pPr>
            <a:r>
              <a:rPr lang="en-US" sz="2000" b="1" dirty="0">
                <a:solidFill>
                  <a:srgbClr val="000000"/>
                </a:solidFill>
                <a:ea typeface="Calibri"/>
                <a:cs typeface="Calibri"/>
                <a:sym typeface="Calibri"/>
              </a:rPr>
              <a:t>No guaranteed user support is available. We have to depend on customer communities.</a:t>
            </a:r>
            <a:endParaRPr sz="2000" b="1" dirty="0"/>
          </a:p>
          <a:p>
            <a:pPr marL="342900" indent="-342900">
              <a:buClr>
                <a:srgbClr val="000000"/>
              </a:buClr>
              <a:buSzPts val="1800"/>
              <a:buFont typeface="Arial" panose="020B0604020202020204" pitchFamily="34" charset="0"/>
              <a:buChar char="•"/>
            </a:pPr>
            <a:r>
              <a:rPr lang="en-US" sz="2000" b="1" dirty="0">
                <a:solidFill>
                  <a:srgbClr val="000000"/>
                </a:solidFill>
                <a:ea typeface="Calibri"/>
                <a:cs typeface="Calibri"/>
                <a:sym typeface="Calibri"/>
              </a:rPr>
              <a:t>Selenium independently does not support image testing. It must be integrated with Sikuli for image testing.</a:t>
            </a:r>
          </a:p>
          <a:p>
            <a:pPr marL="342900" indent="-342900">
              <a:buClr>
                <a:srgbClr val="000000"/>
              </a:buClr>
              <a:buSzPts val="1800"/>
              <a:buFont typeface="Arial" panose="020B0604020202020204" pitchFamily="34" charset="0"/>
              <a:buChar char="•"/>
            </a:pPr>
            <a:r>
              <a:rPr lang="en-US" sz="2000" b="1" dirty="0">
                <a:solidFill>
                  <a:srgbClr val="000000"/>
                </a:solidFill>
                <a:ea typeface="Calibri"/>
                <a:cs typeface="Calibri"/>
                <a:sym typeface="Calibri"/>
              </a:rPr>
              <a:t>Captcha testing is not [possible using selenium</a:t>
            </a:r>
          </a:p>
          <a:p>
            <a:pPr marL="342900" indent="-342900">
              <a:buClr>
                <a:srgbClr val="000000"/>
              </a:buClr>
              <a:buSzPts val="1800"/>
              <a:buFont typeface="Arial" panose="020B0604020202020204" pitchFamily="34" charset="0"/>
              <a:buChar char="•"/>
            </a:pPr>
            <a:r>
              <a:rPr lang="en-US" sz="2000" b="1" dirty="0">
                <a:solidFill>
                  <a:srgbClr val="000000"/>
                </a:solidFill>
                <a:ea typeface="Calibri"/>
                <a:cs typeface="Calibri"/>
                <a:sym typeface="Calibri"/>
              </a:rPr>
              <a:t>OTP testing is  not possible using selenium</a:t>
            </a:r>
            <a:endParaRPr sz="2000" b="1" dirty="0"/>
          </a:p>
        </p:txBody>
      </p:sp>
    </p:spTree>
    <p:extLst>
      <p:ext uri="{BB962C8B-B14F-4D97-AF65-F5344CB8AC3E}">
        <p14:creationId xmlns:p14="http://schemas.microsoft.com/office/powerpoint/2010/main" val="1478523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8" name="Google Shape;174;p10">
            <a:extLst>
              <a:ext uri="{FF2B5EF4-FFF2-40B4-BE49-F238E27FC236}">
                <a16:creationId xmlns:a16="http://schemas.microsoft.com/office/drawing/2014/main" id="{4734949E-3212-1939-7CE9-1180C9B01CDE}"/>
              </a:ext>
            </a:extLst>
          </p:cNvPr>
          <p:cNvSpPr txBox="1">
            <a:spLocks noGrp="1"/>
          </p:cNvSpPr>
          <p:nvPr>
            <p:ph type="title"/>
          </p:nvPr>
        </p:nvSpPr>
        <p:spPr>
          <a:xfrm>
            <a:off x="3097030" y="424652"/>
            <a:ext cx="7886700" cy="726281"/>
          </a:xfrm>
          <a:prstGeom prst="rect">
            <a:avLst/>
          </a:prstGeom>
          <a:noFill/>
          <a:ln>
            <a:noFill/>
          </a:ln>
        </p:spPr>
        <p:txBody>
          <a:bodyPr spcFirstLastPara="1" vert="horz" wrap="square" lIns="68569" tIns="34275" rIns="68569" bIns="34275" rtlCol="0" anchor="ctr" anchorCtr="0">
            <a:normAutofit/>
          </a:bodyPr>
          <a:lstStyle/>
          <a:p>
            <a:pPr>
              <a:spcBef>
                <a:spcPts val="0"/>
              </a:spcBef>
              <a:buClr>
                <a:schemeClr val="dk1"/>
              </a:buClr>
              <a:buSzPts val="4400"/>
            </a:pPr>
            <a:r>
              <a:rPr lang="en-US" sz="3600" dirty="0">
                <a:latin typeface="+mn-lt"/>
                <a:ea typeface="Calibri"/>
                <a:cs typeface="Calibri"/>
                <a:sym typeface="Calibri"/>
              </a:rPr>
              <a:t>Versions of selenium</a:t>
            </a:r>
            <a:endParaRPr sz="3600" dirty="0">
              <a:latin typeface="+mn-lt"/>
            </a:endParaRPr>
          </a:p>
        </p:txBody>
      </p:sp>
      <p:pic>
        <p:nvPicPr>
          <p:cNvPr id="11" name="Picture 10">
            <a:extLst>
              <a:ext uri="{FF2B5EF4-FFF2-40B4-BE49-F238E27FC236}">
                <a16:creationId xmlns:a16="http://schemas.microsoft.com/office/drawing/2014/main" id="{E664A302-F1E2-FE60-DD6F-7FD3B3F076CE}"/>
              </a:ext>
            </a:extLst>
          </p:cNvPr>
          <p:cNvPicPr>
            <a:picLocks noChangeAspect="1"/>
          </p:cNvPicPr>
          <p:nvPr/>
        </p:nvPicPr>
        <p:blipFill>
          <a:blip r:embed="rId2"/>
          <a:stretch>
            <a:fillRect/>
          </a:stretch>
        </p:blipFill>
        <p:spPr>
          <a:xfrm>
            <a:off x="1702945" y="1642597"/>
            <a:ext cx="7772400" cy="4263527"/>
          </a:xfrm>
          <a:prstGeom prst="rect">
            <a:avLst/>
          </a:prstGeom>
        </p:spPr>
      </p:pic>
    </p:spTree>
    <p:extLst>
      <p:ext uri="{BB962C8B-B14F-4D97-AF65-F5344CB8AC3E}">
        <p14:creationId xmlns:p14="http://schemas.microsoft.com/office/powerpoint/2010/main" val="7693195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978216" y="675558"/>
            <a:ext cx="7886700" cy="133911"/>
          </a:xfrm>
        </p:spPr>
        <p:txBody>
          <a:bodyPr>
            <a:normAutofit fontScale="90000"/>
          </a:bodyPr>
          <a:lstStyle/>
          <a:p>
            <a:pPr>
              <a:lnSpc>
                <a:spcPct val="90000"/>
              </a:lnSpc>
            </a:pPr>
            <a:r>
              <a:rPr lang="en-IN" b="1" dirty="0"/>
              <a:t>			</a:t>
            </a:r>
            <a:br>
              <a:rPr lang="en-IN" b="1" dirty="0"/>
            </a:br>
            <a:r>
              <a:rPr lang="en-IN" b="1" dirty="0"/>
              <a:t>		    ELEMENT LOCATORS</a:t>
            </a:r>
            <a:br>
              <a:rPr lang="en-IN" dirty="0"/>
            </a:br>
            <a:endParaRPr lang="en-IN" dirty="0"/>
          </a:p>
        </p:txBody>
      </p:sp>
      <p:sp>
        <p:nvSpPr>
          <p:cNvPr id="3" name="Content Placeholder 2">
            <a:extLst>
              <a:ext uri="{FF2B5EF4-FFF2-40B4-BE49-F238E27FC236}">
                <a16:creationId xmlns:a16="http://schemas.microsoft.com/office/drawing/2014/main" id="{4B1D14F3-4D5A-B79A-54B2-82FAD8A6528E}"/>
              </a:ext>
            </a:extLst>
          </p:cNvPr>
          <p:cNvSpPr>
            <a:spLocks noGrp="1"/>
          </p:cNvSpPr>
          <p:nvPr>
            <p:ph idx="1"/>
          </p:nvPr>
        </p:nvSpPr>
        <p:spPr>
          <a:xfrm>
            <a:off x="1492638" y="1966226"/>
            <a:ext cx="9206723" cy="2925548"/>
          </a:xfrm>
        </p:spPr>
        <p:txBody>
          <a:bodyPr anchor="t">
            <a:normAutofit/>
          </a:bodyPr>
          <a:lstStyle/>
          <a:p>
            <a:pPr marL="0" indent="0">
              <a:buNone/>
            </a:pPr>
            <a:r>
              <a:rPr lang="en-IN" sz="2000" b="1" dirty="0"/>
              <a:t>Locators are nothing but the identifications of the elements in application. </a:t>
            </a:r>
          </a:p>
          <a:p>
            <a:pPr marL="0" indent="0">
              <a:buNone/>
            </a:pPr>
            <a:endParaRPr lang="en-IN" sz="2000" b="1" dirty="0"/>
          </a:p>
          <a:p>
            <a:pPr marL="0" indent="0">
              <a:buNone/>
            </a:pPr>
            <a:r>
              <a:rPr lang="en-IN" sz="2000" b="1" dirty="0"/>
              <a:t>Since every product in the world is having some identifications, in the same way every element in the application also having some identifications. </a:t>
            </a:r>
          </a:p>
          <a:p>
            <a:pPr marL="0" indent="0">
              <a:buNone/>
            </a:pPr>
            <a:r>
              <a:rPr lang="en-IN" sz="2000" b="1" dirty="0"/>
              <a:t>These identifications we called as “locators” or “Properties and Values” or “Attributes”</a:t>
            </a:r>
          </a:p>
          <a:p>
            <a:pPr marL="0" indent="0">
              <a:buNone/>
            </a:pPr>
            <a:endParaRPr lang="en-IN" sz="2000" b="1" dirty="0"/>
          </a:p>
          <a:p>
            <a:pPr marL="0" indent="0">
              <a:buNone/>
            </a:pPr>
            <a:endParaRPr lang="en-IN" sz="2000" b="1" dirty="0"/>
          </a:p>
        </p:txBody>
      </p:sp>
    </p:spTree>
    <p:extLst>
      <p:ext uri="{BB962C8B-B14F-4D97-AF65-F5344CB8AC3E}">
        <p14:creationId xmlns:p14="http://schemas.microsoft.com/office/powerpoint/2010/main" val="42638896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1328191" y="779489"/>
            <a:ext cx="7886700" cy="943864"/>
          </a:xfrm>
        </p:spPr>
        <p:txBody>
          <a:bodyPr>
            <a:normAutofit fontScale="90000"/>
          </a:bodyPr>
          <a:lstStyle/>
          <a:p>
            <a:pPr>
              <a:lnSpc>
                <a:spcPct val="90000"/>
              </a:lnSpc>
            </a:pPr>
            <a:r>
              <a:rPr lang="en-IN" b="1" dirty="0"/>
              <a:t>			ELEMENT LOCATORS</a:t>
            </a:r>
            <a:br>
              <a:rPr lang="en-IN" dirty="0"/>
            </a:br>
            <a:endParaRPr lang="en-IN" dirty="0"/>
          </a:p>
        </p:txBody>
      </p:sp>
      <p:sp>
        <p:nvSpPr>
          <p:cNvPr id="3" name="Content Placeholder 2">
            <a:extLst>
              <a:ext uri="{FF2B5EF4-FFF2-40B4-BE49-F238E27FC236}">
                <a16:creationId xmlns:a16="http://schemas.microsoft.com/office/drawing/2014/main" id="{4B1D14F3-4D5A-B79A-54B2-82FAD8A6528E}"/>
              </a:ext>
            </a:extLst>
          </p:cNvPr>
          <p:cNvSpPr>
            <a:spLocks noGrp="1"/>
          </p:cNvSpPr>
          <p:nvPr>
            <p:ph idx="1"/>
          </p:nvPr>
        </p:nvSpPr>
        <p:spPr>
          <a:xfrm>
            <a:off x="2695466" y="2201039"/>
            <a:ext cx="6838277" cy="3899958"/>
          </a:xfrm>
        </p:spPr>
        <p:txBody>
          <a:bodyPr anchor="t">
            <a:noAutofit/>
          </a:bodyPr>
          <a:lstStyle/>
          <a:p>
            <a:pPr marL="0" indent="0">
              <a:buNone/>
            </a:pPr>
            <a:r>
              <a:rPr lang="en-IN" sz="2400" b="1" dirty="0"/>
              <a:t>1. ID</a:t>
            </a:r>
          </a:p>
          <a:p>
            <a:pPr marL="0" indent="0">
              <a:buNone/>
            </a:pPr>
            <a:r>
              <a:rPr lang="en-IN" sz="2400" b="1" dirty="0"/>
              <a:t>2. Name</a:t>
            </a:r>
          </a:p>
          <a:p>
            <a:pPr marL="0" indent="0">
              <a:buNone/>
            </a:pPr>
            <a:r>
              <a:rPr lang="en-IN" sz="2400" b="1" dirty="0"/>
              <a:t>3. Class</a:t>
            </a:r>
          </a:p>
          <a:p>
            <a:pPr marL="0" indent="0">
              <a:buNone/>
            </a:pPr>
            <a:r>
              <a:rPr lang="en-IN" sz="2400" b="1" dirty="0"/>
              <a:t>4. </a:t>
            </a:r>
            <a:r>
              <a:rPr lang="en-IN" sz="2400" b="1" dirty="0" err="1"/>
              <a:t>Tagname</a:t>
            </a:r>
            <a:endParaRPr lang="en-IN" sz="2400" b="1" dirty="0"/>
          </a:p>
          <a:p>
            <a:pPr marL="0" indent="0">
              <a:buNone/>
            </a:pPr>
            <a:r>
              <a:rPr lang="en-IN" sz="2400" b="1" dirty="0"/>
              <a:t>5. </a:t>
            </a:r>
            <a:r>
              <a:rPr lang="en-IN" sz="2400" b="1" dirty="0" err="1"/>
              <a:t>Xpath</a:t>
            </a:r>
            <a:endParaRPr lang="en-IN" sz="2400" b="1" dirty="0"/>
          </a:p>
          <a:p>
            <a:pPr marL="0" indent="0">
              <a:buNone/>
            </a:pPr>
            <a:r>
              <a:rPr lang="en-IN" sz="2400" b="1" dirty="0"/>
              <a:t>6. Link text</a:t>
            </a:r>
          </a:p>
          <a:p>
            <a:pPr marL="0" indent="0">
              <a:buNone/>
            </a:pPr>
            <a:r>
              <a:rPr lang="en-IN" sz="2400" b="1" dirty="0"/>
              <a:t>7. CSS (Cascade style sheets)</a:t>
            </a:r>
          </a:p>
          <a:p>
            <a:pPr marL="0" indent="0">
              <a:buNone/>
            </a:pPr>
            <a:r>
              <a:rPr lang="en-IN" sz="2400" b="1" dirty="0"/>
              <a:t>8. Partial </a:t>
            </a:r>
            <a:r>
              <a:rPr lang="en-IN" sz="2400" b="1"/>
              <a:t>link text </a:t>
            </a:r>
            <a:endParaRPr lang="en-IN" sz="2400" b="1" dirty="0"/>
          </a:p>
          <a:p>
            <a:pPr marL="0" indent="0">
              <a:buNone/>
            </a:pPr>
            <a:endParaRPr lang="en-IN" sz="2400" dirty="0"/>
          </a:p>
        </p:txBody>
      </p:sp>
    </p:spTree>
    <p:extLst>
      <p:ext uri="{BB962C8B-B14F-4D97-AF65-F5344CB8AC3E}">
        <p14:creationId xmlns:p14="http://schemas.microsoft.com/office/powerpoint/2010/main" val="14741191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266950" y="349204"/>
            <a:ext cx="7886700" cy="726281"/>
          </a:xfrm>
        </p:spPr>
        <p:txBody>
          <a:bodyPr>
            <a:normAutofit/>
          </a:bodyPr>
          <a:lstStyle/>
          <a:p>
            <a:pPr>
              <a:lnSpc>
                <a:spcPct val="90000"/>
              </a:lnSpc>
            </a:pPr>
            <a:r>
              <a:rPr lang="en-IN" b="1" dirty="0"/>
              <a:t>			</a:t>
            </a:r>
            <a:r>
              <a:rPr lang="en-IN" b="1" dirty="0" err="1"/>
              <a:t>Xpath</a:t>
            </a:r>
            <a:endParaRPr lang="en-IN" dirty="0"/>
          </a:p>
        </p:txBody>
      </p:sp>
      <p:sp>
        <p:nvSpPr>
          <p:cNvPr id="7" name="Title 1">
            <a:extLst>
              <a:ext uri="{FF2B5EF4-FFF2-40B4-BE49-F238E27FC236}">
                <a16:creationId xmlns:a16="http://schemas.microsoft.com/office/drawing/2014/main" id="{2C3A6865-147D-3EE9-5DEC-D9BBC248A5BE}"/>
              </a:ext>
            </a:extLst>
          </p:cNvPr>
          <p:cNvSpPr>
            <a:spLocks noGrp="1"/>
          </p:cNvSpPr>
          <p:nvPr>
            <p:ph idx="1"/>
          </p:nvPr>
        </p:nvSpPr>
        <p:spPr>
          <a:xfrm>
            <a:off x="1088036" y="1388638"/>
            <a:ext cx="9065614" cy="4862260"/>
          </a:xfrm>
        </p:spPr>
        <p:txBody>
          <a:bodyPr>
            <a:noAutofit/>
          </a:bodyPr>
          <a:lstStyle/>
          <a:p>
            <a:r>
              <a:rPr lang="en-IN" sz="2400" b="1" dirty="0"/>
              <a:t>XPath is defined as XML Path</a:t>
            </a:r>
          </a:p>
          <a:p>
            <a:pPr marL="85725" indent="0">
              <a:buNone/>
              <a:tabLst>
                <a:tab pos="2489597" algn="l"/>
              </a:tabLst>
            </a:pPr>
            <a:endParaRPr lang="en-IN" sz="2400" b="1" dirty="0"/>
          </a:p>
          <a:p>
            <a:r>
              <a:rPr lang="en-IN" sz="2400" b="1" dirty="0"/>
              <a:t>XPath is unique locator of the element in application</a:t>
            </a:r>
          </a:p>
          <a:p>
            <a:pPr marL="85725" indent="0">
              <a:buNone/>
            </a:pPr>
            <a:endParaRPr lang="en-IN" sz="2400" b="1" dirty="0"/>
          </a:p>
          <a:p>
            <a:r>
              <a:rPr lang="en-IN" sz="2400" b="1" dirty="0" err="1"/>
              <a:t>Xpath</a:t>
            </a:r>
            <a:r>
              <a:rPr lang="en-IN" sz="2400" b="1" dirty="0"/>
              <a:t> is a syntax or language for finding any element on the web page using XML path expression</a:t>
            </a:r>
          </a:p>
          <a:p>
            <a:pPr marL="85725" indent="0">
              <a:buNone/>
            </a:pPr>
            <a:endParaRPr lang="en-IN" sz="2400" b="1" dirty="0"/>
          </a:p>
          <a:p>
            <a:r>
              <a:rPr lang="en-IN" sz="2400" b="1" dirty="0" err="1"/>
              <a:t>Xpath</a:t>
            </a:r>
            <a:r>
              <a:rPr lang="en-IN" sz="2400" b="1" dirty="0"/>
              <a:t> is used to  find out the location of element on a webpage using HTML DOM Structure.</a:t>
            </a:r>
          </a:p>
          <a:p>
            <a:endParaRPr lang="en-IN" sz="2400" b="1" u="sng" dirty="0"/>
          </a:p>
        </p:txBody>
      </p:sp>
    </p:spTree>
    <p:extLst>
      <p:ext uri="{BB962C8B-B14F-4D97-AF65-F5344CB8AC3E}">
        <p14:creationId xmlns:p14="http://schemas.microsoft.com/office/powerpoint/2010/main" val="13702388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090738" y="580066"/>
            <a:ext cx="7886700" cy="322420"/>
          </a:xfrm>
        </p:spPr>
        <p:txBody>
          <a:bodyPr>
            <a:normAutofit fontScale="90000"/>
          </a:bodyPr>
          <a:lstStyle/>
          <a:p>
            <a:pPr>
              <a:lnSpc>
                <a:spcPct val="90000"/>
              </a:lnSpc>
            </a:pPr>
            <a:r>
              <a:rPr lang="en-IN" b="1" dirty="0"/>
              <a:t>	        Types of XPath</a:t>
            </a:r>
            <a:endParaRPr lang="en-IN" dirty="0"/>
          </a:p>
        </p:txBody>
      </p:sp>
      <p:sp>
        <p:nvSpPr>
          <p:cNvPr id="7" name="Title 1">
            <a:extLst>
              <a:ext uri="{FF2B5EF4-FFF2-40B4-BE49-F238E27FC236}">
                <a16:creationId xmlns:a16="http://schemas.microsoft.com/office/drawing/2014/main" id="{2C3A6865-147D-3EE9-5DEC-D9BBC248A5BE}"/>
              </a:ext>
            </a:extLst>
          </p:cNvPr>
          <p:cNvSpPr>
            <a:spLocks noGrp="1"/>
          </p:cNvSpPr>
          <p:nvPr>
            <p:ph idx="1"/>
          </p:nvPr>
        </p:nvSpPr>
        <p:spPr>
          <a:xfrm>
            <a:off x="2695576" y="2201468"/>
            <a:ext cx="6677025" cy="2925365"/>
          </a:xfrm>
        </p:spPr>
        <p:txBody>
          <a:bodyPr>
            <a:normAutofit/>
          </a:bodyPr>
          <a:lstStyle/>
          <a:p>
            <a:pPr marL="85725" indent="0">
              <a:buNone/>
            </a:pPr>
            <a:r>
              <a:rPr lang="en-IN" sz="2400" b="1" dirty="0"/>
              <a:t>There are two types of XPath:</a:t>
            </a:r>
          </a:p>
          <a:p>
            <a:pPr marL="85725" indent="0">
              <a:buNone/>
            </a:pPr>
            <a:endParaRPr lang="en-IN" sz="2400" b="1" dirty="0"/>
          </a:p>
          <a:p>
            <a:pPr>
              <a:buAutoNum type="arabicPeriod"/>
            </a:pPr>
            <a:r>
              <a:rPr lang="en-IN" sz="2400" b="1" dirty="0"/>
              <a:t>Absolute XPath</a:t>
            </a:r>
          </a:p>
          <a:p>
            <a:pPr>
              <a:buAutoNum type="arabicPeriod"/>
            </a:pPr>
            <a:endParaRPr lang="en-IN" sz="2400" b="1" dirty="0"/>
          </a:p>
          <a:p>
            <a:pPr>
              <a:buAutoNum type="arabicPeriod"/>
            </a:pPr>
            <a:r>
              <a:rPr lang="en-IN" sz="2400" b="1" dirty="0"/>
              <a:t>Relative XPath</a:t>
            </a:r>
          </a:p>
        </p:txBody>
      </p:sp>
    </p:spTree>
    <p:extLst>
      <p:ext uri="{BB962C8B-B14F-4D97-AF65-F5344CB8AC3E}">
        <p14:creationId xmlns:p14="http://schemas.microsoft.com/office/powerpoint/2010/main" val="18388174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090738" y="411224"/>
            <a:ext cx="7886700" cy="726281"/>
          </a:xfrm>
        </p:spPr>
        <p:txBody>
          <a:bodyPr>
            <a:normAutofit/>
          </a:bodyPr>
          <a:lstStyle/>
          <a:p>
            <a:pPr>
              <a:lnSpc>
                <a:spcPct val="90000"/>
              </a:lnSpc>
            </a:pPr>
            <a:r>
              <a:rPr lang="en-IN" b="1" dirty="0"/>
              <a:t>		Types</a:t>
            </a:r>
            <a:r>
              <a:rPr lang="en-IN" b="1" u="sng" dirty="0"/>
              <a:t> </a:t>
            </a:r>
            <a:r>
              <a:rPr lang="en-IN" b="1" dirty="0"/>
              <a:t>of XPath</a:t>
            </a:r>
            <a:endParaRPr lang="en-IN" dirty="0"/>
          </a:p>
        </p:txBody>
      </p:sp>
      <p:sp>
        <p:nvSpPr>
          <p:cNvPr id="7" name="Title 1">
            <a:extLst>
              <a:ext uri="{FF2B5EF4-FFF2-40B4-BE49-F238E27FC236}">
                <a16:creationId xmlns:a16="http://schemas.microsoft.com/office/drawing/2014/main" id="{2C3A6865-147D-3EE9-5DEC-D9BBC248A5BE}"/>
              </a:ext>
            </a:extLst>
          </p:cNvPr>
          <p:cNvSpPr>
            <a:spLocks noGrp="1"/>
          </p:cNvSpPr>
          <p:nvPr>
            <p:ph idx="1"/>
          </p:nvPr>
        </p:nvSpPr>
        <p:spPr>
          <a:xfrm>
            <a:off x="947815" y="1406991"/>
            <a:ext cx="9710192" cy="4798938"/>
          </a:xfrm>
        </p:spPr>
        <p:txBody>
          <a:bodyPr>
            <a:noAutofit/>
          </a:bodyPr>
          <a:lstStyle/>
          <a:p>
            <a:pPr marL="85725" indent="0">
              <a:buNone/>
            </a:pPr>
            <a:r>
              <a:rPr lang="en-IN" sz="2000" b="1" u="sng" dirty="0"/>
              <a:t>Absolute XPath</a:t>
            </a:r>
            <a:br>
              <a:rPr lang="en-IN" sz="2000" b="1" dirty="0"/>
            </a:br>
            <a:endParaRPr lang="en-IN" sz="2000" b="1" dirty="0"/>
          </a:p>
          <a:p>
            <a:r>
              <a:rPr lang="en-IN" sz="2000" dirty="0"/>
              <a:t>Identify the exact location of the element in HTML page from html tag to till the element.</a:t>
            </a:r>
          </a:p>
          <a:p>
            <a:r>
              <a:rPr lang="en-IN" sz="2000" dirty="0"/>
              <a:t>It begins with forward slash (/), which means you can select the element from the root node</a:t>
            </a:r>
          </a:p>
          <a:p>
            <a:r>
              <a:rPr lang="en-IN" sz="2000" dirty="0"/>
              <a:t>Below is the example of Absolute </a:t>
            </a:r>
            <a:r>
              <a:rPr lang="en-IN" sz="2000" dirty="0" err="1"/>
              <a:t>Xpath</a:t>
            </a:r>
            <a:r>
              <a:rPr lang="en-IN" sz="2000" dirty="0"/>
              <a:t> expression of the element.</a:t>
            </a:r>
          </a:p>
          <a:p>
            <a:endParaRPr lang="en-IN" sz="2000" dirty="0"/>
          </a:p>
          <a:p>
            <a:r>
              <a:rPr lang="en-IN" sz="2000" dirty="0"/>
              <a:t>Ex. /html/body/div[1]/div[2]/div[1]/div/div/div/div[2]/div/div[1]/form/div[1]/div[1]</a:t>
            </a:r>
          </a:p>
          <a:p>
            <a:pPr marL="85725" indent="0">
              <a:buNone/>
            </a:pPr>
            <a:endParaRPr lang="en-IN" sz="2000" dirty="0"/>
          </a:p>
        </p:txBody>
      </p:sp>
    </p:spTree>
    <p:extLst>
      <p:ext uri="{BB962C8B-B14F-4D97-AF65-F5344CB8AC3E}">
        <p14:creationId xmlns:p14="http://schemas.microsoft.com/office/powerpoint/2010/main" val="11115292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266950" y="335404"/>
            <a:ext cx="7886700" cy="726281"/>
          </a:xfrm>
        </p:spPr>
        <p:txBody>
          <a:bodyPr>
            <a:normAutofit/>
          </a:bodyPr>
          <a:lstStyle/>
          <a:p>
            <a:pPr>
              <a:lnSpc>
                <a:spcPct val="90000"/>
              </a:lnSpc>
            </a:pPr>
            <a:r>
              <a:rPr lang="en-IN" b="1" dirty="0"/>
              <a:t>		</a:t>
            </a:r>
            <a:r>
              <a:rPr lang="en-IN" b="1" u="sng" dirty="0"/>
              <a:t>Types of XPath</a:t>
            </a:r>
            <a:endParaRPr lang="en-IN" dirty="0"/>
          </a:p>
        </p:txBody>
      </p:sp>
      <p:sp>
        <p:nvSpPr>
          <p:cNvPr id="7" name="Title 1">
            <a:extLst>
              <a:ext uri="{FF2B5EF4-FFF2-40B4-BE49-F238E27FC236}">
                <a16:creationId xmlns:a16="http://schemas.microsoft.com/office/drawing/2014/main" id="{2C3A6865-147D-3EE9-5DEC-D9BBC248A5BE}"/>
              </a:ext>
            </a:extLst>
          </p:cNvPr>
          <p:cNvSpPr>
            <a:spLocks noGrp="1"/>
          </p:cNvSpPr>
          <p:nvPr>
            <p:ph idx="1"/>
          </p:nvPr>
        </p:nvSpPr>
        <p:spPr>
          <a:xfrm>
            <a:off x="1763686" y="1391999"/>
            <a:ext cx="8664627" cy="4875764"/>
          </a:xfrm>
        </p:spPr>
        <p:txBody>
          <a:bodyPr>
            <a:normAutofit/>
          </a:bodyPr>
          <a:lstStyle/>
          <a:p>
            <a:pPr marL="85725" indent="0">
              <a:buNone/>
            </a:pPr>
            <a:r>
              <a:rPr lang="en-IN" sz="2000" b="1" u="sng" dirty="0"/>
              <a:t>Relative  XPath</a:t>
            </a:r>
            <a:br>
              <a:rPr lang="en-IN" sz="2000" b="1" dirty="0"/>
            </a:br>
            <a:endParaRPr lang="en-IN" sz="2000" b="1" dirty="0"/>
          </a:p>
          <a:p>
            <a:r>
              <a:rPr lang="en-IN" sz="2000" dirty="0"/>
              <a:t>Relative XPath find out the element based on the unique locators</a:t>
            </a:r>
          </a:p>
          <a:p>
            <a:r>
              <a:rPr lang="en-IN" sz="2000" dirty="0"/>
              <a:t>For Relative </a:t>
            </a:r>
            <a:r>
              <a:rPr lang="en-IN" sz="2000" dirty="0" err="1"/>
              <a:t>Xpath</a:t>
            </a:r>
            <a:r>
              <a:rPr lang="en-IN" sz="2000" dirty="0"/>
              <a:t> path starts from the middle of the HTML DOM Structure</a:t>
            </a:r>
          </a:p>
          <a:p>
            <a:r>
              <a:rPr lang="en-IN" sz="2000" dirty="0"/>
              <a:t>It start with double forward slash (//) which means it can search the element anywhere at the webpage.</a:t>
            </a:r>
          </a:p>
          <a:p>
            <a:r>
              <a:rPr lang="en-IN" sz="2000" dirty="0"/>
              <a:t>Below is the example of Relative </a:t>
            </a:r>
            <a:r>
              <a:rPr lang="en-IN" sz="2000" dirty="0" err="1"/>
              <a:t>Xpath</a:t>
            </a:r>
            <a:r>
              <a:rPr lang="en-IN" sz="2000" dirty="0"/>
              <a:t> expression of the element.</a:t>
            </a:r>
          </a:p>
          <a:p>
            <a:endParaRPr lang="en-IN" sz="2000" dirty="0"/>
          </a:p>
          <a:p>
            <a:r>
              <a:rPr lang="en-IN" sz="2000" dirty="0"/>
              <a:t>  Syntax: //</a:t>
            </a:r>
            <a:r>
              <a:rPr lang="en-IN" sz="2000" dirty="0" err="1"/>
              <a:t>Tagname</a:t>
            </a:r>
            <a:r>
              <a:rPr lang="en-IN" sz="2000" dirty="0"/>
              <a:t>[@locator=‘value’]</a:t>
            </a:r>
          </a:p>
          <a:p>
            <a:r>
              <a:rPr lang="en-IN" sz="2000" dirty="0"/>
              <a:t>  Ex: //input[@name=‘username’]</a:t>
            </a:r>
          </a:p>
          <a:p>
            <a:pPr marL="85725" indent="0">
              <a:buNone/>
            </a:pPr>
            <a:endParaRPr lang="en-IN" sz="2000" dirty="0"/>
          </a:p>
        </p:txBody>
      </p:sp>
    </p:spTree>
    <p:extLst>
      <p:ext uri="{BB962C8B-B14F-4D97-AF65-F5344CB8AC3E}">
        <p14:creationId xmlns:p14="http://schemas.microsoft.com/office/powerpoint/2010/main" val="32345709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266950" y="271924"/>
            <a:ext cx="7886700" cy="550794"/>
          </a:xfrm>
        </p:spPr>
        <p:txBody>
          <a:bodyPr>
            <a:normAutofit fontScale="90000"/>
          </a:bodyPr>
          <a:lstStyle/>
          <a:p>
            <a:pPr>
              <a:lnSpc>
                <a:spcPct val="90000"/>
              </a:lnSpc>
            </a:pPr>
            <a:r>
              <a:rPr lang="en-IN" b="1" dirty="0"/>
              <a:t>	           Types of XPath</a:t>
            </a:r>
            <a:endParaRPr lang="en-IN" dirty="0"/>
          </a:p>
        </p:txBody>
      </p:sp>
      <p:pic>
        <p:nvPicPr>
          <p:cNvPr id="10" name="Picture 9">
            <a:extLst>
              <a:ext uri="{FF2B5EF4-FFF2-40B4-BE49-F238E27FC236}">
                <a16:creationId xmlns:a16="http://schemas.microsoft.com/office/drawing/2014/main" id="{E3DC9054-65DC-17F1-85B8-D6846DABC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8350" y="1636793"/>
            <a:ext cx="8244901" cy="4644085"/>
          </a:xfrm>
          <a:prstGeom prst="rect">
            <a:avLst/>
          </a:prstGeom>
        </p:spPr>
      </p:pic>
    </p:spTree>
    <p:extLst>
      <p:ext uri="{BB962C8B-B14F-4D97-AF65-F5344CB8AC3E}">
        <p14:creationId xmlns:p14="http://schemas.microsoft.com/office/powerpoint/2010/main" val="1904182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805758"/>
            <a:ext cx="7886700" cy="726281"/>
          </a:xfrm>
        </p:spPr>
        <p:txBody>
          <a:bodyPr>
            <a:normAutofit/>
          </a:bodyPr>
          <a:lstStyle/>
          <a:p>
            <a:pPr>
              <a:lnSpc>
                <a:spcPct val="90000"/>
              </a:lnSpc>
            </a:pPr>
            <a:r>
              <a:rPr lang="en-IN" b="1" dirty="0"/>
              <a:t>		</a:t>
            </a:r>
            <a:r>
              <a:rPr lang="en-IN" b="1" u="sng" dirty="0"/>
              <a:t>Types of XPath</a:t>
            </a:r>
            <a:endParaRPr lang="en-IN" dirty="0"/>
          </a:p>
        </p:txBody>
      </p:sp>
      <p:pic>
        <p:nvPicPr>
          <p:cNvPr id="3" name="Picture 2">
            <a:extLst>
              <a:ext uri="{FF2B5EF4-FFF2-40B4-BE49-F238E27FC236}">
                <a16:creationId xmlns:a16="http://schemas.microsoft.com/office/drawing/2014/main" id="{A253E73F-35BE-A721-CE52-F48406313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8350" y="2043709"/>
            <a:ext cx="7408755" cy="3857624"/>
          </a:xfrm>
          <a:prstGeom prst="rect">
            <a:avLst/>
          </a:prstGeom>
        </p:spPr>
      </p:pic>
    </p:spTree>
    <p:extLst>
      <p:ext uri="{BB962C8B-B14F-4D97-AF65-F5344CB8AC3E}">
        <p14:creationId xmlns:p14="http://schemas.microsoft.com/office/powerpoint/2010/main" val="4498938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361576" y="418855"/>
            <a:ext cx="7886700" cy="726281"/>
          </a:xfrm>
        </p:spPr>
        <p:txBody>
          <a:bodyPr>
            <a:normAutofit/>
          </a:bodyPr>
          <a:lstStyle/>
          <a:p>
            <a:pPr>
              <a:lnSpc>
                <a:spcPct val="90000"/>
              </a:lnSpc>
            </a:pPr>
            <a:r>
              <a:rPr lang="en-IN" b="1" dirty="0"/>
              <a:t>		Types</a:t>
            </a:r>
            <a:r>
              <a:rPr lang="en-IN" b="1" u="sng" dirty="0"/>
              <a:t> </a:t>
            </a:r>
            <a:r>
              <a:rPr lang="en-IN" b="1" dirty="0"/>
              <a:t>of XPath</a:t>
            </a:r>
            <a:endParaRPr lang="en-IN" dirty="0"/>
          </a:p>
        </p:txBody>
      </p:sp>
      <p:pic>
        <p:nvPicPr>
          <p:cNvPr id="7" name="Picture 6">
            <a:extLst>
              <a:ext uri="{FF2B5EF4-FFF2-40B4-BE49-F238E27FC236}">
                <a16:creationId xmlns:a16="http://schemas.microsoft.com/office/drawing/2014/main" id="{0F5A4E2E-6EC5-111C-1CDC-E7E41E7E80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4143" y="1424066"/>
            <a:ext cx="9368853" cy="4886793"/>
          </a:xfrm>
          <a:prstGeom prst="rect">
            <a:avLst/>
          </a:prstGeom>
        </p:spPr>
      </p:pic>
    </p:spTree>
    <p:extLst>
      <p:ext uri="{BB962C8B-B14F-4D97-AF65-F5344CB8AC3E}">
        <p14:creationId xmlns:p14="http://schemas.microsoft.com/office/powerpoint/2010/main" val="27337499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392492" y="689011"/>
            <a:ext cx="7886700" cy="726281"/>
          </a:xfrm>
        </p:spPr>
        <p:txBody>
          <a:bodyPr>
            <a:normAutofit/>
          </a:bodyPr>
          <a:lstStyle/>
          <a:p>
            <a:pPr>
              <a:lnSpc>
                <a:spcPct val="90000"/>
              </a:lnSpc>
            </a:pPr>
            <a:r>
              <a:rPr lang="en-IN" b="1" dirty="0"/>
              <a:t>		Types of XPath</a:t>
            </a:r>
            <a:endParaRPr lang="en-IN" dirty="0"/>
          </a:p>
        </p:txBody>
      </p:sp>
      <p:graphicFrame>
        <p:nvGraphicFramePr>
          <p:cNvPr id="3" name="Table 2">
            <a:extLst>
              <a:ext uri="{FF2B5EF4-FFF2-40B4-BE49-F238E27FC236}">
                <a16:creationId xmlns:a16="http://schemas.microsoft.com/office/drawing/2014/main" id="{20BF66E5-14DF-84DE-ECD3-5890B360FCAA}"/>
              </a:ext>
            </a:extLst>
          </p:cNvPr>
          <p:cNvGraphicFramePr>
            <a:graphicFrameLocks noGrp="1"/>
          </p:cNvGraphicFramePr>
          <p:nvPr>
            <p:extLst>
              <p:ext uri="{D42A27DB-BD31-4B8C-83A1-F6EECF244321}">
                <p14:modId xmlns:p14="http://schemas.microsoft.com/office/powerpoint/2010/main" val="428039606"/>
              </p:ext>
            </p:extLst>
          </p:nvPr>
        </p:nvGraphicFramePr>
        <p:xfrm>
          <a:off x="2266950" y="1668084"/>
          <a:ext cx="8286125" cy="4788523"/>
        </p:xfrm>
        <a:graphic>
          <a:graphicData uri="http://schemas.openxmlformats.org/drawingml/2006/table">
            <a:tbl>
              <a:tblPr firstRow="1" bandRow="1">
                <a:noFill/>
              </a:tblPr>
              <a:tblGrid>
                <a:gridCol w="4172364">
                  <a:extLst>
                    <a:ext uri="{9D8B030D-6E8A-4147-A177-3AD203B41FA5}">
                      <a16:colId xmlns:a16="http://schemas.microsoft.com/office/drawing/2014/main" val="1321754702"/>
                    </a:ext>
                  </a:extLst>
                </a:gridCol>
                <a:gridCol w="4113761">
                  <a:extLst>
                    <a:ext uri="{9D8B030D-6E8A-4147-A177-3AD203B41FA5}">
                      <a16:colId xmlns:a16="http://schemas.microsoft.com/office/drawing/2014/main" val="1400453401"/>
                    </a:ext>
                  </a:extLst>
                </a:gridCol>
              </a:tblGrid>
              <a:tr h="503983">
                <a:tc>
                  <a:txBody>
                    <a:bodyPr/>
                    <a:lstStyle/>
                    <a:p>
                      <a:pPr marL="0" marR="0" lvl="0" indent="0" algn="ctr" rtl="0">
                        <a:lnSpc>
                          <a:spcPct val="100000"/>
                        </a:lnSpc>
                        <a:spcBef>
                          <a:spcPts val="0"/>
                        </a:spcBef>
                        <a:spcAft>
                          <a:spcPts val="0"/>
                        </a:spcAft>
                        <a:buNone/>
                      </a:pPr>
                      <a:r>
                        <a:rPr lang="en-IN" sz="2000" u="none" strike="noStrike" cap="none" dirty="0">
                          <a:solidFill>
                            <a:schemeClr val="tx1"/>
                          </a:solidFill>
                          <a:latin typeface="+mn-lt"/>
                          <a:ea typeface="Fira Sans"/>
                          <a:cs typeface="Fira Sans"/>
                          <a:sym typeface="Fira Sans"/>
                        </a:rPr>
                        <a:t>Absolute</a:t>
                      </a:r>
                      <a:r>
                        <a:rPr lang="en-IN" sz="2000" u="none" strike="noStrike" cap="none" baseline="0" dirty="0">
                          <a:solidFill>
                            <a:schemeClr val="tx1"/>
                          </a:solidFill>
                          <a:latin typeface="+mn-lt"/>
                          <a:ea typeface="Fira Sans"/>
                          <a:cs typeface="Fira Sans"/>
                          <a:sym typeface="Fira Sans"/>
                        </a:rPr>
                        <a:t> XPath</a:t>
                      </a:r>
                      <a:endParaRPr sz="2000" u="none" strike="noStrike" cap="none" dirty="0">
                        <a:solidFill>
                          <a:schemeClr val="tx1"/>
                        </a:solidFill>
                        <a:latin typeface="+mn-lt"/>
                        <a:ea typeface="Fira Sans"/>
                        <a:cs typeface="Fira Sans"/>
                        <a:sym typeface="Fira Sans"/>
                      </a:endParaRPr>
                    </a:p>
                  </a:txBody>
                  <a:tcPr marL="68588" marR="68588" marT="34294" marB="34294">
                    <a:lnR w="9525" cap="flat" cmpd="sng">
                      <a:solidFill>
                        <a:srgbClr val="000000"/>
                      </a:solidFill>
                      <a:prstDash val="solid"/>
                      <a:round/>
                      <a:headEnd type="none" w="sm" len="sm"/>
                      <a:tailEnd type="none" w="sm" len="sm"/>
                    </a:lnR>
                    <a:solidFill>
                      <a:srgbClr val="64E688"/>
                    </a:solidFill>
                  </a:tcPr>
                </a:tc>
                <a:tc>
                  <a:txBody>
                    <a:bodyPr/>
                    <a:lstStyle/>
                    <a:p>
                      <a:pPr marL="0" marR="0" lvl="0" indent="0" algn="ctr" rtl="0">
                        <a:lnSpc>
                          <a:spcPct val="100000"/>
                        </a:lnSpc>
                        <a:spcBef>
                          <a:spcPts val="0"/>
                        </a:spcBef>
                        <a:spcAft>
                          <a:spcPts val="0"/>
                        </a:spcAft>
                        <a:buNone/>
                      </a:pPr>
                      <a:r>
                        <a:rPr lang="en-IN" sz="2000" u="none" strike="noStrike" cap="none" dirty="0">
                          <a:solidFill>
                            <a:schemeClr val="tx1"/>
                          </a:solidFill>
                          <a:latin typeface="+mn-lt"/>
                          <a:ea typeface="Fira Sans"/>
                          <a:cs typeface="Fira Sans"/>
                          <a:sym typeface="Fira Sans"/>
                        </a:rPr>
                        <a:t>Relative</a:t>
                      </a:r>
                      <a:r>
                        <a:rPr lang="en-IN" sz="2000" u="none" strike="noStrike" cap="none" baseline="0" dirty="0">
                          <a:solidFill>
                            <a:schemeClr val="tx1"/>
                          </a:solidFill>
                          <a:latin typeface="+mn-lt"/>
                          <a:ea typeface="Fira Sans"/>
                          <a:cs typeface="Fira Sans"/>
                          <a:sym typeface="Fira Sans"/>
                        </a:rPr>
                        <a:t> XPath</a:t>
                      </a:r>
                      <a:endParaRPr sz="2000" u="none" strike="noStrike" cap="none" dirty="0">
                        <a:solidFill>
                          <a:schemeClr val="tx1"/>
                        </a:solidFill>
                        <a:latin typeface="+mn-lt"/>
                        <a:ea typeface="Fira Sans"/>
                        <a:cs typeface="Fira Sans"/>
                        <a:sym typeface="Fira Sans"/>
                      </a:endParaRPr>
                    </a:p>
                  </a:txBody>
                  <a:tcPr marL="68588" marR="68588" marT="34294" marB="34294">
                    <a:lnL w="9525" cap="flat" cmpd="sng">
                      <a:solidFill>
                        <a:srgbClr val="000000"/>
                      </a:solidFill>
                      <a:prstDash val="solid"/>
                      <a:round/>
                      <a:headEnd type="none" w="sm" len="sm"/>
                      <a:tailEnd type="none" w="sm" len="sm"/>
                    </a:lnL>
                    <a:solidFill>
                      <a:srgbClr val="64E688"/>
                    </a:solidFill>
                  </a:tcPr>
                </a:tc>
                <a:extLst>
                  <a:ext uri="{0D108BD9-81ED-4DB2-BD59-A6C34878D82A}">
                    <a16:rowId xmlns:a16="http://schemas.microsoft.com/office/drawing/2014/main" val="3505293719"/>
                  </a:ext>
                </a:extLst>
              </a:tr>
              <a:tr h="962135">
                <a:tc>
                  <a: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Fira Sans"/>
                        <a:buAutoNum type="arabicPeriod"/>
                        <a:tabLst/>
                        <a:defRPr/>
                      </a:pPr>
                      <a:r>
                        <a:rPr lang="en-IN" sz="2000" dirty="0">
                          <a:solidFill>
                            <a:schemeClr val="tx1"/>
                          </a:solidFill>
                          <a:latin typeface="+mn-lt"/>
                        </a:rPr>
                        <a:t>Identify the exact location of the element in HTML page from html tag to till the element.</a:t>
                      </a:r>
                    </a:p>
                    <a:p>
                      <a:pPr marL="457200" marR="0" lvl="0" indent="-317500" algn="l" rtl="0">
                        <a:lnSpc>
                          <a:spcPct val="100000"/>
                        </a:lnSpc>
                        <a:spcBef>
                          <a:spcPts val="0"/>
                        </a:spcBef>
                        <a:spcAft>
                          <a:spcPts val="0"/>
                        </a:spcAft>
                        <a:buSzPts val="1400"/>
                        <a:buFont typeface="Fira Sans"/>
                        <a:buAutoNum type="arabicPeriod"/>
                      </a:pPr>
                      <a:endParaRPr sz="2000" dirty="0">
                        <a:solidFill>
                          <a:schemeClr val="tx1"/>
                        </a:solidFill>
                        <a:latin typeface="+mn-lt"/>
                        <a:ea typeface="Fira Sans"/>
                        <a:cs typeface="Fira Sans"/>
                        <a:sym typeface="Fira Sans"/>
                      </a:endParaRPr>
                    </a:p>
                  </a:txBody>
                  <a:tcPr marL="68588" marR="68588" marT="34294" marB="34294">
                    <a:lnR w="9525" cap="flat" cmpd="sng">
                      <a:solidFill>
                        <a:srgbClr val="000000"/>
                      </a:solidFill>
                      <a:prstDash val="solid"/>
                      <a:round/>
                      <a:headEnd type="none" w="sm" len="sm"/>
                      <a:tailEnd type="none" w="sm" len="sm"/>
                    </a:lnR>
                  </a:tcPr>
                </a:tc>
                <a:tc>
                  <a: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Fira Sans"/>
                        <a:buAutoNum type="arabicPeriod"/>
                        <a:tabLst/>
                        <a:defRPr/>
                      </a:pPr>
                      <a:r>
                        <a:rPr lang="en-IN" sz="2000" dirty="0">
                          <a:solidFill>
                            <a:schemeClr val="tx1"/>
                          </a:solidFill>
                          <a:latin typeface="+mn-lt"/>
                        </a:rPr>
                        <a:t>Relative XPath find out the element based on the unique locators</a:t>
                      </a:r>
                    </a:p>
                    <a:p>
                      <a:pPr marL="457200" marR="0" lvl="0" indent="-317500" algn="l" rtl="0">
                        <a:lnSpc>
                          <a:spcPct val="100000"/>
                        </a:lnSpc>
                        <a:spcBef>
                          <a:spcPts val="0"/>
                        </a:spcBef>
                        <a:spcAft>
                          <a:spcPts val="0"/>
                        </a:spcAft>
                        <a:buSzPts val="1400"/>
                        <a:buFont typeface="Fira Sans"/>
                        <a:buAutoNum type="arabicPeriod"/>
                      </a:pPr>
                      <a:endParaRPr sz="2000" dirty="0">
                        <a:solidFill>
                          <a:schemeClr val="tx1"/>
                        </a:solidFill>
                        <a:latin typeface="+mn-lt"/>
                        <a:ea typeface="Fira Sans"/>
                        <a:cs typeface="Fira Sans"/>
                        <a:sym typeface="Fira Sans"/>
                      </a:endParaRPr>
                    </a:p>
                  </a:txBody>
                  <a:tcPr marL="68588" marR="68588" marT="34294" marB="34294">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663767469"/>
                  </a:ext>
                </a:extLst>
              </a:tr>
              <a:tr h="652059">
                <a:tc>
                  <a:txBody>
                    <a:bodyPr/>
                    <a:lstStyle/>
                    <a:p>
                      <a:pPr marL="457200" lvl="0" indent="-317500" algn="l" rtl="0">
                        <a:spcBef>
                          <a:spcPts val="0"/>
                        </a:spcBef>
                        <a:spcAft>
                          <a:spcPts val="0"/>
                        </a:spcAft>
                        <a:buClr>
                          <a:schemeClr val="dk1"/>
                        </a:buClr>
                        <a:buSzPts val="1400"/>
                        <a:buFont typeface="Fira Sans"/>
                        <a:buAutoNum type="arabicPeriod" startAt="2"/>
                      </a:pPr>
                      <a:r>
                        <a:rPr lang="en-IN" sz="2000" dirty="0">
                          <a:solidFill>
                            <a:schemeClr val="tx1"/>
                          </a:solidFill>
                          <a:latin typeface="+mn-lt"/>
                        </a:rPr>
                        <a:t>It begins with forward slash (/)</a:t>
                      </a:r>
                      <a:endParaRPr sz="2000" dirty="0">
                        <a:solidFill>
                          <a:schemeClr val="tx1"/>
                        </a:solidFill>
                        <a:latin typeface="+mn-lt"/>
                        <a:ea typeface="Fira Sans"/>
                        <a:cs typeface="Fira Sans"/>
                        <a:sym typeface="Fira Sans"/>
                      </a:endParaRPr>
                    </a:p>
                  </a:txBody>
                  <a:tcPr marL="68588" marR="68588" marT="34294" marB="34294">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2"/>
                      </a:pPr>
                      <a:r>
                        <a:rPr lang="en-IN" sz="2000" dirty="0">
                          <a:solidFill>
                            <a:schemeClr val="tx1"/>
                          </a:solidFill>
                          <a:latin typeface="+mn-lt"/>
                        </a:rPr>
                        <a:t>It start with double forward slash (//) </a:t>
                      </a:r>
                      <a:endParaRPr sz="2000" dirty="0">
                        <a:solidFill>
                          <a:schemeClr val="tx1"/>
                        </a:solidFill>
                        <a:latin typeface="+mn-lt"/>
                        <a:ea typeface="Fira Sans"/>
                        <a:cs typeface="Fira Sans"/>
                        <a:sym typeface="Fira Sans"/>
                      </a:endParaRPr>
                    </a:p>
                  </a:txBody>
                  <a:tcPr marL="68588" marR="68588" marT="34294" marB="34294">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023421151"/>
                  </a:ext>
                </a:extLst>
              </a:tr>
              <a:tr h="725976">
                <a:tc>
                  <a:txBody>
                    <a:bodyPr/>
                    <a:lstStyle/>
                    <a:p>
                      <a:pPr marL="457200" lvl="0" indent="-317500" algn="l" rtl="0">
                        <a:spcBef>
                          <a:spcPts val="0"/>
                        </a:spcBef>
                        <a:spcAft>
                          <a:spcPts val="0"/>
                        </a:spcAft>
                        <a:buClr>
                          <a:schemeClr val="dk1"/>
                        </a:buClr>
                        <a:buSzPts val="1400"/>
                        <a:buFont typeface="Fira Sans"/>
                        <a:buAutoNum type="arabicPeriod" startAt="3"/>
                      </a:pPr>
                      <a:r>
                        <a:rPr lang="en-IN" sz="2000" dirty="0">
                          <a:solidFill>
                            <a:schemeClr val="tx1"/>
                          </a:solidFill>
                          <a:latin typeface="+mn-lt"/>
                          <a:ea typeface="Fira Sans"/>
                          <a:cs typeface="Fira Sans"/>
                          <a:sym typeface="Fira Sans"/>
                        </a:rPr>
                        <a:t>Not</a:t>
                      </a:r>
                      <a:r>
                        <a:rPr lang="en-IN" sz="2000" baseline="0" dirty="0">
                          <a:solidFill>
                            <a:schemeClr val="tx1"/>
                          </a:solidFill>
                          <a:latin typeface="+mn-lt"/>
                          <a:ea typeface="Fira Sans"/>
                          <a:cs typeface="Fira Sans"/>
                          <a:sym typeface="Fira Sans"/>
                        </a:rPr>
                        <a:t> preferable in real time project.</a:t>
                      </a:r>
                      <a:endParaRPr sz="2000" dirty="0">
                        <a:solidFill>
                          <a:schemeClr val="tx1"/>
                        </a:solidFill>
                        <a:latin typeface="+mn-lt"/>
                        <a:ea typeface="Fira Sans"/>
                        <a:cs typeface="Fira Sans"/>
                        <a:sym typeface="Fira Sans"/>
                      </a:endParaRPr>
                    </a:p>
                  </a:txBody>
                  <a:tcPr marL="68588" marR="68588" marT="34294" marB="34294">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3"/>
                      </a:pPr>
                      <a:r>
                        <a:rPr lang="en-US" sz="2000" b="0" i="0" u="none" strike="noStrike" cap="none" dirty="0">
                          <a:solidFill>
                            <a:schemeClr val="tx1"/>
                          </a:solidFill>
                          <a:effectLst/>
                          <a:highlight>
                            <a:srgbClr val="FFFFFF"/>
                          </a:highlight>
                          <a:latin typeface="+mn-lt"/>
                          <a:cs typeface="Arial"/>
                          <a:sym typeface="Arial"/>
                        </a:rPr>
                        <a:t>Always</a:t>
                      </a:r>
                      <a:r>
                        <a:rPr lang="en-US" sz="2000" b="0" i="0" u="none" strike="noStrike" cap="none" baseline="0" dirty="0">
                          <a:solidFill>
                            <a:schemeClr val="tx1"/>
                          </a:solidFill>
                          <a:effectLst/>
                          <a:highlight>
                            <a:srgbClr val="FFFFFF"/>
                          </a:highlight>
                          <a:latin typeface="+mn-lt"/>
                          <a:cs typeface="Arial"/>
                          <a:sym typeface="Arial"/>
                        </a:rPr>
                        <a:t> preferable in real time project.</a:t>
                      </a:r>
                      <a:endParaRPr sz="2000" dirty="0">
                        <a:solidFill>
                          <a:schemeClr val="tx1"/>
                        </a:solidFill>
                        <a:highlight>
                          <a:srgbClr val="FFFFFF"/>
                        </a:highlight>
                        <a:latin typeface="+mn-lt"/>
                      </a:endParaRPr>
                    </a:p>
                  </a:txBody>
                  <a:tcPr marL="68588" marR="68588" marT="34294" marB="34294">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1441482090"/>
                  </a:ext>
                </a:extLst>
              </a:tr>
              <a:tr h="1237026">
                <a:tc>
                  <a:txBody>
                    <a:bodyPr/>
                    <a:lstStyle/>
                    <a:p>
                      <a:pPr marL="457200" marR="0" lvl="0" indent="-317500" algn="l" defTabSz="914400" rtl="0" eaLnBrk="1" fontAlgn="auto" latinLnBrk="0" hangingPunct="1">
                        <a:lnSpc>
                          <a:spcPct val="100000"/>
                        </a:lnSpc>
                        <a:spcBef>
                          <a:spcPts val="0"/>
                        </a:spcBef>
                        <a:spcAft>
                          <a:spcPts val="0"/>
                        </a:spcAft>
                        <a:buClr>
                          <a:schemeClr val="dk1"/>
                        </a:buClr>
                        <a:buSzPts val="1400"/>
                        <a:buFont typeface="Fira Sans"/>
                        <a:buAutoNum type="arabicPeriod" startAt="4"/>
                        <a:tabLst/>
                        <a:defRPr/>
                      </a:pPr>
                      <a:r>
                        <a:rPr lang="en-IN" sz="2000" b="1" dirty="0">
                          <a:solidFill>
                            <a:schemeClr val="tx1"/>
                          </a:solidFill>
                          <a:latin typeface="+mn-lt"/>
                        </a:rPr>
                        <a:t>Example:</a:t>
                      </a:r>
                      <a:r>
                        <a:rPr lang="en-IN" sz="2000" b="1" baseline="0" dirty="0">
                          <a:solidFill>
                            <a:schemeClr val="tx1"/>
                          </a:solidFill>
                          <a:latin typeface="+mn-lt"/>
                        </a:rPr>
                        <a:t> </a:t>
                      </a:r>
                      <a:r>
                        <a:rPr lang="en-IN" sz="2000" dirty="0">
                          <a:solidFill>
                            <a:schemeClr val="tx1"/>
                          </a:solidFill>
                          <a:latin typeface="+mn-lt"/>
                        </a:rPr>
                        <a:t>/html/body/div[1]/div[2]/div[1]/div/div/div/div[2]/div/div[1]/form/div[1]/div[1]</a:t>
                      </a:r>
                    </a:p>
                    <a:p>
                      <a:pPr marL="457200" lvl="0" indent="-317500" algn="l" rtl="0">
                        <a:spcBef>
                          <a:spcPts val="0"/>
                        </a:spcBef>
                        <a:spcAft>
                          <a:spcPts val="0"/>
                        </a:spcAft>
                        <a:buClr>
                          <a:schemeClr val="dk1"/>
                        </a:buClr>
                        <a:buSzPts val="1400"/>
                        <a:buFont typeface="Fira Sans"/>
                        <a:buAutoNum type="arabicPeriod" startAt="4"/>
                      </a:pPr>
                      <a:endParaRPr sz="2000" dirty="0">
                        <a:solidFill>
                          <a:schemeClr val="tx1"/>
                        </a:solidFill>
                        <a:latin typeface="+mn-lt"/>
                        <a:ea typeface="Fira Sans"/>
                        <a:cs typeface="Fira Sans"/>
                        <a:sym typeface="Fira Sans"/>
                      </a:endParaRPr>
                    </a:p>
                  </a:txBody>
                  <a:tcPr marL="68588" marR="68588" marT="34294" marB="34294">
                    <a:lnR w="9525" cap="flat" cmpd="sng">
                      <a:solidFill>
                        <a:srgbClr val="000000"/>
                      </a:solidFill>
                      <a:prstDash val="solid"/>
                      <a:round/>
                      <a:headEnd type="none" w="sm" len="sm"/>
                      <a:tailEnd type="none" w="sm" len="sm"/>
                    </a:lnR>
                  </a:tcPr>
                </a:tc>
                <a:tc>
                  <a:txBody>
                    <a:bodyPr/>
                    <a:lstStyle/>
                    <a:p>
                      <a:pPr marL="457200" lvl="0" indent="-317500" algn="l" rtl="0">
                        <a:spcBef>
                          <a:spcPts val="0"/>
                        </a:spcBef>
                        <a:spcAft>
                          <a:spcPts val="0"/>
                        </a:spcAft>
                        <a:buClr>
                          <a:schemeClr val="dk1"/>
                        </a:buClr>
                        <a:buSzPts val="1400"/>
                        <a:buFont typeface="Fira Sans"/>
                        <a:buAutoNum type="arabicPeriod" startAt="4"/>
                      </a:pPr>
                      <a:r>
                        <a:rPr lang="en-IN" sz="2000" b="1" dirty="0">
                          <a:solidFill>
                            <a:schemeClr val="tx1"/>
                          </a:solidFill>
                          <a:latin typeface="+mn-lt"/>
                        </a:rPr>
                        <a:t>Example:</a:t>
                      </a:r>
                      <a:r>
                        <a:rPr lang="en-IN" sz="2000" b="1" baseline="0" dirty="0">
                          <a:solidFill>
                            <a:schemeClr val="tx1"/>
                          </a:solidFill>
                          <a:latin typeface="+mn-lt"/>
                        </a:rPr>
                        <a:t> </a:t>
                      </a:r>
                    </a:p>
                    <a:p>
                      <a:pPr marL="139700" lvl="0" indent="0" algn="l" rtl="0">
                        <a:spcBef>
                          <a:spcPts val="0"/>
                        </a:spcBef>
                        <a:spcAft>
                          <a:spcPts val="0"/>
                        </a:spcAft>
                        <a:buClr>
                          <a:schemeClr val="dk1"/>
                        </a:buClr>
                        <a:buSzPts val="1400"/>
                        <a:buFont typeface="Fira Sans"/>
                        <a:buNone/>
                      </a:pPr>
                      <a:r>
                        <a:rPr lang="en-IN" sz="2000" b="1" baseline="0" dirty="0">
                          <a:solidFill>
                            <a:schemeClr val="tx1"/>
                          </a:solidFill>
                          <a:latin typeface="+mn-lt"/>
                          <a:ea typeface="Fira Sans"/>
                          <a:cs typeface="Fira Sans"/>
                          <a:sym typeface="Fira Sans"/>
                        </a:rPr>
                        <a:t> </a:t>
                      </a:r>
                      <a:r>
                        <a:rPr lang="en-IN" sz="2000" dirty="0">
                          <a:solidFill>
                            <a:schemeClr val="tx1"/>
                          </a:solidFill>
                          <a:latin typeface="+mn-lt"/>
                        </a:rPr>
                        <a:t>//input[@name=‘username’]</a:t>
                      </a:r>
                    </a:p>
                    <a:p>
                      <a:pPr marL="139700" lvl="0" indent="0" algn="l" rtl="0">
                        <a:spcBef>
                          <a:spcPts val="0"/>
                        </a:spcBef>
                        <a:spcAft>
                          <a:spcPts val="0"/>
                        </a:spcAft>
                        <a:buClr>
                          <a:schemeClr val="dk1"/>
                        </a:buClr>
                        <a:buSzPts val="1400"/>
                        <a:buFont typeface="Fira Sans"/>
                        <a:buNone/>
                      </a:pPr>
                      <a:endParaRPr sz="2000" dirty="0">
                        <a:solidFill>
                          <a:schemeClr val="tx1"/>
                        </a:solidFill>
                        <a:latin typeface="+mn-lt"/>
                        <a:ea typeface="Fira Sans"/>
                        <a:cs typeface="Fira Sans"/>
                        <a:sym typeface="Fira Sans"/>
                      </a:endParaRPr>
                    </a:p>
                  </a:txBody>
                  <a:tcPr marL="68588" marR="68588" marT="34294" marB="34294">
                    <a:lnL w="9525" cap="flat" cmpd="sng">
                      <a:solidFill>
                        <a:srgbClr val="000000"/>
                      </a:solidFill>
                      <a:prstDash val="solid"/>
                      <a:round/>
                      <a:headEnd type="none" w="sm" len="sm"/>
                      <a:tailEnd type="none" w="sm" len="sm"/>
                    </a:lnL>
                  </a:tcPr>
                </a:tc>
                <a:extLst>
                  <a:ext uri="{0D108BD9-81ED-4DB2-BD59-A6C34878D82A}">
                    <a16:rowId xmlns:a16="http://schemas.microsoft.com/office/drawing/2014/main" val="529718373"/>
                  </a:ext>
                </a:extLst>
              </a:tr>
            </a:tbl>
          </a:graphicData>
        </a:graphic>
      </p:graphicFrame>
    </p:spTree>
    <p:extLst>
      <p:ext uri="{BB962C8B-B14F-4D97-AF65-F5344CB8AC3E}">
        <p14:creationId xmlns:p14="http://schemas.microsoft.com/office/powerpoint/2010/main" val="23323226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1787265" y="418855"/>
            <a:ext cx="7886700" cy="726281"/>
          </a:xfrm>
        </p:spPr>
        <p:txBody>
          <a:bodyPr>
            <a:normAutofit/>
          </a:bodyPr>
          <a:lstStyle/>
          <a:p>
            <a:pPr>
              <a:lnSpc>
                <a:spcPct val="90000"/>
              </a:lnSpc>
            </a:pPr>
            <a:r>
              <a:rPr lang="en-IN" b="1" dirty="0"/>
              <a:t>	Launching of Browsers</a:t>
            </a:r>
            <a:endParaRPr lang="en-IN" dirty="0"/>
          </a:p>
        </p:txBody>
      </p:sp>
      <p:pic>
        <p:nvPicPr>
          <p:cNvPr id="4" name="Picture 3">
            <a:extLst>
              <a:ext uri="{FF2B5EF4-FFF2-40B4-BE49-F238E27FC236}">
                <a16:creationId xmlns:a16="http://schemas.microsoft.com/office/drawing/2014/main" id="{C0F01A2A-896C-28A5-FDA5-774F294CE2B3}"/>
              </a:ext>
            </a:extLst>
          </p:cNvPr>
          <p:cNvPicPr>
            <a:picLocks noChangeAspect="1"/>
          </p:cNvPicPr>
          <p:nvPr/>
        </p:nvPicPr>
        <p:blipFill>
          <a:blip r:embed="rId2"/>
          <a:stretch>
            <a:fillRect/>
          </a:stretch>
        </p:blipFill>
        <p:spPr>
          <a:xfrm>
            <a:off x="1380813" y="1944286"/>
            <a:ext cx="8699603" cy="3512133"/>
          </a:xfrm>
          <a:prstGeom prst="rect">
            <a:avLst/>
          </a:prstGeom>
        </p:spPr>
      </p:pic>
    </p:spTree>
    <p:extLst>
      <p:ext uri="{BB962C8B-B14F-4D97-AF65-F5344CB8AC3E}">
        <p14:creationId xmlns:p14="http://schemas.microsoft.com/office/powerpoint/2010/main" val="14325911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412130" y="439729"/>
            <a:ext cx="7886700" cy="519641"/>
          </a:xfrm>
        </p:spPr>
        <p:txBody>
          <a:bodyPr>
            <a:normAutofit fontScale="90000"/>
          </a:bodyPr>
          <a:lstStyle/>
          <a:p>
            <a:pPr>
              <a:lnSpc>
                <a:spcPct val="90000"/>
              </a:lnSpc>
            </a:pPr>
            <a:r>
              <a:rPr lang="en-IN" b="1" dirty="0"/>
              <a:t>	Find element and elements</a:t>
            </a:r>
            <a:endParaRPr lang="en-IN" dirty="0"/>
          </a:p>
        </p:txBody>
      </p:sp>
      <p:pic>
        <p:nvPicPr>
          <p:cNvPr id="3078" name="Picture 6" descr="Difference between FindElement and FindElements Command in selenium  WebDriver? – Harpreet's QA Journey">
            <a:extLst>
              <a:ext uri="{FF2B5EF4-FFF2-40B4-BE49-F238E27FC236}">
                <a16:creationId xmlns:a16="http://schemas.microsoft.com/office/drawing/2014/main" id="{5909979E-007F-3FFA-AF1D-4912FBB10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4534" y="1618939"/>
            <a:ext cx="9668030" cy="4332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0686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412130" y="439729"/>
            <a:ext cx="7886700" cy="519641"/>
          </a:xfrm>
        </p:spPr>
        <p:txBody>
          <a:bodyPr>
            <a:normAutofit fontScale="90000"/>
          </a:bodyPr>
          <a:lstStyle/>
          <a:p>
            <a:pPr>
              <a:lnSpc>
                <a:spcPct val="90000"/>
              </a:lnSpc>
            </a:pPr>
            <a:r>
              <a:rPr lang="en-IN" b="1" dirty="0"/>
              <a:t>Implicit Waits in Robot Framework</a:t>
            </a:r>
            <a:endParaRPr lang="en-IN" dirty="0"/>
          </a:p>
        </p:txBody>
      </p:sp>
      <p:sp>
        <p:nvSpPr>
          <p:cNvPr id="4" name="TextBox 3">
            <a:extLst>
              <a:ext uri="{FF2B5EF4-FFF2-40B4-BE49-F238E27FC236}">
                <a16:creationId xmlns:a16="http://schemas.microsoft.com/office/drawing/2014/main" id="{192EC926-B6AC-338D-E283-F514164E23AF}"/>
              </a:ext>
            </a:extLst>
          </p:cNvPr>
          <p:cNvSpPr txBox="1"/>
          <p:nvPr/>
        </p:nvSpPr>
        <p:spPr>
          <a:xfrm>
            <a:off x="804472" y="1737585"/>
            <a:ext cx="10583056" cy="4247317"/>
          </a:xfrm>
          <a:prstGeom prst="rect">
            <a:avLst/>
          </a:prstGeom>
          <a:noFill/>
        </p:spPr>
        <p:txBody>
          <a:bodyPr wrap="square">
            <a:spAutoFit/>
          </a:bodyPr>
          <a:lstStyle/>
          <a:p>
            <a:r>
              <a:rPr lang="en-IN" b="1" dirty="0"/>
              <a:t>Implicit waits are applicable to all the elements in a web page at a global level. </a:t>
            </a:r>
          </a:p>
          <a:p>
            <a:endParaRPr lang="en-IN" b="1" dirty="0"/>
          </a:p>
          <a:p>
            <a:r>
              <a:rPr lang="en-IN" b="1" dirty="0">
                <a:solidFill>
                  <a:srgbClr val="FF0000"/>
                </a:solidFill>
              </a:rPr>
              <a:t>Set Selenium Implicit Wait: </a:t>
            </a:r>
            <a:r>
              <a:rPr lang="en-IN" b="1" dirty="0"/>
              <a:t>Sets the Implicit wait value used by selenium. </a:t>
            </a:r>
          </a:p>
          <a:p>
            <a:endParaRPr lang="en-IN" b="1" dirty="0"/>
          </a:p>
          <a:p>
            <a:r>
              <a:rPr lang="en-IN" b="1" dirty="0"/>
              <a:t>This keyword sets the implicit wait for all opened browsers. By applying implicit wait, we can ask the web driver to wait for a specific amount of time before it throws an exception. </a:t>
            </a:r>
          </a:p>
          <a:p>
            <a:endParaRPr lang="en-IN" b="1" dirty="0"/>
          </a:p>
          <a:p>
            <a:r>
              <a:rPr lang="en-IN" b="1" dirty="0"/>
              <a:t>Get Selenium Implicit Wait: Gets the Implicit wait value used by selenium. </a:t>
            </a:r>
          </a:p>
          <a:p>
            <a:endParaRPr lang="en-IN" b="1" dirty="0"/>
          </a:p>
          <a:p>
            <a:r>
              <a:rPr lang="en-IN" b="1" dirty="0"/>
              <a:t>This keyword will return the value of the implicit wait time. The value is returned as a human-readable string, e.g., 1 second. </a:t>
            </a:r>
          </a:p>
          <a:p>
            <a:endParaRPr lang="en-IN" b="1" dirty="0"/>
          </a:p>
          <a:p>
            <a:r>
              <a:rPr lang="en-IN" b="1" dirty="0">
                <a:solidFill>
                  <a:srgbClr val="FF0000"/>
                </a:solidFill>
              </a:rPr>
              <a:t>Set Browser Implicit Wait</a:t>
            </a:r>
            <a:r>
              <a:rPr lang="en-IN" b="1" dirty="0"/>
              <a:t>: Sets the implicit wait value used by Selenium. </a:t>
            </a:r>
          </a:p>
          <a:p>
            <a:endParaRPr lang="en-IN" b="1" dirty="0"/>
          </a:p>
          <a:p>
            <a:r>
              <a:rPr lang="en-IN" b="1" dirty="0"/>
              <a:t>Same as Set Selenium Implicit Wait but only affects the current browser. </a:t>
            </a:r>
          </a:p>
        </p:txBody>
      </p:sp>
    </p:spTree>
    <p:extLst>
      <p:ext uri="{BB962C8B-B14F-4D97-AF65-F5344CB8AC3E}">
        <p14:creationId xmlns:p14="http://schemas.microsoft.com/office/powerpoint/2010/main" val="20816230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592012" y="304343"/>
            <a:ext cx="7886700" cy="519641"/>
          </a:xfrm>
        </p:spPr>
        <p:txBody>
          <a:bodyPr>
            <a:normAutofit fontScale="90000"/>
          </a:bodyPr>
          <a:lstStyle/>
          <a:p>
            <a:pPr>
              <a:lnSpc>
                <a:spcPct val="90000"/>
              </a:lnSpc>
            </a:pPr>
            <a:r>
              <a:rPr lang="en-IN" b="1" dirty="0"/>
              <a:t>Explicit Waits in Robot Framework</a:t>
            </a:r>
            <a:endParaRPr lang="en-IN" dirty="0"/>
          </a:p>
        </p:txBody>
      </p:sp>
      <p:sp>
        <p:nvSpPr>
          <p:cNvPr id="4" name="TextBox 3">
            <a:extLst>
              <a:ext uri="{FF2B5EF4-FFF2-40B4-BE49-F238E27FC236}">
                <a16:creationId xmlns:a16="http://schemas.microsoft.com/office/drawing/2014/main" id="{192EC926-B6AC-338D-E283-F514164E23AF}"/>
              </a:ext>
            </a:extLst>
          </p:cNvPr>
          <p:cNvSpPr txBox="1"/>
          <p:nvPr/>
        </p:nvSpPr>
        <p:spPr>
          <a:xfrm>
            <a:off x="804472" y="1156365"/>
            <a:ext cx="10583056" cy="5632311"/>
          </a:xfrm>
          <a:prstGeom prst="rect">
            <a:avLst/>
          </a:prstGeom>
          <a:noFill/>
        </p:spPr>
        <p:txBody>
          <a:bodyPr wrap="square">
            <a:spAutoFit/>
          </a:bodyPr>
          <a:lstStyle/>
          <a:p>
            <a:r>
              <a:rPr lang="en-US" b="1" dirty="0"/>
              <a:t>Explicit waits are specifically applied to an element intended by us, instead of all the elements of the web page. It is most useful when we get certain elements on a webpage that need a longer time to load. </a:t>
            </a:r>
          </a:p>
          <a:p>
            <a:endParaRPr lang="en-US" b="1" dirty="0"/>
          </a:p>
          <a:p>
            <a:r>
              <a:rPr lang="en-US" b="1" dirty="0"/>
              <a:t> Keywords that are provided by the robot framework to apply explicit waits are: </a:t>
            </a:r>
          </a:p>
          <a:p>
            <a:endParaRPr lang="en-US" b="1" dirty="0"/>
          </a:p>
          <a:p>
            <a:r>
              <a:rPr lang="en-US" b="1" dirty="0"/>
              <a:t>Wait Until Page Contains – Waits until text appears on the current page </a:t>
            </a:r>
          </a:p>
          <a:p>
            <a:r>
              <a:rPr lang="en-US" b="1" dirty="0"/>
              <a:t>Wait Until Page Contains Element – Waits until the element locator appears on the current page  </a:t>
            </a:r>
          </a:p>
          <a:p>
            <a:r>
              <a:rPr lang="en-US" b="1" dirty="0"/>
              <a:t>Wait Until Page Does Not Contain – Waits until the text disappears from the current page  </a:t>
            </a:r>
          </a:p>
          <a:p>
            <a:r>
              <a:rPr lang="en-US" b="1" dirty="0"/>
              <a:t>Wait Until Page Does Not Contain Element – Waits until the element locator disappears from the current page  </a:t>
            </a:r>
          </a:p>
          <a:p>
            <a:r>
              <a:rPr lang="en-US" b="1" dirty="0"/>
              <a:t>Wait Until Location Is – Waits until the current URL is expected  </a:t>
            </a:r>
          </a:p>
          <a:p>
            <a:r>
              <a:rPr lang="en-US" b="1" dirty="0"/>
              <a:t>Wait Until Location Is Not – Waits until the current URL is not location  </a:t>
            </a:r>
          </a:p>
          <a:p>
            <a:r>
              <a:rPr lang="en-US" b="1" dirty="0"/>
              <a:t>Wait Until Location Contains – Waits until the current URL contains expected </a:t>
            </a:r>
          </a:p>
          <a:p>
            <a:r>
              <a:rPr lang="en-US" b="1" dirty="0"/>
              <a:t>Wait Until Location Does Not Contain – Waits until the current URL does not contain the location  </a:t>
            </a:r>
          </a:p>
          <a:p>
            <a:r>
              <a:rPr lang="en-US" b="1" dirty="0"/>
              <a:t>Wait Until Element Contains – Waits until the element locator contains text  </a:t>
            </a:r>
          </a:p>
          <a:p>
            <a:r>
              <a:rPr lang="en-US" b="1" dirty="0"/>
              <a:t>Wait Until Element Does Not Contain – Waits until the element locator does not contain text  </a:t>
            </a:r>
          </a:p>
          <a:p>
            <a:r>
              <a:rPr lang="en-US" b="1" dirty="0"/>
              <a:t>Wait Until Element Is Enabled – Waits until the element locator is enabled  </a:t>
            </a:r>
          </a:p>
          <a:p>
            <a:r>
              <a:rPr lang="en-US" b="1" dirty="0"/>
              <a:t>Wait Until Element Is Not Visible – Waits until the element locator is not visible  </a:t>
            </a:r>
          </a:p>
          <a:p>
            <a:r>
              <a:rPr lang="en-US" b="1" dirty="0"/>
              <a:t>Wait Until Element Is Visible – Waits until the element locator is visible </a:t>
            </a:r>
            <a:endParaRPr lang="en-IN" b="1" dirty="0"/>
          </a:p>
        </p:txBody>
      </p:sp>
    </p:spTree>
    <p:extLst>
      <p:ext uri="{BB962C8B-B14F-4D97-AF65-F5344CB8AC3E}">
        <p14:creationId xmlns:p14="http://schemas.microsoft.com/office/powerpoint/2010/main" val="5489191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998407" y="345389"/>
            <a:ext cx="7886700" cy="726281"/>
          </a:xfrm>
        </p:spPr>
        <p:txBody>
          <a:bodyPr>
            <a:normAutofit/>
          </a:bodyPr>
          <a:lstStyle/>
          <a:p>
            <a:pPr>
              <a:lnSpc>
                <a:spcPct val="90000"/>
              </a:lnSpc>
            </a:pPr>
            <a:r>
              <a:rPr lang="en-IN" b="1" dirty="0"/>
              <a:t>			Browser Commands </a:t>
            </a:r>
            <a:endParaRPr lang="en-IN" dirty="0"/>
          </a:p>
        </p:txBody>
      </p:sp>
      <p:pic>
        <p:nvPicPr>
          <p:cNvPr id="3076" name="Picture 4" descr="Selenium WebDriver - Browser Controls Commands - TAE">
            <a:extLst>
              <a:ext uri="{FF2B5EF4-FFF2-40B4-BE49-F238E27FC236}">
                <a16:creationId xmlns:a16="http://schemas.microsoft.com/office/drawing/2014/main" id="{1F2C3615-CD3F-93D1-1525-30046E8273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972" y="2340769"/>
            <a:ext cx="6486056"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0919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266950" y="753978"/>
            <a:ext cx="7886700" cy="391158"/>
          </a:xfrm>
        </p:spPr>
        <p:txBody>
          <a:bodyPr>
            <a:normAutofit fontScale="90000"/>
          </a:bodyPr>
          <a:lstStyle/>
          <a:p>
            <a:pPr>
              <a:lnSpc>
                <a:spcPct val="90000"/>
              </a:lnSpc>
            </a:pPr>
            <a:r>
              <a:rPr lang="en-IN" b="1" dirty="0"/>
              <a:t>       Navigational  Commands </a:t>
            </a:r>
            <a:endParaRPr lang="en-IN" dirty="0"/>
          </a:p>
        </p:txBody>
      </p:sp>
      <p:pic>
        <p:nvPicPr>
          <p:cNvPr id="1026" name="Picture 2" descr="Image result for navigation commands in selenium">
            <a:extLst>
              <a:ext uri="{FF2B5EF4-FFF2-40B4-BE49-F238E27FC236}">
                <a16:creationId xmlns:a16="http://schemas.microsoft.com/office/drawing/2014/main" id="{EEE99C76-1EDB-9AE2-6BDB-FAA640171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6733" y="1841020"/>
            <a:ext cx="6442335" cy="3763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975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317BEF4-F659-05B0-B884-5FBC9950BC38}"/>
              </a:ext>
            </a:extLst>
          </p:cNvPr>
          <p:cNvCxnSpPr>
            <a:cxnSpLocks/>
          </p:cNvCxnSpPr>
          <p:nvPr/>
        </p:nvCxnSpPr>
        <p:spPr>
          <a:xfrm>
            <a:off x="3327085" y="1145136"/>
            <a:ext cx="0" cy="322420"/>
          </a:xfrm>
          <a:prstGeom prst="line">
            <a:avLst/>
          </a:prstGeom>
          <a:ln w="12700">
            <a:solidFill>
              <a:srgbClr val="DD4F2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45137"/>
            <a:ext cx="9554668" cy="799155"/>
          </a:xfrm>
        </p:spPr>
        <p:txBody>
          <a:bodyPr>
            <a:normAutofit/>
          </a:bodyPr>
          <a:lstStyle/>
          <a:p>
            <a:pPr>
              <a:lnSpc>
                <a:spcPct val="90000"/>
              </a:lnSpc>
            </a:pPr>
            <a:r>
              <a:rPr lang="en-IN" b="1" dirty="0"/>
              <a:t>Handle Radio buttons / check boxes </a:t>
            </a:r>
            <a:endParaRPr lang="en-IN" dirty="0"/>
          </a:p>
        </p:txBody>
      </p:sp>
      <p:pic>
        <p:nvPicPr>
          <p:cNvPr id="4098" name="Picture 2" descr="How to Select Radio Button and CheckBox in Selenium">
            <a:extLst>
              <a:ext uri="{FF2B5EF4-FFF2-40B4-BE49-F238E27FC236}">
                <a16:creationId xmlns:a16="http://schemas.microsoft.com/office/drawing/2014/main" id="{FD5DEF87-7F9A-3CA1-6C30-C20F36CDE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769" y="2400299"/>
            <a:ext cx="8799227" cy="376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533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404735"/>
            <a:ext cx="7886700" cy="1439388"/>
          </a:xfrm>
        </p:spPr>
        <p:txBody>
          <a:bodyPr>
            <a:normAutofit fontScale="90000"/>
          </a:bodyPr>
          <a:lstStyle/>
          <a:p>
            <a:pPr>
              <a:lnSpc>
                <a:spcPct val="90000"/>
              </a:lnSpc>
            </a:pPr>
            <a:r>
              <a:rPr lang="en-IN" b="1" dirty="0"/>
              <a:t>	Handle Check boxes  buttons 							</a:t>
            </a:r>
            <a:endParaRPr lang="en-IN" dirty="0"/>
          </a:p>
        </p:txBody>
      </p:sp>
      <p:pic>
        <p:nvPicPr>
          <p:cNvPr id="5122" name="Picture 2" descr="Handle Checkbox And Radio Button Using JavascriptExecutor | Inviul">
            <a:extLst>
              <a:ext uri="{FF2B5EF4-FFF2-40B4-BE49-F238E27FC236}">
                <a16:creationId xmlns:a16="http://schemas.microsoft.com/office/drawing/2014/main" id="{7732CCA8-C0EE-6F90-6590-329F745B0D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959" y="1844123"/>
            <a:ext cx="9863521" cy="425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5176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391158"/>
          </a:xfrm>
        </p:spPr>
        <p:txBody>
          <a:bodyPr>
            <a:normAutofit fontScale="90000"/>
          </a:bodyPr>
          <a:lstStyle/>
          <a:p>
            <a:pPr>
              <a:lnSpc>
                <a:spcPct val="90000"/>
              </a:lnSpc>
            </a:pPr>
            <a:r>
              <a:rPr lang="en-IN" b="1" dirty="0"/>
              <a:t>	</a:t>
            </a:r>
            <a:endParaRPr lang="en-IN" dirty="0"/>
          </a:p>
        </p:txBody>
      </p:sp>
      <p:sp>
        <p:nvSpPr>
          <p:cNvPr id="3" name="Title 1">
            <a:extLst>
              <a:ext uri="{FF2B5EF4-FFF2-40B4-BE49-F238E27FC236}">
                <a16:creationId xmlns:a16="http://schemas.microsoft.com/office/drawing/2014/main" id="{EDAEA885-A6F4-E60A-789B-A53CCF11784C}"/>
              </a:ext>
            </a:extLst>
          </p:cNvPr>
          <p:cNvSpPr txBox="1">
            <a:spLocks/>
          </p:cNvSpPr>
          <p:nvPr/>
        </p:nvSpPr>
        <p:spPr>
          <a:xfrm>
            <a:off x="2152650" y="555496"/>
            <a:ext cx="7886700" cy="74562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t>Validation commands in selenium</a:t>
            </a:r>
          </a:p>
        </p:txBody>
      </p:sp>
      <p:sp>
        <p:nvSpPr>
          <p:cNvPr id="10" name="Content Placeholder 9">
            <a:extLst>
              <a:ext uri="{FF2B5EF4-FFF2-40B4-BE49-F238E27FC236}">
                <a16:creationId xmlns:a16="http://schemas.microsoft.com/office/drawing/2014/main" id="{71E522CD-8195-CECB-492C-5A65A0189542}"/>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6107756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6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391158"/>
          </a:xfrm>
        </p:spPr>
        <p:txBody>
          <a:bodyPr>
            <a:normAutofit/>
          </a:bodyPr>
          <a:lstStyle/>
          <a:p>
            <a:pPr>
              <a:lnSpc>
                <a:spcPct val="90000"/>
              </a:lnSpc>
            </a:pPr>
            <a:r>
              <a:rPr lang="en-IN" sz="1600" b="1" dirty="0">
                <a:latin typeface="+mn-lt"/>
              </a:rPr>
              <a:t>	</a:t>
            </a:r>
          </a:p>
        </p:txBody>
      </p:sp>
      <p:sp>
        <p:nvSpPr>
          <p:cNvPr id="17" name="Title 1">
            <a:extLst>
              <a:ext uri="{FF2B5EF4-FFF2-40B4-BE49-F238E27FC236}">
                <a16:creationId xmlns:a16="http://schemas.microsoft.com/office/drawing/2014/main" id="{F92FFE76-6AB7-33EE-F165-FE840569F72B}"/>
              </a:ext>
            </a:extLst>
          </p:cNvPr>
          <p:cNvSpPr txBox="1">
            <a:spLocks/>
          </p:cNvSpPr>
          <p:nvPr/>
        </p:nvSpPr>
        <p:spPr>
          <a:xfrm>
            <a:off x="2094701" y="660678"/>
            <a:ext cx="7291037" cy="597400"/>
          </a:xfrm>
          <a:prstGeom prst="rect">
            <a:avLst/>
          </a:prstGeom>
        </p:spPr>
        <p:txBody>
          <a:bodyPr vert="horz" lIns="68580" tIns="34290" rIns="68580" bIns="3429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solidFill>
                  <a:schemeClr val="tx1"/>
                </a:solidFill>
                <a:latin typeface="+mn-lt"/>
              </a:rPr>
              <a:t>					Alerts in Selenium</a:t>
            </a:r>
          </a:p>
        </p:txBody>
      </p:sp>
      <p:sp>
        <p:nvSpPr>
          <p:cNvPr id="18" name="TextBox 17">
            <a:extLst>
              <a:ext uri="{FF2B5EF4-FFF2-40B4-BE49-F238E27FC236}">
                <a16:creationId xmlns:a16="http://schemas.microsoft.com/office/drawing/2014/main" id="{38C5CB9D-ECDD-9229-84BB-DC798085B8DA}"/>
              </a:ext>
            </a:extLst>
          </p:cNvPr>
          <p:cNvSpPr txBox="1"/>
          <p:nvPr/>
        </p:nvSpPr>
        <p:spPr>
          <a:xfrm>
            <a:off x="2431884" y="1555795"/>
            <a:ext cx="7157434" cy="830997"/>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sz="1600" b="1" dirty="0">
                <a:latin typeface="+mn-lt"/>
              </a:rPr>
              <a:t>Alerts are small popup boxes/windows which display the messages/notifications and notify the user with some information seeking some permission on certain kinds of operations</a:t>
            </a:r>
          </a:p>
        </p:txBody>
      </p:sp>
      <p:sp>
        <p:nvSpPr>
          <p:cNvPr id="19" name="TextBox 18">
            <a:extLst>
              <a:ext uri="{FF2B5EF4-FFF2-40B4-BE49-F238E27FC236}">
                <a16:creationId xmlns:a16="http://schemas.microsoft.com/office/drawing/2014/main" id="{E9F77551-423E-EC0D-4027-325F78FAFAEB}"/>
              </a:ext>
            </a:extLst>
          </p:cNvPr>
          <p:cNvSpPr txBox="1"/>
          <p:nvPr/>
        </p:nvSpPr>
        <p:spPr>
          <a:xfrm>
            <a:off x="2383659" y="3322308"/>
            <a:ext cx="6713120" cy="830997"/>
          </a:xfrm>
          <a:prstGeom prst="rect">
            <a:avLst/>
          </a:prstGeom>
          <a:noFill/>
        </p:spPr>
        <p:txBody>
          <a:bodyPr wrap="square" rtlCol="0">
            <a:spAutoFit/>
          </a:bodyPr>
          <a:lstStyle/>
          <a:p>
            <a:r>
              <a:rPr lang="en-US" sz="1600" b="1" dirty="0"/>
              <a:t>For Example, The alert box displayed below requires an action from the user to press OK and accept or press Cancel and dismiss the message box</a:t>
            </a:r>
          </a:p>
        </p:txBody>
      </p:sp>
      <p:sp>
        <p:nvSpPr>
          <p:cNvPr id="20" name="TextBox 19">
            <a:extLst>
              <a:ext uri="{FF2B5EF4-FFF2-40B4-BE49-F238E27FC236}">
                <a16:creationId xmlns:a16="http://schemas.microsoft.com/office/drawing/2014/main" id="{B7C33E2C-584A-7F9A-5233-D8737F2AAC78}"/>
              </a:ext>
            </a:extLst>
          </p:cNvPr>
          <p:cNvSpPr txBox="1"/>
          <p:nvPr/>
        </p:nvSpPr>
        <p:spPr>
          <a:xfrm>
            <a:off x="2383660" y="2592285"/>
            <a:ext cx="7253882" cy="584775"/>
          </a:xfrm>
          <a:prstGeom prst="rect">
            <a:avLst/>
          </a:prstGeom>
          <a:noFill/>
        </p:spPr>
        <p:txBody>
          <a:bodyPr wrap="square" rtlCol="0">
            <a:spAutoFit/>
          </a:bodyPr>
          <a:lstStyle/>
          <a:p>
            <a:r>
              <a:rPr lang="en-US" sz="1600" b="1" dirty="0"/>
              <a:t>Additionally, we can also use them for warning purposes. Sometimes, the user can enter a few details in the alert box as well</a:t>
            </a:r>
          </a:p>
        </p:txBody>
      </p:sp>
      <p:sp>
        <p:nvSpPr>
          <p:cNvPr id="21" name="TextBox 20">
            <a:extLst>
              <a:ext uri="{FF2B5EF4-FFF2-40B4-BE49-F238E27FC236}">
                <a16:creationId xmlns:a16="http://schemas.microsoft.com/office/drawing/2014/main" id="{9DC74D1B-ECC2-0F0E-05D3-0CACCBA0B9D5}"/>
              </a:ext>
            </a:extLst>
          </p:cNvPr>
          <p:cNvSpPr txBox="1"/>
          <p:nvPr/>
        </p:nvSpPr>
        <p:spPr>
          <a:xfrm>
            <a:off x="2431884" y="4204800"/>
            <a:ext cx="6713120" cy="830997"/>
          </a:xfrm>
          <a:prstGeom prst="rect">
            <a:avLst/>
          </a:prstGeom>
          <a:noFill/>
        </p:spPr>
        <p:txBody>
          <a:bodyPr wrap="square" rtlCol="0">
            <a:spAutoFit/>
          </a:bodyPr>
          <a:lstStyle/>
          <a:p>
            <a:r>
              <a:rPr lang="en-US" sz="1600" b="1" dirty="0"/>
              <a:t>Application alerts shift your focus from the current browser window to a newly opened window and force the user to read the message displayed and act accordingly</a:t>
            </a:r>
          </a:p>
        </p:txBody>
      </p:sp>
      <p:sp>
        <p:nvSpPr>
          <p:cNvPr id="22" name="TextBox 21">
            <a:extLst>
              <a:ext uri="{FF2B5EF4-FFF2-40B4-BE49-F238E27FC236}">
                <a16:creationId xmlns:a16="http://schemas.microsoft.com/office/drawing/2014/main" id="{B246524D-7097-561C-9655-B299F5673424}"/>
              </a:ext>
            </a:extLst>
          </p:cNvPr>
          <p:cNvSpPr txBox="1"/>
          <p:nvPr/>
        </p:nvSpPr>
        <p:spPr>
          <a:xfrm>
            <a:off x="2431884" y="5351545"/>
            <a:ext cx="6713120" cy="584775"/>
          </a:xfrm>
          <a:prstGeom prst="rect">
            <a:avLst/>
          </a:prstGeom>
          <a:noFill/>
        </p:spPr>
        <p:txBody>
          <a:bodyPr wrap="square" rtlCol="0">
            <a:spAutoFit/>
          </a:bodyPr>
          <a:lstStyle/>
          <a:p>
            <a:r>
              <a:rPr lang="en-US" sz="1600" b="1" dirty="0"/>
              <a:t>Users will be blocked and will not be able to work further unless the alert message box gets handled</a:t>
            </a:r>
          </a:p>
        </p:txBody>
      </p:sp>
    </p:spTree>
    <p:extLst>
      <p:ext uri="{BB962C8B-B14F-4D97-AF65-F5344CB8AC3E}">
        <p14:creationId xmlns:p14="http://schemas.microsoft.com/office/powerpoint/2010/main" val="1000693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391158"/>
          </a:xfrm>
        </p:spPr>
        <p:txBody>
          <a:bodyPr>
            <a:normAutofit/>
          </a:bodyPr>
          <a:lstStyle/>
          <a:p>
            <a:pPr>
              <a:lnSpc>
                <a:spcPct val="90000"/>
              </a:lnSpc>
            </a:pPr>
            <a:r>
              <a:rPr lang="en-IN" sz="2000" b="1" dirty="0">
                <a:latin typeface="+mn-lt"/>
              </a:rPr>
              <a:t>	</a:t>
            </a:r>
            <a:endParaRPr lang="en-IN" sz="2000" dirty="0">
              <a:latin typeface="+mn-lt"/>
            </a:endParaRPr>
          </a:p>
        </p:txBody>
      </p:sp>
      <p:sp>
        <p:nvSpPr>
          <p:cNvPr id="8" name="Title 1">
            <a:extLst>
              <a:ext uri="{FF2B5EF4-FFF2-40B4-BE49-F238E27FC236}">
                <a16:creationId xmlns:a16="http://schemas.microsoft.com/office/drawing/2014/main" id="{20C2CA83-7124-6AC5-A014-71178A338C95}"/>
              </a:ext>
            </a:extLst>
          </p:cNvPr>
          <p:cNvSpPr txBox="1">
            <a:spLocks/>
          </p:cNvSpPr>
          <p:nvPr/>
        </p:nvSpPr>
        <p:spPr>
          <a:xfrm>
            <a:off x="1892990" y="778096"/>
            <a:ext cx="7291037" cy="597400"/>
          </a:xfrm>
          <a:prstGeom prst="rect">
            <a:avLst/>
          </a:prstGeom>
        </p:spPr>
        <p:txBody>
          <a:bodyPr vert="horz" lIns="68580" tIns="34290" rIns="68580" bIns="3429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solidFill>
                <a:latin typeface="+mn-lt"/>
              </a:rPr>
              <a:t>				Handling Alerts in Selenium</a:t>
            </a:r>
          </a:p>
        </p:txBody>
      </p:sp>
      <p:sp>
        <p:nvSpPr>
          <p:cNvPr id="11" name="TextBox 10">
            <a:extLst>
              <a:ext uri="{FF2B5EF4-FFF2-40B4-BE49-F238E27FC236}">
                <a16:creationId xmlns:a16="http://schemas.microsoft.com/office/drawing/2014/main" id="{33AAF132-B9C8-0346-ADDB-31B5559EFDF7}"/>
              </a:ext>
            </a:extLst>
          </p:cNvPr>
          <p:cNvSpPr txBox="1"/>
          <p:nvPr/>
        </p:nvSpPr>
        <p:spPr>
          <a:xfrm>
            <a:off x="2165940" y="1970203"/>
            <a:ext cx="7873410" cy="400110"/>
          </a:xfrm>
          <a:prstGeom prst="rect">
            <a:avLst/>
          </a:prstGeom>
          <a:noFill/>
        </p:spPr>
        <p:txBody>
          <a:bodyPr wrap="square" rtlCol="0">
            <a:spAutoFit/>
          </a:bodyPr>
          <a:lstStyle/>
          <a:p>
            <a:r>
              <a:rPr lang="en-US" sz="2000" b="1" dirty="0"/>
              <a:t>accept() : This method clicks on the 'OK' button of the alert box</a:t>
            </a:r>
          </a:p>
        </p:txBody>
      </p:sp>
      <p:sp>
        <p:nvSpPr>
          <p:cNvPr id="12" name="TextBox 11">
            <a:extLst>
              <a:ext uri="{FF2B5EF4-FFF2-40B4-BE49-F238E27FC236}">
                <a16:creationId xmlns:a16="http://schemas.microsoft.com/office/drawing/2014/main" id="{7EA8848D-68DF-0F0E-8918-FA71C4234961}"/>
              </a:ext>
            </a:extLst>
          </p:cNvPr>
          <p:cNvSpPr txBox="1"/>
          <p:nvPr/>
        </p:nvSpPr>
        <p:spPr>
          <a:xfrm>
            <a:off x="2165940" y="2544307"/>
            <a:ext cx="7873410" cy="707886"/>
          </a:xfrm>
          <a:prstGeom prst="rect">
            <a:avLst/>
          </a:prstGeom>
          <a:noFill/>
        </p:spPr>
        <p:txBody>
          <a:bodyPr wrap="square" rtlCol="0">
            <a:spAutoFit/>
          </a:bodyPr>
          <a:lstStyle/>
          <a:p>
            <a:r>
              <a:rPr lang="en-US" sz="2000" b="1" dirty="0"/>
              <a:t>dismiss() : We use this method when the 'Cancel' button clicks in the alert box</a:t>
            </a:r>
          </a:p>
        </p:txBody>
      </p:sp>
      <p:sp>
        <p:nvSpPr>
          <p:cNvPr id="13" name="TextBox 12">
            <a:extLst>
              <a:ext uri="{FF2B5EF4-FFF2-40B4-BE49-F238E27FC236}">
                <a16:creationId xmlns:a16="http://schemas.microsoft.com/office/drawing/2014/main" id="{0EB4167B-0F9B-9630-8B53-859C7F5EEF48}"/>
              </a:ext>
            </a:extLst>
          </p:cNvPr>
          <p:cNvSpPr txBox="1"/>
          <p:nvPr/>
        </p:nvSpPr>
        <p:spPr>
          <a:xfrm>
            <a:off x="2152650" y="4049054"/>
            <a:ext cx="7873410" cy="400110"/>
          </a:xfrm>
          <a:prstGeom prst="rect">
            <a:avLst/>
          </a:prstGeom>
          <a:noFill/>
        </p:spPr>
        <p:txBody>
          <a:bodyPr wrap="square" rtlCol="0">
            <a:spAutoFit/>
          </a:bodyPr>
          <a:lstStyle/>
          <a:p>
            <a:r>
              <a:rPr lang="en-US" sz="2000" b="1" dirty="0"/>
              <a:t>getText() : This method captures the message from the alert box</a:t>
            </a:r>
          </a:p>
        </p:txBody>
      </p:sp>
      <p:sp>
        <p:nvSpPr>
          <p:cNvPr id="14" name="TextBox 13">
            <a:extLst>
              <a:ext uri="{FF2B5EF4-FFF2-40B4-BE49-F238E27FC236}">
                <a16:creationId xmlns:a16="http://schemas.microsoft.com/office/drawing/2014/main" id="{48B43B2E-2C7A-2EFA-FF48-BCDE2DEC303D}"/>
              </a:ext>
            </a:extLst>
          </p:cNvPr>
          <p:cNvSpPr txBox="1"/>
          <p:nvPr/>
        </p:nvSpPr>
        <p:spPr>
          <a:xfrm>
            <a:off x="2165940" y="3325367"/>
            <a:ext cx="7873410" cy="400110"/>
          </a:xfrm>
          <a:prstGeom prst="rect">
            <a:avLst/>
          </a:prstGeom>
          <a:noFill/>
        </p:spPr>
        <p:txBody>
          <a:bodyPr wrap="square" rtlCol="0">
            <a:spAutoFit/>
          </a:bodyPr>
          <a:lstStyle/>
          <a:p>
            <a:r>
              <a:rPr lang="en-US" sz="2000" b="1" dirty="0"/>
              <a:t>sendKeys(String string): This method sends data to the alert box</a:t>
            </a:r>
          </a:p>
        </p:txBody>
      </p:sp>
    </p:spTree>
    <p:extLst>
      <p:ext uri="{BB962C8B-B14F-4D97-AF65-F5344CB8AC3E}">
        <p14:creationId xmlns:p14="http://schemas.microsoft.com/office/powerpoint/2010/main" val="7378702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4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391158"/>
          </a:xfrm>
        </p:spPr>
        <p:txBody>
          <a:bodyPr>
            <a:noAutofit/>
          </a:bodyPr>
          <a:lstStyle/>
          <a:p>
            <a:pPr>
              <a:lnSpc>
                <a:spcPct val="90000"/>
              </a:lnSpc>
            </a:pPr>
            <a:r>
              <a:rPr lang="en-IN" sz="2400" b="1" dirty="0">
                <a:latin typeface="+mn-lt"/>
              </a:rPr>
              <a:t>	</a:t>
            </a:r>
          </a:p>
        </p:txBody>
      </p:sp>
      <p:sp>
        <p:nvSpPr>
          <p:cNvPr id="3" name="Title 1">
            <a:extLst>
              <a:ext uri="{FF2B5EF4-FFF2-40B4-BE49-F238E27FC236}">
                <a16:creationId xmlns:a16="http://schemas.microsoft.com/office/drawing/2014/main" id="{C0F92A80-3624-12D1-6EEA-D6C808AEA04F}"/>
              </a:ext>
            </a:extLst>
          </p:cNvPr>
          <p:cNvSpPr txBox="1">
            <a:spLocks/>
          </p:cNvSpPr>
          <p:nvPr/>
        </p:nvSpPr>
        <p:spPr>
          <a:xfrm>
            <a:off x="2862613" y="733716"/>
            <a:ext cx="7291037" cy="597400"/>
          </a:xfrm>
          <a:prstGeom prst="rect">
            <a:avLst/>
          </a:prstGeom>
        </p:spPr>
        <p:txBody>
          <a:bodyPr vert="horz" lIns="68580" tIns="34290" rIns="68580" bIns="3429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solidFill>
                  <a:schemeClr val="tx1"/>
                </a:solidFill>
                <a:latin typeface="+mn-lt"/>
              </a:rPr>
              <a:t>		Handling Prompt Alerts in Selenium</a:t>
            </a:r>
          </a:p>
        </p:txBody>
      </p:sp>
      <p:sp>
        <p:nvSpPr>
          <p:cNvPr id="15" name="TextBox 14">
            <a:extLst>
              <a:ext uri="{FF2B5EF4-FFF2-40B4-BE49-F238E27FC236}">
                <a16:creationId xmlns:a16="http://schemas.microsoft.com/office/drawing/2014/main" id="{EBAC989D-63D8-DB9D-6616-5685A37BD19C}"/>
              </a:ext>
            </a:extLst>
          </p:cNvPr>
          <p:cNvSpPr txBox="1"/>
          <p:nvPr/>
        </p:nvSpPr>
        <p:spPr>
          <a:xfrm>
            <a:off x="2027901" y="1905506"/>
            <a:ext cx="7873410" cy="461665"/>
          </a:xfrm>
          <a:prstGeom prst="rect">
            <a:avLst/>
          </a:prstGeom>
          <a:noFill/>
        </p:spPr>
        <p:txBody>
          <a:bodyPr wrap="square" rtlCol="0">
            <a:spAutoFit/>
          </a:bodyPr>
          <a:lstStyle/>
          <a:p>
            <a:r>
              <a:rPr lang="en-US" sz="2400" b="1" dirty="0"/>
              <a:t>Need to switch to the alert first</a:t>
            </a:r>
          </a:p>
        </p:txBody>
      </p:sp>
      <p:sp>
        <p:nvSpPr>
          <p:cNvPr id="16" name="TextBox 15">
            <a:extLst>
              <a:ext uri="{FF2B5EF4-FFF2-40B4-BE49-F238E27FC236}">
                <a16:creationId xmlns:a16="http://schemas.microsoft.com/office/drawing/2014/main" id="{7EA4846D-6204-D977-A3C9-0FE4696F91CE}"/>
              </a:ext>
            </a:extLst>
          </p:cNvPr>
          <p:cNvSpPr txBox="1"/>
          <p:nvPr/>
        </p:nvSpPr>
        <p:spPr>
          <a:xfrm>
            <a:off x="2027901" y="2321417"/>
            <a:ext cx="7873410" cy="461665"/>
          </a:xfrm>
          <a:prstGeom prst="rect">
            <a:avLst/>
          </a:prstGeom>
          <a:noFill/>
        </p:spPr>
        <p:txBody>
          <a:bodyPr wrap="square" rtlCol="0">
            <a:spAutoFit/>
          </a:bodyPr>
          <a:lstStyle/>
          <a:p>
            <a:r>
              <a:rPr lang="en-US" sz="2400" b="1" dirty="0"/>
              <a:t>Get the text from the alert using prompt.getText()</a:t>
            </a:r>
          </a:p>
        </p:txBody>
      </p:sp>
      <p:sp>
        <p:nvSpPr>
          <p:cNvPr id="17" name="TextBox 16">
            <a:extLst>
              <a:ext uri="{FF2B5EF4-FFF2-40B4-BE49-F238E27FC236}">
                <a16:creationId xmlns:a16="http://schemas.microsoft.com/office/drawing/2014/main" id="{DC54CB76-8C36-FCFF-395D-05CD28419985}"/>
              </a:ext>
            </a:extLst>
          </p:cNvPr>
          <p:cNvSpPr txBox="1"/>
          <p:nvPr/>
        </p:nvSpPr>
        <p:spPr>
          <a:xfrm>
            <a:off x="2027901" y="3207683"/>
            <a:ext cx="7873410" cy="461665"/>
          </a:xfrm>
          <a:prstGeom prst="rect">
            <a:avLst/>
          </a:prstGeom>
          <a:noFill/>
        </p:spPr>
        <p:txBody>
          <a:bodyPr wrap="square" rtlCol="0">
            <a:spAutoFit/>
          </a:bodyPr>
          <a:lstStyle/>
          <a:p>
            <a:r>
              <a:rPr lang="en-US" sz="2400" b="1" dirty="0"/>
              <a:t>And finally accept the alert to complete the alert test</a:t>
            </a:r>
          </a:p>
        </p:txBody>
      </p:sp>
      <p:sp>
        <p:nvSpPr>
          <p:cNvPr id="18" name="TextBox 17">
            <a:extLst>
              <a:ext uri="{FF2B5EF4-FFF2-40B4-BE49-F238E27FC236}">
                <a16:creationId xmlns:a16="http://schemas.microsoft.com/office/drawing/2014/main" id="{96C9807C-94B9-F3B8-0303-63ED9EB5AF5E}"/>
              </a:ext>
            </a:extLst>
          </p:cNvPr>
          <p:cNvSpPr txBox="1"/>
          <p:nvPr/>
        </p:nvSpPr>
        <p:spPr>
          <a:xfrm>
            <a:off x="2027901" y="2764550"/>
            <a:ext cx="7873410" cy="461665"/>
          </a:xfrm>
          <a:prstGeom prst="rect">
            <a:avLst/>
          </a:prstGeom>
          <a:noFill/>
        </p:spPr>
        <p:txBody>
          <a:bodyPr wrap="square" rtlCol="0">
            <a:spAutoFit/>
          </a:bodyPr>
          <a:lstStyle/>
          <a:p>
            <a:r>
              <a:rPr lang="en-US" sz="2400" b="1" dirty="0"/>
              <a:t>Enter the required text using sendKeys() method</a:t>
            </a:r>
          </a:p>
        </p:txBody>
      </p:sp>
    </p:spTree>
    <p:extLst>
      <p:ext uri="{BB962C8B-B14F-4D97-AF65-F5344CB8AC3E}">
        <p14:creationId xmlns:p14="http://schemas.microsoft.com/office/powerpoint/2010/main" val="23272692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391158"/>
          </a:xfrm>
        </p:spPr>
        <p:txBody>
          <a:bodyPr>
            <a:normAutofit/>
          </a:bodyPr>
          <a:lstStyle/>
          <a:p>
            <a:pPr>
              <a:lnSpc>
                <a:spcPct val="90000"/>
              </a:lnSpc>
            </a:pPr>
            <a:r>
              <a:rPr lang="en-IN" sz="2000" b="1" dirty="0">
                <a:latin typeface="+mn-lt"/>
              </a:rPr>
              <a:t>	</a:t>
            </a:r>
          </a:p>
        </p:txBody>
      </p:sp>
      <p:sp>
        <p:nvSpPr>
          <p:cNvPr id="8" name="Title 1">
            <a:extLst>
              <a:ext uri="{FF2B5EF4-FFF2-40B4-BE49-F238E27FC236}">
                <a16:creationId xmlns:a16="http://schemas.microsoft.com/office/drawing/2014/main" id="{20C2CA83-7124-6AC5-A014-71178A338C95}"/>
              </a:ext>
            </a:extLst>
          </p:cNvPr>
          <p:cNvSpPr txBox="1">
            <a:spLocks/>
          </p:cNvSpPr>
          <p:nvPr/>
        </p:nvSpPr>
        <p:spPr>
          <a:xfrm>
            <a:off x="2027902" y="1138834"/>
            <a:ext cx="7291037" cy="597400"/>
          </a:xfrm>
          <a:prstGeom prst="rect">
            <a:avLst/>
          </a:prstGeom>
        </p:spPr>
        <p:txBody>
          <a:bodyPr vert="horz" lIns="68580" tIns="34290" rIns="68580" bIns="3429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latin typeface="+mn-lt"/>
              </a:rPr>
              <a:t>				</a:t>
            </a:r>
          </a:p>
        </p:txBody>
      </p:sp>
      <p:sp>
        <p:nvSpPr>
          <p:cNvPr id="10" name="Title 1">
            <a:extLst>
              <a:ext uri="{FF2B5EF4-FFF2-40B4-BE49-F238E27FC236}">
                <a16:creationId xmlns:a16="http://schemas.microsoft.com/office/drawing/2014/main" id="{A256FCBD-B881-5BAD-91C2-4E238FCFBFE6}"/>
              </a:ext>
            </a:extLst>
          </p:cNvPr>
          <p:cNvSpPr txBox="1">
            <a:spLocks/>
          </p:cNvSpPr>
          <p:nvPr/>
        </p:nvSpPr>
        <p:spPr>
          <a:xfrm>
            <a:off x="3466958" y="656327"/>
            <a:ext cx="7291037" cy="597400"/>
          </a:xfrm>
          <a:prstGeom prst="rect">
            <a:avLst/>
          </a:prstGeom>
        </p:spPr>
        <p:txBody>
          <a:bodyPr vert="horz" lIns="68580" tIns="34290" rIns="68580" bIns="3429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mn-lt"/>
              </a:rPr>
              <a:t>Handling Confirmation Alerts in Selenium</a:t>
            </a:r>
          </a:p>
        </p:txBody>
      </p:sp>
      <p:sp>
        <p:nvSpPr>
          <p:cNvPr id="12" name="TextBox 11">
            <a:extLst>
              <a:ext uri="{FF2B5EF4-FFF2-40B4-BE49-F238E27FC236}">
                <a16:creationId xmlns:a16="http://schemas.microsoft.com/office/drawing/2014/main" id="{CC9F3B00-E203-8FC1-147B-AF957B6D35CE}"/>
              </a:ext>
            </a:extLst>
          </p:cNvPr>
          <p:cNvSpPr txBox="1"/>
          <p:nvPr/>
        </p:nvSpPr>
        <p:spPr>
          <a:xfrm>
            <a:off x="2027901" y="2223370"/>
            <a:ext cx="7873410" cy="400110"/>
          </a:xfrm>
          <a:prstGeom prst="rect">
            <a:avLst/>
          </a:prstGeom>
          <a:noFill/>
        </p:spPr>
        <p:txBody>
          <a:bodyPr wrap="square" rtlCol="0">
            <a:spAutoFit/>
          </a:bodyPr>
          <a:lstStyle/>
          <a:p>
            <a:r>
              <a:rPr lang="en-US" sz="2000" b="1" dirty="0"/>
              <a:t>Need to switch to the alert first</a:t>
            </a:r>
          </a:p>
        </p:txBody>
      </p:sp>
      <p:sp>
        <p:nvSpPr>
          <p:cNvPr id="13" name="TextBox 12">
            <a:extLst>
              <a:ext uri="{FF2B5EF4-FFF2-40B4-BE49-F238E27FC236}">
                <a16:creationId xmlns:a16="http://schemas.microsoft.com/office/drawing/2014/main" id="{FD3BE452-4497-6AC0-5D55-6FC2CAD175EA}"/>
              </a:ext>
            </a:extLst>
          </p:cNvPr>
          <p:cNvSpPr txBox="1"/>
          <p:nvPr/>
        </p:nvSpPr>
        <p:spPr>
          <a:xfrm>
            <a:off x="2027901" y="2639281"/>
            <a:ext cx="7873410" cy="400110"/>
          </a:xfrm>
          <a:prstGeom prst="rect">
            <a:avLst/>
          </a:prstGeom>
          <a:noFill/>
        </p:spPr>
        <p:txBody>
          <a:bodyPr wrap="square" rtlCol="0">
            <a:spAutoFit/>
          </a:bodyPr>
          <a:lstStyle/>
          <a:p>
            <a:r>
              <a:rPr lang="en-US" sz="2000" b="1" dirty="0"/>
              <a:t>Get the text from the alert using prompt.getText()</a:t>
            </a:r>
          </a:p>
        </p:txBody>
      </p:sp>
      <p:sp>
        <p:nvSpPr>
          <p:cNvPr id="14" name="TextBox 13">
            <a:extLst>
              <a:ext uri="{FF2B5EF4-FFF2-40B4-BE49-F238E27FC236}">
                <a16:creationId xmlns:a16="http://schemas.microsoft.com/office/drawing/2014/main" id="{474B08AA-9993-819E-117F-05B9AEE3F283}"/>
              </a:ext>
            </a:extLst>
          </p:cNvPr>
          <p:cNvSpPr txBox="1"/>
          <p:nvPr/>
        </p:nvSpPr>
        <p:spPr>
          <a:xfrm>
            <a:off x="2027901" y="3055192"/>
            <a:ext cx="7873410" cy="400110"/>
          </a:xfrm>
          <a:prstGeom prst="rect">
            <a:avLst/>
          </a:prstGeom>
          <a:noFill/>
        </p:spPr>
        <p:txBody>
          <a:bodyPr wrap="square" rtlCol="0">
            <a:spAutoFit/>
          </a:bodyPr>
          <a:lstStyle/>
          <a:p>
            <a:r>
              <a:rPr lang="en-US" sz="2000" b="1" dirty="0"/>
              <a:t>And finally accept or dismiss the alert to complete the alert test</a:t>
            </a:r>
          </a:p>
        </p:txBody>
      </p:sp>
    </p:spTree>
    <p:extLst>
      <p:ext uri="{BB962C8B-B14F-4D97-AF65-F5344CB8AC3E}">
        <p14:creationId xmlns:p14="http://schemas.microsoft.com/office/powerpoint/2010/main" val="675933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18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391158"/>
          </a:xfrm>
        </p:spPr>
        <p:txBody>
          <a:bodyPr>
            <a:normAutofit/>
          </a:bodyPr>
          <a:lstStyle/>
          <a:p>
            <a:pPr>
              <a:lnSpc>
                <a:spcPct val="90000"/>
              </a:lnSpc>
            </a:pPr>
            <a:r>
              <a:rPr lang="en-IN" sz="1800" b="1" dirty="0">
                <a:latin typeface="+mn-lt"/>
              </a:rPr>
              <a:t>	</a:t>
            </a:r>
            <a:endParaRPr lang="en-IN" sz="1800" dirty="0">
              <a:latin typeface="+mn-lt"/>
            </a:endParaRPr>
          </a:p>
        </p:txBody>
      </p:sp>
      <p:sp>
        <p:nvSpPr>
          <p:cNvPr id="10" name="Title 1">
            <a:extLst>
              <a:ext uri="{FF2B5EF4-FFF2-40B4-BE49-F238E27FC236}">
                <a16:creationId xmlns:a16="http://schemas.microsoft.com/office/drawing/2014/main" id="{9BD46A76-13A2-C832-C583-33F3B75D068A}"/>
              </a:ext>
            </a:extLst>
          </p:cNvPr>
          <p:cNvSpPr txBox="1">
            <a:spLocks/>
          </p:cNvSpPr>
          <p:nvPr/>
        </p:nvSpPr>
        <p:spPr>
          <a:xfrm>
            <a:off x="1158473" y="463587"/>
            <a:ext cx="7291037" cy="597400"/>
          </a:xfrm>
          <a:prstGeom prst="rect">
            <a:avLst/>
          </a:prstGeom>
        </p:spPr>
        <p:txBody>
          <a:bodyPr vert="horz" lIns="68580" tIns="34290" rIns="68580" bIns="3429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a:latin typeface="+mn-lt"/>
              </a:rPr>
              <a:t>								Frames</a:t>
            </a:r>
          </a:p>
        </p:txBody>
      </p:sp>
      <p:sp>
        <p:nvSpPr>
          <p:cNvPr id="11" name="TextBox 10">
            <a:extLst>
              <a:ext uri="{FF2B5EF4-FFF2-40B4-BE49-F238E27FC236}">
                <a16:creationId xmlns:a16="http://schemas.microsoft.com/office/drawing/2014/main" id="{D39FCC25-7580-1B36-70BC-B98B2CC8310B}"/>
              </a:ext>
            </a:extLst>
          </p:cNvPr>
          <p:cNvSpPr txBox="1"/>
          <p:nvPr/>
        </p:nvSpPr>
        <p:spPr>
          <a:xfrm>
            <a:off x="1686684" y="1225619"/>
            <a:ext cx="9047232" cy="923330"/>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b="1" dirty="0">
                <a:latin typeface="+mn-lt"/>
              </a:rPr>
              <a:t>An iframe is also known as the inline frame. It is a tag used in HTML5 to embed an HTML document within a parent HTML document. An iframe tag is defined using &lt;iframe&gt;&lt;/iframe&gt; tags</a:t>
            </a:r>
          </a:p>
        </p:txBody>
      </p:sp>
      <p:sp>
        <p:nvSpPr>
          <p:cNvPr id="12" name="TextBox 11">
            <a:extLst>
              <a:ext uri="{FF2B5EF4-FFF2-40B4-BE49-F238E27FC236}">
                <a16:creationId xmlns:a16="http://schemas.microsoft.com/office/drawing/2014/main" id="{22EC1DBE-5995-63AE-9539-344EDF2B687D}"/>
              </a:ext>
            </a:extLst>
          </p:cNvPr>
          <p:cNvSpPr txBox="1"/>
          <p:nvPr/>
        </p:nvSpPr>
        <p:spPr>
          <a:xfrm>
            <a:off x="1691034" y="2421366"/>
            <a:ext cx="8462616" cy="1200329"/>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b="1" dirty="0">
                <a:latin typeface="+mn-lt"/>
              </a:rPr>
              <a:t>The iframes are mainly used to insert content from external sources. For example, an advertisement displayed on a web page. They can float within the webpage, which means one can position an iframe at a specific position on a web page</a:t>
            </a:r>
          </a:p>
        </p:txBody>
      </p:sp>
      <p:pic>
        <p:nvPicPr>
          <p:cNvPr id="13" name="Picture 12">
            <a:extLst>
              <a:ext uri="{FF2B5EF4-FFF2-40B4-BE49-F238E27FC236}">
                <a16:creationId xmlns:a16="http://schemas.microsoft.com/office/drawing/2014/main" id="{183738C3-D3CE-5312-49A3-30F24E7BD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602" y="3972521"/>
            <a:ext cx="8125748" cy="2500300"/>
          </a:xfrm>
          <a:prstGeom prst="rect">
            <a:avLst/>
          </a:prstGeom>
          <a:effectLst>
            <a:glow rad="127000">
              <a:schemeClr val="tx1"/>
            </a:glow>
          </a:effectLst>
        </p:spPr>
      </p:pic>
    </p:spTree>
    <p:extLst>
      <p:ext uri="{BB962C8B-B14F-4D97-AF65-F5344CB8AC3E}">
        <p14:creationId xmlns:p14="http://schemas.microsoft.com/office/powerpoint/2010/main" val="8144447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B41397A-1897-C806-ED5B-76CA5BC9376E}"/>
              </a:ext>
            </a:extLst>
          </p:cNvPr>
          <p:cNvSpPr txBox="1">
            <a:spLocks/>
          </p:cNvSpPr>
          <p:nvPr/>
        </p:nvSpPr>
        <p:spPr>
          <a:xfrm>
            <a:off x="2266950" y="2340769"/>
            <a:ext cx="7886700"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b="1" dirty="0">
              <a:solidFill>
                <a:schemeClr val="tx1">
                  <a:alpha val="80000"/>
                </a:schemeClr>
              </a:solidFill>
              <a:ea typeface="+mj-ea"/>
              <a:cs typeface="+mj-cs"/>
            </a:endParaRPr>
          </a:p>
        </p:txBody>
      </p:sp>
      <p:sp>
        <p:nvSpPr>
          <p:cNvPr id="2" name="Title 1">
            <a:extLst>
              <a:ext uri="{FF2B5EF4-FFF2-40B4-BE49-F238E27FC236}">
                <a16:creationId xmlns:a16="http://schemas.microsoft.com/office/drawing/2014/main" id="{8932C7CA-1F73-A60E-E486-7EEBDA30068E}"/>
              </a:ext>
            </a:extLst>
          </p:cNvPr>
          <p:cNvSpPr>
            <a:spLocks noGrp="1"/>
          </p:cNvSpPr>
          <p:nvPr>
            <p:ph type="title"/>
          </p:nvPr>
        </p:nvSpPr>
        <p:spPr>
          <a:xfrm>
            <a:off x="2152650" y="1131095"/>
            <a:ext cx="7886700" cy="391158"/>
          </a:xfrm>
        </p:spPr>
        <p:txBody>
          <a:bodyPr>
            <a:normAutofit/>
          </a:bodyPr>
          <a:lstStyle/>
          <a:p>
            <a:pPr>
              <a:lnSpc>
                <a:spcPct val="90000"/>
              </a:lnSpc>
            </a:pPr>
            <a:r>
              <a:rPr lang="en-IN" sz="2000" b="1" dirty="0">
                <a:latin typeface="+mn-lt"/>
              </a:rPr>
              <a:t>	</a:t>
            </a:r>
            <a:endParaRPr lang="en-IN" sz="2000" dirty="0">
              <a:latin typeface="+mn-lt"/>
            </a:endParaRPr>
          </a:p>
        </p:txBody>
      </p:sp>
      <p:sp>
        <p:nvSpPr>
          <p:cNvPr id="7" name="TextBox 6">
            <a:extLst>
              <a:ext uri="{FF2B5EF4-FFF2-40B4-BE49-F238E27FC236}">
                <a16:creationId xmlns:a16="http://schemas.microsoft.com/office/drawing/2014/main" id="{BDA0C5CC-E14F-D415-3033-311415272A78}"/>
              </a:ext>
            </a:extLst>
          </p:cNvPr>
          <p:cNvSpPr txBox="1"/>
          <p:nvPr/>
        </p:nvSpPr>
        <p:spPr>
          <a:xfrm>
            <a:off x="2266950" y="869682"/>
            <a:ext cx="7157434" cy="707886"/>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sz="2000" b="1" dirty="0">
                <a:latin typeface="+mn-lt"/>
              </a:rPr>
              <a:t>For a browser to work with several elements in iframes, it is crucial for the browser to identify all the iframes</a:t>
            </a:r>
          </a:p>
        </p:txBody>
      </p:sp>
      <p:sp>
        <p:nvSpPr>
          <p:cNvPr id="14" name="TextBox 13">
            <a:extLst>
              <a:ext uri="{FF2B5EF4-FFF2-40B4-BE49-F238E27FC236}">
                <a16:creationId xmlns:a16="http://schemas.microsoft.com/office/drawing/2014/main" id="{BA72872A-E76E-8DD1-321F-0E7618FD48BF}"/>
              </a:ext>
            </a:extLst>
          </p:cNvPr>
          <p:cNvSpPr txBox="1"/>
          <p:nvPr/>
        </p:nvSpPr>
        <p:spPr>
          <a:xfrm>
            <a:off x="2266950" y="1632883"/>
            <a:ext cx="7253882" cy="707886"/>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sz="2000" b="1" dirty="0">
                <a:latin typeface="+mn-lt"/>
              </a:rPr>
              <a:t>we need to use the SwitchTo().frame method. This method enables the browser to switch between multiple frames</a:t>
            </a:r>
          </a:p>
        </p:txBody>
      </p:sp>
      <p:pic>
        <p:nvPicPr>
          <p:cNvPr id="15" name="Picture 14">
            <a:extLst>
              <a:ext uri="{FF2B5EF4-FFF2-40B4-BE49-F238E27FC236}">
                <a16:creationId xmlns:a16="http://schemas.microsoft.com/office/drawing/2014/main" id="{3EA1AAC1-99E0-9F01-63C6-41159919756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38350" y="2772656"/>
            <a:ext cx="7420131" cy="3650133"/>
          </a:xfrm>
          <a:prstGeom prst="rect">
            <a:avLst/>
          </a:prstGeom>
          <a:effectLst>
            <a:glow rad="127000">
              <a:schemeClr val="tx1"/>
            </a:glow>
          </a:effectLst>
        </p:spPr>
      </p:pic>
      <p:sp>
        <p:nvSpPr>
          <p:cNvPr id="3" name="Title 1">
            <a:extLst>
              <a:ext uri="{FF2B5EF4-FFF2-40B4-BE49-F238E27FC236}">
                <a16:creationId xmlns:a16="http://schemas.microsoft.com/office/drawing/2014/main" id="{C1EFE2AF-BE62-6147-EE0C-397D40EBCBFF}"/>
              </a:ext>
            </a:extLst>
          </p:cNvPr>
          <p:cNvSpPr txBox="1">
            <a:spLocks/>
          </p:cNvSpPr>
          <p:nvPr/>
        </p:nvSpPr>
        <p:spPr>
          <a:xfrm>
            <a:off x="978591" y="179680"/>
            <a:ext cx="7291037" cy="597400"/>
          </a:xfrm>
          <a:prstGeom prst="rect">
            <a:avLst/>
          </a:prstGeom>
        </p:spPr>
        <p:txBody>
          <a:bodyPr vert="horz" lIns="68580" tIns="34290" rIns="68580" bIns="3429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a:latin typeface="+mn-lt"/>
              </a:rPr>
              <a:t>								Frames</a:t>
            </a:r>
          </a:p>
        </p:txBody>
      </p:sp>
    </p:spTree>
    <p:extLst>
      <p:ext uri="{BB962C8B-B14F-4D97-AF65-F5344CB8AC3E}">
        <p14:creationId xmlns:p14="http://schemas.microsoft.com/office/powerpoint/2010/main" val="10923971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mn-lt"/>
              </a:rPr>
              <a:t>					  Web Table in Selenium</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442432" y="2085413"/>
            <a:ext cx="9543245" cy="369332"/>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Typical example of Web Table</a:t>
            </a:r>
          </a:p>
        </p:txBody>
      </p:sp>
      <p:pic>
        <p:nvPicPr>
          <p:cNvPr id="3" name="Picture 2">
            <a:extLst>
              <a:ext uri="{FF2B5EF4-FFF2-40B4-BE49-F238E27FC236}">
                <a16:creationId xmlns:a16="http://schemas.microsoft.com/office/drawing/2014/main" id="{31DFF5FF-07DD-49E9-BEBA-FCA03791B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9525" y="2739895"/>
            <a:ext cx="9169058" cy="3326722"/>
          </a:xfrm>
          <a:prstGeom prst="rect">
            <a:avLst/>
          </a:prstGeom>
          <a:effectLst>
            <a:glow rad="127000">
              <a:schemeClr val="tx1"/>
            </a:glow>
          </a:effectLst>
        </p:spPr>
      </p:pic>
    </p:spTree>
    <p:extLst>
      <p:ext uri="{BB962C8B-B14F-4D97-AF65-F5344CB8AC3E}">
        <p14:creationId xmlns:p14="http://schemas.microsoft.com/office/powerpoint/2010/main" val="3990294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Web Table in Selenium</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639379" y="1894151"/>
            <a:ext cx="9543245" cy="369332"/>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Get number of rows of a web table in Selenium</a:t>
            </a:r>
          </a:p>
        </p:txBody>
      </p:sp>
      <p:sp>
        <p:nvSpPr>
          <p:cNvPr id="6" name="TextBox 5">
            <a:extLst>
              <a:ext uri="{FF2B5EF4-FFF2-40B4-BE49-F238E27FC236}">
                <a16:creationId xmlns:a16="http://schemas.microsoft.com/office/drawing/2014/main" id="{286EFCFC-238F-4848-B0A4-7718B3525D5C}"/>
              </a:ext>
            </a:extLst>
          </p:cNvPr>
          <p:cNvSpPr txBox="1"/>
          <p:nvPr/>
        </p:nvSpPr>
        <p:spPr>
          <a:xfrm>
            <a:off x="1639379" y="2493443"/>
            <a:ext cx="9543245" cy="369332"/>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Get number of columns of a web table in Selenium</a:t>
            </a:r>
          </a:p>
        </p:txBody>
      </p:sp>
      <p:pic>
        <p:nvPicPr>
          <p:cNvPr id="8" name="Picture 7">
            <a:extLst>
              <a:ext uri="{FF2B5EF4-FFF2-40B4-BE49-F238E27FC236}">
                <a16:creationId xmlns:a16="http://schemas.microsoft.com/office/drawing/2014/main" id="{25C7C86D-9907-4959-AEAB-806B4E4B51C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77711" y="3995225"/>
            <a:ext cx="8871532" cy="2096085"/>
          </a:xfrm>
          <a:prstGeom prst="rect">
            <a:avLst/>
          </a:prstGeom>
          <a:effectLst>
            <a:glow rad="127000">
              <a:schemeClr val="tx1"/>
            </a:glow>
          </a:effectLst>
        </p:spPr>
      </p:pic>
    </p:spTree>
    <p:extLst>
      <p:ext uri="{BB962C8B-B14F-4D97-AF65-F5344CB8AC3E}">
        <p14:creationId xmlns:p14="http://schemas.microsoft.com/office/powerpoint/2010/main" val="25925831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Web Table in Selenium</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441854" y="1753630"/>
            <a:ext cx="9543245" cy="369332"/>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Fetch data from a specific table cell</a:t>
            </a:r>
          </a:p>
        </p:txBody>
      </p:sp>
      <p:pic>
        <p:nvPicPr>
          <p:cNvPr id="8" name="Picture 7">
            <a:extLst>
              <a:ext uri="{FF2B5EF4-FFF2-40B4-BE49-F238E27FC236}">
                <a16:creationId xmlns:a16="http://schemas.microsoft.com/office/drawing/2014/main" id="{25C7C86D-9907-4959-AEAB-806B4E4B51C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94228" y="3657600"/>
            <a:ext cx="9099022" cy="2335237"/>
          </a:xfrm>
          <a:prstGeom prst="rect">
            <a:avLst/>
          </a:prstGeom>
          <a:effectLst>
            <a:glow rad="127000">
              <a:schemeClr val="tx1"/>
            </a:glow>
          </a:effectLst>
        </p:spPr>
      </p:pic>
    </p:spTree>
    <p:extLst>
      <p:ext uri="{BB962C8B-B14F-4D97-AF65-F5344CB8AC3E}">
        <p14:creationId xmlns:p14="http://schemas.microsoft.com/office/powerpoint/2010/main" val="35711169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Dynamic Web Table in Selenium</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441854" y="1615131"/>
            <a:ext cx="9543245" cy="646331"/>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There is no rocket science in the handling of tables. All you need to is to inspect the table cell and get the HTML location of it</a:t>
            </a:r>
          </a:p>
        </p:txBody>
      </p:sp>
      <p:sp>
        <p:nvSpPr>
          <p:cNvPr id="5" name="TextBox 4">
            <a:extLst>
              <a:ext uri="{FF2B5EF4-FFF2-40B4-BE49-F238E27FC236}">
                <a16:creationId xmlns:a16="http://schemas.microsoft.com/office/drawing/2014/main" id="{F68BE121-A905-4722-B7B1-9D856F952971}"/>
              </a:ext>
            </a:extLst>
          </p:cNvPr>
          <p:cNvSpPr txBox="1"/>
          <p:nvPr/>
        </p:nvSpPr>
        <p:spPr>
          <a:xfrm>
            <a:off x="1441854" y="2381449"/>
            <a:ext cx="9543245" cy="646331"/>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All we need to find the exact position / location of the specific cell of which we want to fetch the data.</a:t>
            </a:r>
          </a:p>
        </p:txBody>
      </p:sp>
      <p:pic>
        <p:nvPicPr>
          <p:cNvPr id="3" name="Picture 2">
            <a:extLst>
              <a:ext uri="{FF2B5EF4-FFF2-40B4-BE49-F238E27FC236}">
                <a16:creationId xmlns:a16="http://schemas.microsoft.com/office/drawing/2014/main" id="{FD7B7028-D2B3-4D63-8BE0-5202A25C7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157" y="3429000"/>
            <a:ext cx="6592220" cy="1009791"/>
          </a:xfrm>
          <a:prstGeom prst="rect">
            <a:avLst/>
          </a:prstGeom>
        </p:spPr>
      </p:pic>
      <p:pic>
        <p:nvPicPr>
          <p:cNvPr id="7" name="Picture 6">
            <a:extLst>
              <a:ext uri="{FF2B5EF4-FFF2-40B4-BE49-F238E27FC236}">
                <a16:creationId xmlns:a16="http://schemas.microsoft.com/office/drawing/2014/main" id="{BD85667A-AE6F-4C44-A26E-7F9CB91FB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9363" y="4852289"/>
            <a:ext cx="6592219" cy="1009791"/>
          </a:xfrm>
          <a:prstGeom prst="rect">
            <a:avLst/>
          </a:prstGeom>
        </p:spPr>
      </p:pic>
    </p:spTree>
    <p:extLst>
      <p:ext uri="{BB962C8B-B14F-4D97-AF65-F5344CB8AC3E}">
        <p14:creationId xmlns:p14="http://schemas.microsoft.com/office/powerpoint/2010/main" val="18113777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Reading text from Webpage</a:t>
            </a:r>
          </a:p>
        </p:txBody>
      </p:sp>
      <p:sp>
        <p:nvSpPr>
          <p:cNvPr id="6" name="TextBox 5">
            <a:extLst>
              <a:ext uri="{FF2B5EF4-FFF2-40B4-BE49-F238E27FC236}">
                <a16:creationId xmlns:a16="http://schemas.microsoft.com/office/drawing/2014/main" id="{0520056A-6BA9-40A9-8501-1C89FF7A6862}"/>
              </a:ext>
            </a:extLst>
          </p:cNvPr>
          <p:cNvSpPr txBox="1"/>
          <p:nvPr/>
        </p:nvSpPr>
        <p:spPr>
          <a:xfrm>
            <a:off x="1442430" y="2608107"/>
            <a:ext cx="9543245" cy="923330"/>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r>
              <a:rPr lang="en-US" dirty="0"/>
              <a:t>First of all, we have to identify the element on the page for which we want to get the text with the help of any locators like id, class, name, xpath, cssSelector, tag name, link text or partial link text</a:t>
            </a:r>
          </a:p>
        </p:txBody>
      </p:sp>
      <p:sp>
        <p:nvSpPr>
          <p:cNvPr id="9" name="Rectangle: Rounded Corners 8">
            <a:extLst>
              <a:ext uri="{FF2B5EF4-FFF2-40B4-BE49-F238E27FC236}">
                <a16:creationId xmlns:a16="http://schemas.microsoft.com/office/drawing/2014/main" id="{8F938F19-4542-4340-AEE5-6FE1F70096F6}"/>
              </a:ext>
            </a:extLst>
          </p:cNvPr>
          <p:cNvSpPr/>
          <p:nvPr/>
        </p:nvSpPr>
        <p:spPr>
          <a:xfrm>
            <a:off x="647114" y="1505243"/>
            <a:ext cx="10480431" cy="4487594"/>
          </a:xfrm>
          <a:prstGeom prst="roundRect">
            <a:avLst>
              <a:gd name="adj" fmla="val 4441"/>
            </a:avLst>
          </a:prstGeom>
          <a:noFill/>
          <a:ln>
            <a:solidFill>
              <a:schemeClr val="tx1"/>
            </a:solidFill>
          </a:ln>
          <a:effectLst>
            <a:glow rad="127000">
              <a:schemeClr val="bg2"/>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B790568-525A-49C8-85B1-2795602AB9B1}"/>
              </a:ext>
            </a:extLst>
          </p:cNvPr>
          <p:cNvSpPr txBox="1"/>
          <p:nvPr/>
        </p:nvSpPr>
        <p:spPr>
          <a:xfrm>
            <a:off x="1442432" y="1946914"/>
            <a:ext cx="9543245" cy="646331"/>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We can get the text from a website using Selenium webDriver USING the getText() method. It helps to obtain the text for a particular element which is visible</a:t>
            </a:r>
          </a:p>
        </p:txBody>
      </p:sp>
      <p:pic>
        <p:nvPicPr>
          <p:cNvPr id="3" name="Picture 2">
            <a:extLst>
              <a:ext uri="{FF2B5EF4-FFF2-40B4-BE49-F238E27FC236}">
                <a16:creationId xmlns:a16="http://schemas.microsoft.com/office/drawing/2014/main" id="{901AE5CD-EF67-4F8F-94F6-FB110E980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3835" y="4044004"/>
            <a:ext cx="6513750" cy="1488055"/>
          </a:xfrm>
          <a:prstGeom prst="rect">
            <a:avLst/>
          </a:prstGeom>
          <a:effectLst>
            <a:glow rad="127000">
              <a:schemeClr val="tx1"/>
            </a:glow>
          </a:effectLst>
        </p:spPr>
      </p:pic>
    </p:spTree>
    <p:extLst>
      <p:ext uri="{BB962C8B-B14F-4D97-AF65-F5344CB8AC3E}">
        <p14:creationId xmlns:p14="http://schemas.microsoft.com/office/powerpoint/2010/main" val="11152940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Reading text from Webpage</a:t>
            </a:r>
          </a:p>
        </p:txBody>
      </p:sp>
      <p:sp>
        <p:nvSpPr>
          <p:cNvPr id="9" name="Rectangle: Rounded Corners 8">
            <a:extLst>
              <a:ext uri="{FF2B5EF4-FFF2-40B4-BE49-F238E27FC236}">
                <a16:creationId xmlns:a16="http://schemas.microsoft.com/office/drawing/2014/main" id="{8F938F19-4542-4340-AEE5-6FE1F70096F6}"/>
              </a:ext>
            </a:extLst>
          </p:cNvPr>
          <p:cNvSpPr/>
          <p:nvPr/>
        </p:nvSpPr>
        <p:spPr>
          <a:xfrm>
            <a:off x="647114" y="1505243"/>
            <a:ext cx="10480431" cy="4487594"/>
          </a:xfrm>
          <a:prstGeom prst="roundRect">
            <a:avLst>
              <a:gd name="adj" fmla="val 4441"/>
            </a:avLst>
          </a:prstGeom>
          <a:noFill/>
          <a:ln>
            <a:solidFill>
              <a:schemeClr val="tx1"/>
            </a:solidFill>
          </a:ln>
          <a:effectLst>
            <a:glow rad="127000">
              <a:schemeClr val="bg2"/>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B790568-525A-49C8-85B1-2795602AB9B1}"/>
              </a:ext>
            </a:extLst>
          </p:cNvPr>
          <p:cNvSpPr txBox="1"/>
          <p:nvPr/>
        </p:nvSpPr>
        <p:spPr>
          <a:xfrm>
            <a:off x="1442432" y="2085413"/>
            <a:ext cx="9543245" cy="369332"/>
          </a:xfrm>
          <a:prstGeom prst="rect">
            <a:avLst/>
          </a:prstGeom>
          <a:noFill/>
        </p:spPr>
        <p:txBody>
          <a:bodyPr wrap="square" lIns="91440" rIns="182880" rtlCol="0" anchor="ctr" anchorCtr="0">
            <a:spAutoFit/>
          </a:bodyPr>
          <a:lstStyle>
            <a:defPPr>
              <a:defRPr lang="en-US"/>
            </a:defPPr>
            <a:lvl1pPr>
              <a:defRPr b="0" i="0">
                <a:effectLst/>
                <a:latin typeface="Poppins" panose="00000500000000000000" pitchFamily="2" charset="0"/>
              </a:defRPr>
            </a:lvl1pPr>
          </a:lstStyle>
          <a:p>
            <a:pPr algn="just"/>
            <a:r>
              <a:rPr lang="en-US" dirty="0"/>
              <a:t>We can also get the entire text of a webpage using getText() method</a:t>
            </a:r>
          </a:p>
        </p:txBody>
      </p:sp>
      <p:pic>
        <p:nvPicPr>
          <p:cNvPr id="3" name="Picture 2">
            <a:extLst>
              <a:ext uri="{FF2B5EF4-FFF2-40B4-BE49-F238E27FC236}">
                <a16:creationId xmlns:a16="http://schemas.microsoft.com/office/drawing/2014/main" id="{901AE5CD-EF67-4F8F-94F6-FB110E980A9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93835" y="3749040"/>
            <a:ext cx="6513749" cy="1488055"/>
          </a:xfrm>
          <a:prstGeom prst="rect">
            <a:avLst/>
          </a:prstGeom>
          <a:effectLst>
            <a:glow rad="127000">
              <a:schemeClr val="tx1"/>
            </a:glow>
          </a:effectLst>
        </p:spPr>
      </p:pic>
    </p:spTree>
    <p:extLst>
      <p:ext uri="{BB962C8B-B14F-4D97-AF65-F5344CB8AC3E}">
        <p14:creationId xmlns:p14="http://schemas.microsoft.com/office/powerpoint/2010/main" val="2413677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Alerts in Selenium</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923330"/>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Alerts are small popup boxes/windows which display the messages/notifications and notify the user with some information seeking some permission on certain kinds of operations</a:t>
            </a:r>
          </a:p>
        </p:txBody>
      </p:sp>
      <p:sp>
        <p:nvSpPr>
          <p:cNvPr id="2" name="TextBox 1">
            <a:extLst>
              <a:ext uri="{FF2B5EF4-FFF2-40B4-BE49-F238E27FC236}">
                <a16:creationId xmlns:a16="http://schemas.microsoft.com/office/drawing/2014/main" id="{C867AA2F-9917-4884-A1CE-B1A24AF2896A}"/>
              </a:ext>
            </a:extLst>
          </p:cNvPr>
          <p:cNvSpPr txBox="1"/>
          <p:nvPr/>
        </p:nvSpPr>
        <p:spPr>
          <a:xfrm>
            <a:off x="1146213" y="3029637"/>
            <a:ext cx="8950827" cy="646331"/>
          </a:xfrm>
          <a:prstGeom prst="rect">
            <a:avLst/>
          </a:prstGeom>
          <a:noFill/>
        </p:spPr>
        <p:txBody>
          <a:bodyPr wrap="square" rtlCol="0">
            <a:spAutoFit/>
          </a:bodyPr>
          <a:lstStyle/>
          <a:p>
            <a:r>
              <a:rPr lang="en-US" dirty="0"/>
              <a:t>For Example, The alert box displayed below requires an action from the user to press OK and accept or press Cancel and dismiss the message box</a:t>
            </a:r>
          </a:p>
        </p:txBody>
      </p:sp>
      <p:sp>
        <p:nvSpPr>
          <p:cNvPr id="7" name="TextBox 6">
            <a:extLst>
              <a:ext uri="{FF2B5EF4-FFF2-40B4-BE49-F238E27FC236}">
                <a16:creationId xmlns:a16="http://schemas.microsoft.com/office/drawing/2014/main" id="{0FF17B9C-4970-4DDD-A697-E2D14000A40E}"/>
              </a:ext>
            </a:extLst>
          </p:cNvPr>
          <p:cNvSpPr txBox="1"/>
          <p:nvPr/>
        </p:nvSpPr>
        <p:spPr>
          <a:xfrm>
            <a:off x="1146213" y="2313379"/>
            <a:ext cx="9671842" cy="646331"/>
          </a:xfrm>
          <a:prstGeom prst="rect">
            <a:avLst/>
          </a:prstGeom>
          <a:noFill/>
        </p:spPr>
        <p:txBody>
          <a:bodyPr wrap="square" rtlCol="0">
            <a:spAutoFit/>
          </a:bodyPr>
          <a:lstStyle/>
          <a:p>
            <a:r>
              <a:rPr lang="en-US" dirty="0"/>
              <a:t>Additionally, we can also use them for warning purposes. Sometimes, the user can enter a few details in the alert box as well</a:t>
            </a:r>
          </a:p>
        </p:txBody>
      </p:sp>
      <p:sp>
        <p:nvSpPr>
          <p:cNvPr id="8" name="TextBox 7">
            <a:extLst>
              <a:ext uri="{FF2B5EF4-FFF2-40B4-BE49-F238E27FC236}">
                <a16:creationId xmlns:a16="http://schemas.microsoft.com/office/drawing/2014/main" id="{8D9CDC1B-0F90-4190-A025-2E024D2A13B0}"/>
              </a:ext>
            </a:extLst>
          </p:cNvPr>
          <p:cNvSpPr txBox="1"/>
          <p:nvPr/>
        </p:nvSpPr>
        <p:spPr>
          <a:xfrm>
            <a:off x="1146213" y="3809470"/>
            <a:ext cx="8950827" cy="923330"/>
          </a:xfrm>
          <a:prstGeom prst="rect">
            <a:avLst/>
          </a:prstGeom>
          <a:noFill/>
        </p:spPr>
        <p:txBody>
          <a:bodyPr wrap="square" rtlCol="0">
            <a:spAutoFit/>
          </a:bodyPr>
          <a:lstStyle/>
          <a:p>
            <a:r>
              <a:rPr lang="en-US" dirty="0"/>
              <a:t>Application alerts shift your focus from the current browser window to a newly opened window and force the user to read the message displayed and act accordingly</a:t>
            </a:r>
          </a:p>
        </p:txBody>
      </p:sp>
      <p:sp>
        <p:nvSpPr>
          <p:cNvPr id="9" name="TextBox 8">
            <a:extLst>
              <a:ext uri="{FF2B5EF4-FFF2-40B4-BE49-F238E27FC236}">
                <a16:creationId xmlns:a16="http://schemas.microsoft.com/office/drawing/2014/main" id="{AC73D60B-DD1B-4A7A-B6A9-A9F785FB0FC8}"/>
              </a:ext>
            </a:extLst>
          </p:cNvPr>
          <p:cNvSpPr txBox="1"/>
          <p:nvPr/>
        </p:nvSpPr>
        <p:spPr>
          <a:xfrm>
            <a:off x="1146213" y="4866302"/>
            <a:ext cx="8950827" cy="646331"/>
          </a:xfrm>
          <a:prstGeom prst="rect">
            <a:avLst/>
          </a:prstGeom>
          <a:noFill/>
        </p:spPr>
        <p:txBody>
          <a:bodyPr wrap="square" rtlCol="0">
            <a:spAutoFit/>
          </a:bodyPr>
          <a:lstStyle/>
          <a:p>
            <a:r>
              <a:rPr lang="en-US" dirty="0"/>
              <a:t>Users will be blocked and will not be able to work further unless the alert message box gets handled</a:t>
            </a:r>
          </a:p>
        </p:txBody>
      </p:sp>
    </p:spTree>
    <p:extLst>
      <p:ext uri="{BB962C8B-B14F-4D97-AF65-F5344CB8AC3E}">
        <p14:creationId xmlns:p14="http://schemas.microsoft.com/office/powerpoint/2010/main" val="10481438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Simple Alert</a:t>
            </a:r>
          </a:p>
        </p:txBody>
      </p:sp>
      <p:pic>
        <p:nvPicPr>
          <p:cNvPr id="5" name="Picture 4">
            <a:extLst>
              <a:ext uri="{FF2B5EF4-FFF2-40B4-BE49-F238E27FC236}">
                <a16:creationId xmlns:a16="http://schemas.microsoft.com/office/drawing/2014/main" id="{BCA5DB49-9946-4958-8B5A-9BE4B93FED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53225" y="4011570"/>
            <a:ext cx="7342354" cy="2230326"/>
          </a:xfrm>
          <a:prstGeom prst="rect">
            <a:avLst/>
          </a:prstGeom>
          <a:effectLst>
            <a:glow rad="127000">
              <a:schemeClr val="tx1"/>
            </a:glow>
          </a:effectLst>
        </p:spPr>
      </p:pic>
      <p:sp>
        <p:nvSpPr>
          <p:cNvPr id="3" name="TextBox 2">
            <a:extLst>
              <a:ext uri="{FF2B5EF4-FFF2-40B4-BE49-F238E27FC236}">
                <a16:creationId xmlns:a16="http://schemas.microsoft.com/office/drawing/2014/main" id="{DF3D0376-27F6-4315-80E2-600B3F550A8C}"/>
              </a:ext>
            </a:extLst>
          </p:cNvPr>
          <p:cNvSpPr txBox="1"/>
          <p:nvPr/>
        </p:nvSpPr>
        <p:spPr>
          <a:xfrm>
            <a:off x="984738" y="1448972"/>
            <a:ext cx="10283484" cy="646331"/>
          </a:xfrm>
          <a:prstGeom prst="rect">
            <a:avLst/>
          </a:prstGeom>
          <a:noFill/>
        </p:spPr>
        <p:txBody>
          <a:bodyPr wrap="square" rtlCol="0">
            <a:spAutoFit/>
          </a:bodyPr>
          <a:lstStyle/>
          <a:p>
            <a:r>
              <a:rPr lang="en-US"/>
              <a:t>These alerts are just informational alerts and have an OK button on them. Users can click on the OK button after reading the message displayed on the alert box</a:t>
            </a:r>
            <a:endParaRPr lang="en-US" dirty="0"/>
          </a:p>
        </p:txBody>
      </p:sp>
      <p:sp>
        <p:nvSpPr>
          <p:cNvPr id="10" name="TextBox 9">
            <a:extLst>
              <a:ext uri="{FF2B5EF4-FFF2-40B4-BE49-F238E27FC236}">
                <a16:creationId xmlns:a16="http://schemas.microsoft.com/office/drawing/2014/main" id="{E16777B8-127E-4C31-9E6F-187FC0924BEA}"/>
              </a:ext>
            </a:extLst>
          </p:cNvPr>
          <p:cNvSpPr txBox="1"/>
          <p:nvPr/>
        </p:nvSpPr>
        <p:spPr>
          <a:xfrm>
            <a:off x="984738" y="2289514"/>
            <a:ext cx="10283484" cy="369332"/>
          </a:xfrm>
          <a:prstGeom prst="rect">
            <a:avLst/>
          </a:prstGeom>
          <a:noFill/>
        </p:spPr>
        <p:txBody>
          <a:bodyPr wrap="square" rtlCol="0">
            <a:spAutoFit/>
          </a:bodyPr>
          <a:lstStyle/>
          <a:p>
            <a:r>
              <a:rPr lang="en-US" dirty="0"/>
              <a:t>A simple alert box looks like below</a:t>
            </a:r>
          </a:p>
        </p:txBody>
      </p:sp>
    </p:spTree>
    <p:extLst>
      <p:ext uri="{BB962C8B-B14F-4D97-AF65-F5344CB8AC3E}">
        <p14:creationId xmlns:p14="http://schemas.microsoft.com/office/powerpoint/2010/main" val="20745661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Prompt Alert</a:t>
            </a:r>
          </a:p>
        </p:txBody>
      </p:sp>
      <p:pic>
        <p:nvPicPr>
          <p:cNvPr id="5" name="Picture 4">
            <a:extLst>
              <a:ext uri="{FF2B5EF4-FFF2-40B4-BE49-F238E27FC236}">
                <a16:creationId xmlns:a16="http://schemas.microsoft.com/office/drawing/2014/main" id="{BCA5DB49-9946-4958-8B5A-9BE4B93FED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4738" y="4051494"/>
            <a:ext cx="7441810" cy="2190401"/>
          </a:xfrm>
          <a:prstGeom prst="rect">
            <a:avLst/>
          </a:prstGeom>
          <a:effectLst>
            <a:glow rad="127000">
              <a:schemeClr val="tx1"/>
            </a:glow>
          </a:effectLst>
        </p:spPr>
      </p:pic>
      <p:sp>
        <p:nvSpPr>
          <p:cNvPr id="3" name="TextBox 2">
            <a:extLst>
              <a:ext uri="{FF2B5EF4-FFF2-40B4-BE49-F238E27FC236}">
                <a16:creationId xmlns:a16="http://schemas.microsoft.com/office/drawing/2014/main" id="{DF3D0376-27F6-4315-80E2-600B3F550A8C}"/>
              </a:ext>
            </a:extLst>
          </p:cNvPr>
          <p:cNvSpPr txBox="1"/>
          <p:nvPr/>
        </p:nvSpPr>
        <p:spPr>
          <a:xfrm>
            <a:off x="984738" y="1448972"/>
            <a:ext cx="10283484" cy="646331"/>
          </a:xfrm>
          <a:prstGeom prst="rect">
            <a:avLst/>
          </a:prstGeom>
          <a:noFill/>
        </p:spPr>
        <p:txBody>
          <a:bodyPr wrap="square" rtlCol="0">
            <a:spAutoFit/>
          </a:bodyPr>
          <a:lstStyle/>
          <a:p>
            <a:r>
              <a:rPr lang="en-US" dirty="0"/>
              <a:t>In Prompt alerts, some input requirement is there from the user in the form of text needs to enter in the alert box</a:t>
            </a:r>
          </a:p>
        </p:txBody>
      </p:sp>
      <p:sp>
        <p:nvSpPr>
          <p:cNvPr id="10" name="TextBox 9">
            <a:extLst>
              <a:ext uri="{FF2B5EF4-FFF2-40B4-BE49-F238E27FC236}">
                <a16:creationId xmlns:a16="http://schemas.microsoft.com/office/drawing/2014/main" id="{E16777B8-127E-4C31-9E6F-187FC0924BEA}"/>
              </a:ext>
            </a:extLst>
          </p:cNvPr>
          <p:cNvSpPr txBox="1"/>
          <p:nvPr/>
        </p:nvSpPr>
        <p:spPr>
          <a:xfrm>
            <a:off x="984738" y="2289514"/>
            <a:ext cx="10283484" cy="646331"/>
          </a:xfrm>
          <a:prstGeom prst="rect">
            <a:avLst/>
          </a:prstGeom>
          <a:noFill/>
        </p:spPr>
        <p:txBody>
          <a:bodyPr wrap="square" rtlCol="0">
            <a:spAutoFit/>
          </a:bodyPr>
          <a:lstStyle/>
          <a:p>
            <a:r>
              <a:rPr lang="en-US" dirty="0"/>
              <a:t>A prompt alert box is displayed like below, where the user can enter his/her username and press the OK button or Cancel the alert box without entering any details</a:t>
            </a:r>
          </a:p>
        </p:txBody>
      </p:sp>
    </p:spTree>
    <p:extLst>
      <p:ext uri="{BB962C8B-B14F-4D97-AF65-F5344CB8AC3E}">
        <p14:creationId xmlns:p14="http://schemas.microsoft.com/office/powerpoint/2010/main" val="3777363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Confirmation Alert</a:t>
            </a:r>
          </a:p>
        </p:txBody>
      </p:sp>
      <p:pic>
        <p:nvPicPr>
          <p:cNvPr id="5" name="Picture 4">
            <a:extLst>
              <a:ext uri="{FF2B5EF4-FFF2-40B4-BE49-F238E27FC236}">
                <a16:creationId xmlns:a16="http://schemas.microsoft.com/office/drawing/2014/main" id="{BCA5DB49-9946-4958-8B5A-9BE4B93FED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95038" y="4051494"/>
            <a:ext cx="7421209" cy="2190401"/>
          </a:xfrm>
          <a:prstGeom prst="rect">
            <a:avLst/>
          </a:prstGeom>
          <a:effectLst>
            <a:glow rad="127000">
              <a:schemeClr val="tx1"/>
            </a:glow>
          </a:effectLst>
        </p:spPr>
      </p:pic>
      <p:sp>
        <p:nvSpPr>
          <p:cNvPr id="3" name="TextBox 2">
            <a:extLst>
              <a:ext uri="{FF2B5EF4-FFF2-40B4-BE49-F238E27FC236}">
                <a16:creationId xmlns:a16="http://schemas.microsoft.com/office/drawing/2014/main" id="{DF3D0376-27F6-4315-80E2-600B3F550A8C}"/>
              </a:ext>
            </a:extLst>
          </p:cNvPr>
          <p:cNvSpPr txBox="1"/>
          <p:nvPr/>
        </p:nvSpPr>
        <p:spPr>
          <a:xfrm>
            <a:off x="984738" y="1448972"/>
            <a:ext cx="10283484" cy="646331"/>
          </a:xfrm>
          <a:prstGeom prst="rect">
            <a:avLst/>
          </a:prstGeom>
          <a:noFill/>
        </p:spPr>
        <p:txBody>
          <a:bodyPr wrap="square" rtlCol="0">
            <a:spAutoFit/>
          </a:bodyPr>
          <a:lstStyle/>
          <a:p>
            <a:r>
              <a:rPr lang="en-US" dirty="0"/>
              <a:t>These alerts get some confirmation from the user in the form of accepting or dismissing the message box</a:t>
            </a:r>
          </a:p>
        </p:txBody>
      </p:sp>
      <p:sp>
        <p:nvSpPr>
          <p:cNvPr id="10" name="TextBox 9">
            <a:extLst>
              <a:ext uri="{FF2B5EF4-FFF2-40B4-BE49-F238E27FC236}">
                <a16:creationId xmlns:a16="http://schemas.microsoft.com/office/drawing/2014/main" id="{E16777B8-127E-4C31-9E6F-187FC0924BEA}"/>
              </a:ext>
            </a:extLst>
          </p:cNvPr>
          <p:cNvSpPr txBox="1"/>
          <p:nvPr/>
        </p:nvSpPr>
        <p:spPr>
          <a:xfrm>
            <a:off x="984738" y="2289514"/>
            <a:ext cx="10283484" cy="646331"/>
          </a:xfrm>
          <a:prstGeom prst="rect">
            <a:avLst/>
          </a:prstGeom>
          <a:noFill/>
        </p:spPr>
        <p:txBody>
          <a:bodyPr wrap="square" rtlCol="0">
            <a:spAutoFit/>
          </a:bodyPr>
          <a:lstStyle/>
          <a:p>
            <a:r>
              <a:rPr lang="en-US" dirty="0"/>
              <a:t>They are different from prompt alerts in a way that the user cannot enter anything as there is no text-box available</a:t>
            </a:r>
          </a:p>
        </p:txBody>
      </p:sp>
      <p:sp>
        <p:nvSpPr>
          <p:cNvPr id="6" name="TextBox 5">
            <a:extLst>
              <a:ext uri="{FF2B5EF4-FFF2-40B4-BE49-F238E27FC236}">
                <a16:creationId xmlns:a16="http://schemas.microsoft.com/office/drawing/2014/main" id="{045B65F4-A5C8-43F1-94D5-FECA21196848}"/>
              </a:ext>
            </a:extLst>
          </p:cNvPr>
          <p:cNvSpPr txBox="1"/>
          <p:nvPr/>
        </p:nvSpPr>
        <p:spPr>
          <a:xfrm>
            <a:off x="984738" y="3105834"/>
            <a:ext cx="10283484" cy="369332"/>
          </a:xfrm>
          <a:prstGeom prst="rect">
            <a:avLst/>
          </a:prstGeom>
          <a:noFill/>
        </p:spPr>
        <p:txBody>
          <a:bodyPr wrap="square" rtlCol="0">
            <a:spAutoFit/>
          </a:bodyPr>
          <a:lstStyle/>
          <a:p>
            <a:r>
              <a:rPr lang="en-US" dirty="0"/>
              <a:t>Users can only read the message and provide the inputs by pressing the OK/Cancel button</a:t>
            </a:r>
          </a:p>
        </p:txBody>
      </p:sp>
    </p:spTree>
    <p:extLst>
      <p:ext uri="{BB962C8B-B14F-4D97-AF65-F5344CB8AC3E}">
        <p14:creationId xmlns:p14="http://schemas.microsoft.com/office/powerpoint/2010/main" val="14322164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Handling Alerts in Selenium</a:t>
            </a:r>
          </a:p>
        </p:txBody>
      </p:sp>
      <p:pic>
        <p:nvPicPr>
          <p:cNvPr id="5" name="Picture 4">
            <a:extLst>
              <a:ext uri="{FF2B5EF4-FFF2-40B4-BE49-F238E27FC236}">
                <a16:creationId xmlns:a16="http://schemas.microsoft.com/office/drawing/2014/main" id="{BCA5DB49-9946-4958-8B5A-9BE4B93FED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70806" y="1448971"/>
            <a:ext cx="5908431" cy="5033583"/>
          </a:xfrm>
          <a:prstGeom prst="rect">
            <a:avLst/>
          </a:prstGeom>
          <a:effectLst>
            <a:glow rad="127000">
              <a:schemeClr val="tx1"/>
            </a:glow>
          </a:effectLst>
        </p:spPr>
      </p:pic>
      <p:sp>
        <p:nvSpPr>
          <p:cNvPr id="3" name="TextBox 2">
            <a:extLst>
              <a:ext uri="{FF2B5EF4-FFF2-40B4-BE49-F238E27FC236}">
                <a16:creationId xmlns:a16="http://schemas.microsoft.com/office/drawing/2014/main" id="{DF3D0376-27F6-4315-80E2-600B3F550A8C}"/>
              </a:ext>
            </a:extLst>
          </p:cNvPr>
          <p:cNvSpPr txBox="1"/>
          <p:nvPr/>
        </p:nvSpPr>
        <p:spPr>
          <a:xfrm>
            <a:off x="712763" y="2228671"/>
            <a:ext cx="3165231" cy="2031325"/>
          </a:xfrm>
          <a:prstGeom prst="rect">
            <a:avLst/>
          </a:prstGeom>
          <a:noFill/>
        </p:spPr>
        <p:txBody>
          <a:bodyPr wrap="square" rtlCol="0">
            <a:spAutoFit/>
          </a:bodyPr>
          <a:lstStyle/>
          <a:p>
            <a:r>
              <a:rPr lang="en-US" b="1" dirty="0"/>
              <a:t>Alert.accept()</a:t>
            </a:r>
          </a:p>
          <a:p>
            <a:endParaRPr lang="en-US" b="1" dirty="0"/>
          </a:p>
          <a:p>
            <a:r>
              <a:rPr lang="en-US" b="1" dirty="0"/>
              <a:t>Alert.dismiss()</a:t>
            </a:r>
          </a:p>
          <a:p>
            <a:endParaRPr lang="en-US" b="1" dirty="0"/>
          </a:p>
          <a:p>
            <a:r>
              <a:rPr lang="en-US" b="1" dirty="0"/>
              <a:t>Alert.getText()</a:t>
            </a:r>
          </a:p>
          <a:p>
            <a:endParaRPr lang="en-US" b="1" dirty="0"/>
          </a:p>
          <a:p>
            <a:r>
              <a:rPr lang="en-US" b="1" dirty="0"/>
              <a:t>Alert.sendKeys(String str)</a:t>
            </a:r>
          </a:p>
        </p:txBody>
      </p:sp>
    </p:spTree>
    <p:extLst>
      <p:ext uri="{BB962C8B-B14F-4D97-AF65-F5344CB8AC3E}">
        <p14:creationId xmlns:p14="http://schemas.microsoft.com/office/powerpoint/2010/main" val="8819878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Handling Alerts in Selenium</a:t>
            </a:r>
          </a:p>
        </p:txBody>
      </p:sp>
      <p:pic>
        <p:nvPicPr>
          <p:cNvPr id="5" name="Picture 4">
            <a:extLst>
              <a:ext uri="{FF2B5EF4-FFF2-40B4-BE49-F238E27FC236}">
                <a16:creationId xmlns:a16="http://schemas.microsoft.com/office/drawing/2014/main" id="{BCA5DB49-9946-4958-8B5A-9BE4B93FED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49638" y="4183942"/>
            <a:ext cx="7773992" cy="2031326"/>
          </a:xfrm>
          <a:prstGeom prst="rect">
            <a:avLst/>
          </a:prstGeom>
          <a:effectLst>
            <a:glow rad="127000">
              <a:schemeClr val="tx1"/>
            </a:glow>
          </a:effectLst>
        </p:spPr>
      </p:pic>
      <p:sp>
        <p:nvSpPr>
          <p:cNvPr id="3" name="TextBox 2">
            <a:extLst>
              <a:ext uri="{FF2B5EF4-FFF2-40B4-BE49-F238E27FC236}">
                <a16:creationId xmlns:a16="http://schemas.microsoft.com/office/drawing/2014/main" id="{DF3D0376-27F6-4315-80E2-600B3F550A8C}"/>
              </a:ext>
            </a:extLst>
          </p:cNvPr>
          <p:cNvSpPr txBox="1"/>
          <p:nvPr/>
        </p:nvSpPr>
        <p:spPr>
          <a:xfrm>
            <a:off x="671868" y="1397675"/>
            <a:ext cx="10497880" cy="369332"/>
          </a:xfrm>
          <a:prstGeom prst="rect">
            <a:avLst/>
          </a:prstGeom>
          <a:noFill/>
        </p:spPr>
        <p:txBody>
          <a:bodyPr wrap="square" rtlCol="0">
            <a:spAutoFit/>
          </a:bodyPr>
          <a:lstStyle/>
          <a:p>
            <a:r>
              <a:rPr lang="en-US" b="1" dirty="0"/>
              <a:t>accept() : This method clicks on the 'OK' button of the alert box</a:t>
            </a:r>
          </a:p>
        </p:txBody>
      </p:sp>
      <p:sp>
        <p:nvSpPr>
          <p:cNvPr id="6" name="TextBox 5">
            <a:extLst>
              <a:ext uri="{FF2B5EF4-FFF2-40B4-BE49-F238E27FC236}">
                <a16:creationId xmlns:a16="http://schemas.microsoft.com/office/drawing/2014/main" id="{F877DFF5-A4BB-404D-AD29-FC02D26AD3FC}"/>
              </a:ext>
            </a:extLst>
          </p:cNvPr>
          <p:cNvSpPr txBox="1"/>
          <p:nvPr/>
        </p:nvSpPr>
        <p:spPr>
          <a:xfrm>
            <a:off x="671868" y="1952223"/>
            <a:ext cx="10497880" cy="369332"/>
          </a:xfrm>
          <a:prstGeom prst="rect">
            <a:avLst/>
          </a:prstGeom>
          <a:noFill/>
        </p:spPr>
        <p:txBody>
          <a:bodyPr wrap="square" rtlCol="0">
            <a:spAutoFit/>
          </a:bodyPr>
          <a:lstStyle/>
          <a:p>
            <a:r>
              <a:rPr lang="en-US" b="1" dirty="0"/>
              <a:t>dismiss() : We use this method when the 'Cancel' button clicks in the alert box</a:t>
            </a:r>
          </a:p>
        </p:txBody>
      </p:sp>
      <p:sp>
        <p:nvSpPr>
          <p:cNvPr id="7" name="TextBox 6">
            <a:extLst>
              <a:ext uri="{FF2B5EF4-FFF2-40B4-BE49-F238E27FC236}">
                <a16:creationId xmlns:a16="http://schemas.microsoft.com/office/drawing/2014/main" id="{12457255-4A40-4DAE-B85E-3731F1211799}"/>
              </a:ext>
            </a:extLst>
          </p:cNvPr>
          <p:cNvSpPr txBox="1"/>
          <p:nvPr/>
        </p:nvSpPr>
        <p:spPr>
          <a:xfrm>
            <a:off x="671868" y="3133911"/>
            <a:ext cx="10497880" cy="369332"/>
          </a:xfrm>
          <a:prstGeom prst="rect">
            <a:avLst/>
          </a:prstGeom>
          <a:noFill/>
        </p:spPr>
        <p:txBody>
          <a:bodyPr wrap="square" rtlCol="0">
            <a:spAutoFit/>
          </a:bodyPr>
          <a:lstStyle/>
          <a:p>
            <a:r>
              <a:rPr lang="en-US" b="1" dirty="0"/>
              <a:t>getText() : This method captures the message from the alert box</a:t>
            </a:r>
          </a:p>
        </p:txBody>
      </p:sp>
      <p:sp>
        <p:nvSpPr>
          <p:cNvPr id="8" name="TextBox 7">
            <a:extLst>
              <a:ext uri="{FF2B5EF4-FFF2-40B4-BE49-F238E27FC236}">
                <a16:creationId xmlns:a16="http://schemas.microsoft.com/office/drawing/2014/main" id="{C3438FA9-9DBC-467F-8ED4-337E38D49F4C}"/>
              </a:ext>
            </a:extLst>
          </p:cNvPr>
          <p:cNvSpPr txBox="1"/>
          <p:nvPr/>
        </p:nvSpPr>
        <p:spPr>
          <a:xfrm>
            <a:off x="671868" y="2543067"/>
            <a:ext cx="10497880" cy="369332"/>
          </a:xfrm>
          <a:prstGeom prst="rect">
            <a:avLst/>
          </a:prstGeom>
          <a:noFill/>
        </p:spPr>
        <p:txBody>
          <a:bodyPr wrap="square" rtlCol="0">
            <a:spAutoFit/>
          </a:bodyPr>
          <a:lstStyle/>
          <a:p>
            <a:r>
              <a:rPr lang="en-US" b="1" dirty="0"/>
              <a:t>sendKeys(String string): This method sends data to the alert box</a:t>
            </a:r>
          </a:p>
        </p:txBody>
      </p:sp>
    </p:spTree>
    <p:extLst>
      <p:ext uri="{BB962C8B-B14F-4D97-AF65-F5344CB8AC3E}">
        <p14:creationId xmlns:p14="http://schemas.microsoft.com/office/powerpoint/2010/main" val="10245300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Handling Prompt Alerts in Selenium</a:t>
            </a:r>
          </a:p>
        </p:txBody>
      </p:sp>
      <p:pic>
        <p:nvPicPr>
          <p:cNvPr id="5" name="Picture 4">
            <a:extLst>
              <a:ext uri="{FF2B5EF4-FFF2-40B4-BE49-F238E27FC236}">
                <a16:creationId xmlns:a16="http://schemas.microsoft.com/office/drawing/2014/main" id="{BCA5DB49-9946-4958-8B5A-9BE4B93FED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52689" y="4183941"/>
            <a:ext cx="7793502" cy="2174655"/>
          </a:xfrm>
          <a:prstGeom prst="rect">
            <a:avLst/>
          </a:prstGeom>
          <a:effectLst>
            <a:glow rad="127000">
              <a:schemeClr val="tx1"/>
            </a:glow>
          </a:effectLst>
        </p:spPr>
      </p:pic>
      <p:sp>
        <p:nvSpPr>
          <p:cNvPr id="3" name="TextBox 2">
            <a:extLst>
              <a:ext uri="{FF2B5EF4-FFF2-40B4-BE49-F238E27FC236}">
                <a16:creationId xmlns:a16="http://schemas.microsoft.com/office/drawing/2014/main" id="{DF3D0376-27F6-4315-80E2-600B3F550A8C}"/>
              </a:ext>
            </a:extLst>
          </p:cNvPr>
          <p:cNvSpPr txBox="1"/>
          <p:nvPr/>
        </p:nvSpPr>
        <p:spPr>
          <a:xfrm>
            <a:off x="671868" y="1397675"/>
            <a:ext cx="10497880" cy="369332"/>
          </a:xfrm>
          <a:prstGeom prst="rect">
            <a:avLst/>
          </a:prstGeom>
          <a:noFill/>
        </p:spPr>
        <p:txBody>
          <a:bodyPr wrap="square" rtlCol="0">
            <a:spAutoFit/>
          </a:bodyPr>
          <a:lstStyle/>
          <a:p>
            <a:r>
              <a:rPr lang="en-US" b="1" dirty="0"/>
              <a:t>Need to switch to the alert first</a:t>
            </a:r>
          </a:p>
        </p:txBody>
      </p:sp>
      <p:sp>
        <p:nvSpPr>
          <p:cNvPr id="6" name="TextBox 5">
            <a:extLst>
              <a:ext uri="{FF2B5EF4-FFF2-40B4-BE49-F238E27FC236}">
                <a16:creationId xmlns:a16="http://schemas.microsoft.com/office/drawing/2014/main" id="{F877DFF5-A4BB-404D-AD29-FC02D26AD3FC}"/>
              </a:ext>
            </a:extLst>
          </p:cNvPr>
          <p:cNvSpPr txBox="1"/>
          <p:nvPr/>
        </p:nvSpPr>
        <p:spPr>
          <a:xfrm>
            <a:off x="671868" y="1952223"/>
            <a:ext cx="10497880" cy="369332"/>
          </a:xfrm>
          <a:prstGeom prst="rect">
            <a:avLst/>
          </a:prstGeom>
          <a:noFill/>
        </p:spPr>
        <p:txBody>
          <a:bodyPr wrap="square" rtlCol="0">
            <a:spAutoFit/>
          </a:bodyPr>
          <a:lstStyle/>
          <a:p>
            <a:r>
              <a:rPr lang="en-US" b="1" dirty="0"/>
              <a:t>Get the text from the alert using prompt.getText()</a:t>
            </a:r>
          </a:p>
        </p:txBody>
      </p:sp>
      <p:sp>
        <p:nvSpPr>
          <p:cNvPr id="7" name="TextBox 6">
            <a:extLst>
              <a:ext uri="{FF2B5EF4-FFF2-40B4-BE49-F238E27FC236}">
                <a16:creationId xmlns:a16="http://schemas.microsoft.com/office/drawing/2014/main" id="{12457255-4A40-4DAE-B85E-3731F1211799}"/>
              </a:ext>
            </a:extLst>
          </p:cNvPr>
          <p:cNvSpPr txBox="1"/>
          <p:nvPr/>
        </p:nvSpPr>
        <p:spPr>
          <a:xfrm>
            <a:off x="671868" y="3133911"/>
            <a:ext cx="10497880" cy="369332"/>
          </a:xfrm>
          <a:prstGeom prst="rect">
            <a:avLst/>
          </a:prstGeom>
          <a:noFill/>
        </p:spPr>
        <p:txBody>
          <a:bodyPr wrap="square" rtlCol="0">
            <a:spAutoFit/>
          </a:bodyPr>
          <a:lstStyle/>
          <a:p>
            <a:r>
              <a:rPr lang="en-US" b="1" dirty="0"/>
              <a:t>And finally accept the alert to complete the alert test</a:t>
            </a:r>
          </a:p>
        </p:txBody>
      </p:sp>
      <p:sp>
        <p:nvSpPr>
          <p:cNvPr id="8" name="TextBox 7">
            <a:extLst>
              <a:ext uri="{FF2B5EF4-FFF2-40B4-BE49-F238E27FC236}">
                <a16:creationId xmlns:a16="http://schemas.microsoft.com/office/drawing/2014/main" id="{C3438FA9-9DBC-467F-8ED4-337E38D49F4C}"/>
              </a:ext>
            </a:extLst>
          </p:cNvPr>
          <p:cNvSpPr txBox="1"/>
          <p:nvPr/>
        </p:nvSpPr>
        <p:spPr>
          <a:xfrm>
            <a:off x="671868" y="2543067"/>
            <a:ext cx="10497880" cy="369332"/>
          </a:xfrm>
          <a:prstGeom prst="rect">
            <a:avLst/>
          </a:prstGeom>
          <a:noFill/>
        </p:spPr>
        <p:txBody>
          <a:bodyPr wrap="square" rtlCol="0">
            <a:spAutoFit/>
          </a:bodyPr>
          <a:lstStyle/>
          <a:p>
            <a:r>
              <a:rPr lang="en-US" b="1" dirty="0"/>
              <a:t>Enter the required text using sendKeys() method</a:t>
            </a:r>
          </a:p>
        </p:txBody>
      </p:sp>
    </p:spTree>
    <p:extLst>
      <p:ext uri="{BB962C8B-B14F-4D97-AF65-F5344CB8AC3E}">
        <p14:creationId xmlns:p14="http://schemas.microsoft.com/office/powerpoint/2010/main" val="38023416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839744"/>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Handling Confirmation Alerts in Selenium</a:t>
            </a:r>
          </a:p>
        </p:txBody>
      </p:sp>
      <p:pic>
        <p:nvPicPr>
          <p:cNvPr id="5" name="Picture 4">
            <a:extLst>
              <a:ext uri="{FF2B5EF4-FFF2-40B4-BE49-F238E27FC236}">
                <a16:creationId xmlns:a16="http://schemas.microsoft.com/office/drawing/2014/main" id="{BCA5DB49-9946-4958-8B5A-9BE4B93FED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51163" y="4135903"/>
            <a:ext cx="7666891" cy="2222694"/>
          </a:xfrm>
          <a:prstGeom prst="rect">
            <a:avLst/>
          </a:prstGeom>
          <a:effectLst>
            <a:glow rad="127000">
              <a:schemeClr val="tx1"/>
            </a:glow>
          </a:effectLst>
        </p:spPr>
      </p:pic>
      <p:sp>
        <p:nvSpPr>
          <p:cNvPr id="3" name="TextBox 2">
            <a:extLst>
              <a:ext uri="{FF2B5EF4-FFF2-40B4-BE49-F238E27FC236}">
                <a16:creationId xmlns:a16="http://schemas.microsoft.com/office/drawing/2014/main" id="{DF3D0376-27F6-4315-80E2-600B3F550A8C}"/>
              </a:ext>
            </a:extLst>
          </p:cNvPr>
          <p:cNvSpPr txBox="1"/>
          <p:nvPr/>
        </p:nvSpPr>
        <p:spPr>
          <a:xfrm>
            <a:off x="671868" y="1821493"/>
            <a:ext cx="10497880" cy="369332"/>
          </a:xfrm>
          <a:prstGeom prst="rect">
            <a:avLst/>
          </a:prstGeom>
          <a:noFill/>
        </p:spPr>
        <p:txBody>
          <a:bodyPr wrap="square" rtlCol="0">
            <a:spAutoFit/>
          </a:bodyPr>
          <a:lstStyle/>
          <a:p>
            <a:r>
              <a:rPr lang="en-US" b="1" dirty="0"/>
              <a:t>Need to switch to the alert first</a:t>
            </a:r>
          </a:p>
        </p:txBody>
      </p:sp>
      <p:sp>
        <p:nvSpPr>
          <p:cNvPr id="6" name="TextBox 5">
            <a:extLst>
              <a:ext uri="{FF2B5EF4-FFF2-40B4-BE49-F238E27FC236}">
                <a16:creationId xmlns:a16="http://schemas.microsoft.com/office/drawing/2014/main" id="{F877DFF5-A4BB-404D-AD29-FC02D26AD3FC}"/>
              </a:ext>
            </a:extLst>
          </p:cNvPr>
          <p:cNvSpPr txBox="1"/>
          <p:nvPr/>
        </p:nvSpPr>
        <p:spPr>
          <a:xfrm>
            <a:off x="671868" y="2376041"/>
            <a:ext cx="10497880" cy="369332"/>
          </a:xfrm>
          <a:prstGeom prst="rect">
            <a:avLst/>
          </a:prstGeom>
          <a:noFill/>
        </p:spPr>
        <p:txBody>
          <a:bodyPr wrap="square" rtlCol="0">
            <a:spAutoFit/>
          </a:bodyPr>
          <a:lstStyle/>
          <a:p>
            <a:r>
              <a:rPr lang="en-US" b="1" dirty="0"/>
              <a:t>Get the text from the alert using prompt.getText()</a:t>
            </a:r>
          </a:p>
        </p:txBody>
      </p:sp>
      <p:sp>
        <p:nvSpPr>
          <p:cNvPr id="7" name="TextBox 6">
            <a:extLst>
              <a:ext uri="{FF2B5EF4-FFF2-40B4-BE49-F238E27FC236}">
                <a16:creationId xmlns:a16="http://schemas.microsoft.com/office/drawing/2014/main" id="{12457255-4A40-4DAE-B85E-3731F1211799}"/>
              </a:ext>
            </a:extLst>
          </p:cNvPr>
          <p:cNvSpPr txBox="1"/>
          <p:nvPr/>
        </p:nvSpPr>
        <p:spPr>
          <a:xfrm>
            <a:off x="671868" y="2930589"/>
            <a:ext cx="10497880" cy="369332"/>
          </a:xfrm>
          <a:prstGeom prst="rect">
            <a:avLst/>
          </a:prstGeom>
          <a:noFill/>
        </p:spPr>
        <p:txBody>
          <a:bodyPr wrap="square" rtlCol="0">
            <a:spAutoFit/>
          </a:bodyPr>
          <a:lstStyle/>
          <a:p>
            <a:r>
              <a:rPr lang="en-US" b="1" dirty="0"/>
              <a:t>And finally accept or dismiss the alert to complete the alert test</a:t>
            </a:r>
          </a:p>
        </p:txBody>
      </p:sp>
    </p:spTree>
    <p:extLst>
      <p:ext uri="{BB962C8B-B14F-4D97-AF65-F5344CB8AC3E}">
        <p14:creationId xmlns:p14="http://schemas.microsoft.com/office/powerpoint/2010/main" val="26181778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Frames</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923330"/>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An iframe is also known as the inline frame. It is a tag used in HTML5 to embed an HTML document within a parent HTML document. An iframe tag is defined using &lt;iframe&gt;&lt;/iframe&gt; tags</a:t>
            </a:r>
          </a:p>
        </p:txBody>
      </p:sp>
      <p:sp>
        <p:nvSpPr>
          <p:cNvPr id="7" name="TextBox 6">
            <a:extLst>
              <a:ext uri="{FF2B5EF4-FFF2-40B4-BE49-F238E27FC236}">
                <a16:creationId xmlns:a16="http://schemas.microsoft.com/office/drawing/2014/main" id="{0FF17B9C-4970-4DDD-A697-E2D14000A40E}"/>
              </a:ext>
            </a:extLst>
          </p:cNvPr>
          <p:cNvSpPr txBox="1"/>
          <p:nvPr/>
        </p:nvSpPr>
        <p:spPr>
          <a:xfrm>
            <a:off x="1146213" y="2313379"/>
            <a:ext cx="9671842" cy="923330"/>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The iframes are mainly used to insert content from external sources. For example, an advertisement displayed on a web page. They can float within the webpage, which means one can position an iframe at a specific position on a web page</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8370" y="3434130"/>
            <a:ext cx="8238332" cy="3048425"/>
          </a:xfrm>
          <a:prstGeom prst="rect">
            <a:avLst/>
          </a:prstGeom>
          <a:effectLst>
            <a:glow rad="127000">
              <a:schemeClr val="tx1"/>
            </a:glow>
          </a:effectLst>
        </p:spPr>
      </p:pic>
    </p:spTree>
    <p:extLst>
      <p:ext uri="{BB962C8B-B14F-4D97-AF65-F5344CB8AC3E}">
        <p14:creationId xmlns:p14="http://schemas.microsoft.com/office/powerpoint/2010/main" val="25740225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Handling Frames in Selenium</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For a browser to work with several elements in iframes, it is crucial for the browser to identify all the iframes</a:t>
            </a:r>
          </a:p>
        </p:txBody>
      </p:sp>
      <p:sp>
        <p:nvSpPr>
          <p:cNvPr id="7" name="TextBox 6">
            <a:extLst>
              <a:ext uri="{FF2B5EF4-FFF2-40B4-BE49-F238E27FC236}">
                <a16:creationId xmlns:a16="http://schemas.microsoft.com/office/drawing/2014/main" id="{0FF17B9C-4970-4DDD-A697-E2D14000A40E}"/>
              </a:ext>
            </a:extLst>
          </p:cNvPr>
          <p:cNvSpPr txBox="1"/>
          <p:nvPr/>
        </p:nvSpPr>
        <p:spPr>
          <a:xfrm>
            <a:off x="1146213" y="2313379"/>
            <a:ext cx="9671842"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we need to use the SwitchTo().frame method. This method enables the browser to switch between multiple frames</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26744" y="3429000"/>
            <a:ext cx="6879102" cy="2979821"/>
          </a:xfrm>
          <a:prstGeom prst="rect">
            <a:avLst/>
          </a:prstGeom>
          <a:effectLst>
            <a:glow rad="127000">
              <a:schemeClr val="tx1"/>
            </a:glow>
          </a:effectLst>
        </p:spPr>
      </p:pic>
      <p:sp>
        <p:nvSpPr>
          <p:cNvPr id="6" name="TextBox 5">
            <a:extLst>
              <a:ext uri="{FF2B5EF4-FFF2-40B4-BE49-F238E27FC236}">
                <a16:creationId xmlns:a16="http://schemas.microsoft.com/office/drawing/2014/main" id="{7F0447B4-3441-4C4A-A0A7-77C4678D64DD}"/>
              </a:ext>
            </a:extLst>
          </p:cNvPr>
          <p:cNvSpPr txBox="1"/>
          <p:nvPr/>
        </p:nvSpPr>
        <p:spPr>
          <a:xfrm>
            <a:off x="586155" y="3843673"/>
            <a:ext cx="333873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Driver.switchTo().frame(int)</a:t>
            </a:r>
          </a:p>
        </p:txBody>
      </p:sp>
      <p:sp>
        <p:nvSpPr>
          <p:cNvPr id="8" name="TextBox 7">
            <a:extLst>
              <a:ext uri="{FF2B5EF4-FFF2-40B4-BE49-F238E27FC236}">
                <a16:creationId xmlns:a16="http://schemas.microsoft.com/office/drawing/2014/main" id="{912FCA2D-B539-47A9-8867-29938EECB83F}"/>
              </a:ext>
            </a:extLst>
          </p:cNvPr>
          <p:cNvSpPr txBox="1"/>
          <p:nvPr/>
        </p:nvSpPr>
        <p:spPr>
          <a:xfrm>
            <a:off x="586154" y="4357495"/>
            <a:ext cx="3859237"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Driver.switchTo().frame(String)</a:t>
            </a:r>
          </a:p>
        </p:txBody>
      </p:sp>
      <p:sp>
        <p:nvSpPr>
          <p:cNvPr id="9" name="TextBox 8">
            <a:extLst>
              <a:ext uri="{FF2B5EF4-FFF2-40B4-BE49-F238E27FC236}">
                <a16:creationId xmlns:a16="http://schemas.microsoft.com/office/drawing/2014/main" id="{D7153BD5-FCAE-4084-B04D-15607ACD2940}"/>
              </a:ext>
            </a:extLst>
          </p:cNvPr>
          <p:cNvSpPr txBox="1"/>
          <p:nvPr/>
        </p:nvSpPr>
        <p:spPr>
          <a:xfrm>
            <a:off x="586155" y="4871317"/>
            <a:ext cx="3732628"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Driver.switchTo().frame(WE)</a:t>
            </a:r>
          </a:p>
        </p:txBody>
      </p:sp>
      <p:sp>
        <p:nvSpPr>
          <p:cNvPr id="11" name="TextBox 10">
            <a:extLst>
              <a:ext uri="{FF2B5EF4-FFF2-40B4-BE49-F238E27FC236}">
                <a16:creationId xmlns:a16="http://schemas.microsoft.com/office/drawing/2014/main" id="{1384041D-8EC3-45C6-B483-90CF3CD56A28}"/>
              </a:ext>
            </a:extLst>
          </p:cNvPr>
          <p:cNvSpPr txBox="1"/>
          <p:nvPr/>
        </p:nvSpPr>
        <p:spPr>
          <a:xfrm>
            <a:off x="586154" y="5385139"/>
            <a:ext cx="3999914"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Driver.switchTo().parentFrame()</a:t>
            </a:r>
          </a:p>
        </p:txBody>
      </p:sp>
    </p:spTree>
    <p:extLst>
      <p:ext uri="{BB962C8B-B14F-4D97-AF65-F5344CB8AC3E}">
        <p14:creationId xmlns:p14="http://schemas.microsoft.com/office/powerpoint/2010/main" val="8002396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Finding Total No Of Frames</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We can find no of frames on webpage using JavascriptExecutor</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0332" y="2813539"/>
            <a:ext cx="10691446" cy="3456487"/>
          </a:xfrm>
          <a:prstGeom prst="rect">
            <a:avLst/>
          </a:prstGeom>
          <a:effectLst>
            <a:glow rad="127000">
              <a:schemeClr val="tx1"/>
            </a:glow>
          </a:effectLst>
        </p:spPr>
      </p:pic>
    </p:spTree>
    <p:extLst>
      <p:ext uri="{BB962C8B-B14F-4D97-AF65-F5344CB8AC3E}">
        <p14:creationId xmlns:p14="http://schemas.microsoft.com/office/powerpoint/2010/main" val="8837834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Switching between Frames</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err="1"/>
              <a:t>switchTo.frame</a:t>
            </a:r>
            <a:r>
              <a:rPr lang="en-US" dirty="0"/>
              <a:t>(int index)</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0332" y="3179299"/>
            <a:ext cx="10691446" cy="3027752"/>
          </a:xfrm>
          <a:prstGeom prst="rect">
            <a:avLst/>
          </a:prstGeom>
          <a:effectLst>
            <a:glow rad="127000">
              <a:schemeClr val="tx1"/>
            </a:glow>
          </a:effectLst>
        </p:spPr>
      </p:pic>
      <p:sp>
        <p:nvSpPr>
          <p:cNvPr id="5" name="TextBox 4">
            <a:extLst>
              <a:ext uri="{FF2B5EF4-FFF2-40B4-BE49-F238E27FC236}">
                <a16:creationId xmlns:a16="http://schemas.microsoft.com/office/drawing/2014/main" id="{3610F9EB-9FB1-48BC-BD78-62637258D4C2}"/>
              </a:ext>
            </a:extLst>
          </p:cNvPr>
          <p:cNvSpPr txBox="1"/>
          <p:nvPr/>
        </p:nvSpPr>
        <p:spPr>
          <a:xfrm>
            <a:off x="1146213" y="1855899"/>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err="1"/>
              <a:t>switchTo.frame</a:t>
            </a:r>
            <a:r>
              <a:rPr lang="en-US" dirty="0"/>
              <a:t>(String </a:t>
            </a:r>
            <a:r>
              <a:rPr lang="en-US" dirty="0" err="1"/>
              <a:t>frameName</a:t>
            </a:r>
            <a:r>
              <a:rPr lang="en-US" dirty="0"/>
              <a:t>)</a:t>
            </a:r>
          </a:p>
        </p:txBody>
      </p:sp>
      <p:sp>
        <p:nvSpPr>
          <p:cNvPr id="6" name="TextBox 5">
            <a:extLst>
              <a:ext uri="{FF2B5EF4-FFF2-40B4-BE49-F238E27FC236}">
                <a16:creationId xmlns:a16="http://schemas.microsoft.com/office/drawing/2014/main" id="{61E0D993-8BC2-4D8C-A0B7-2E74085B4858}"/>
              </a:ext>
            </a:extLst>
          </p:cNvPr>
          <p:cNvSpPr txBox="1"/>
          <p:nvPr/>
        </p:nvSpPr>
        <p:spPr>
          <a:xfrm>
            <a:off x="1146213" y="2302997"/>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err="1"/>
              <a:t>switchTo.frame</a:t>
            </a:r>
            <a:r>
              <a:rPr lang="en-US" dirty="0"/>
              <a:t>(Webelement </a:t>
            </a:r>
            <a:r>
              <a:rPr lang="en-US" dirty="0" err="1"/>
              <a:t>iframeElement</a:t>
            </a:r>
            <a:r>
              <a:rPr lang="en-US" dirty="0"/>
              <a:t>)</a:t>
            </a:r>
          </a:p>
        </p:txBody>
      </p:sp>
    </p:spTree>
    <p:extLst>
      <p:ext uri="{BB962C8B-B14F-4D97-AF65-F5344CB8AC3E}">
        <p14:creationId xmlns:p14="http://schemas.microsoft.com/office/powerpoint/2010/main" val="285764610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Action Class</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Actions class is an ability provided by Selenium for handling keyboard and mouse events</a:t>
            </a:r>
          </a:p>
        </p:txBody>
      </p:sp>
      <p:sp>
        <p:nvSpPr>
          <p:cNvPr id="7" name="TextBox 6">
            <a:extLst>
              <a:ext uri="{FF2B5EF4-FFF2-40B4-BE49-F238E27FC236}">
                <a16:creationId xmlns:a16="http://schemas.microsoft.com/office/drawing/2014/main" id="{0FF17B9C-4970-4DDD-A697-E2D14000A40E}"/>
              </a:ext>
            </a:extLst>
          </p:cNvPr>
          <p:cNvSpPr txBox="1"/>
          <p:nvPr/>
        </p:nvSpPr>
        <p:spPr>
          <a:xfrm>
            <a:off x="1146213" y="2291955"/>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Operations like drag and drop, clicking on multiple elements with the control key</a:t>
            </a:r>
          </a:p>
        </p:txBody>
      </p:sp>
      <p:pic>
        <p:nvPicPr>
          <p:cNvPr id="3" name="Picture 2">
            <a:extLst>
              <a:ext uri="{FF2B5EF4-FFF2-40B4-BE49-F238E27FC236}">
                <a16:creationId xmlns:a16="http://schemas.microsoft.com/office/drawing/2014/main" id="{D3B0C65E-FD4D-46FD-846C-0DAB5D27D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7373" y="4317472"/>
            <a:ext cx="7110503" cy="1816042"/>
          </a:xfrm>
          <a:prstGeom prst="rect">
            <a:avLst/>
          </a:prstGeom>
          <a:effectLst>
            <a:glow rad="127000">
              <a:schemeClr val="tx1"/>
            </a:glow>
          </a:effectLst>
        </p:spPr>
      </p:pic>
      <p:sp>
        <p:nvSpPr>
          <p:cNvPr id="9" name="TextBox 8">
            <a:extLst>
              <a:ext uri="{FF2B5EF4-FFF2-40B4-BE49-F238E27FC236}">
                <a16:creationId xmlns:a16="http://schemas.microsoft.com/office/drawing/2014/main" id="{ACE9001A-F3CD-4DF8-AA48-C3DC9F171ABE}"/>
              </a:ext>
            </a:extLst>
          </p:cNvPr>
          <p:cNvSpPr txBox="1"/>
          <p:nvPr/>
        </p:nvSpPr>
        <p:spPr>
          <a:xfrm>
            <a:off x="1146213" y="3074293"/>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Typical syntax of Actions class is as follows:</a:t>
            </a:r>
          </a:p>
        </p:txBody>
      </p:sp>
    </p:spTree>
    <p:extLst>
      <p:ext uri="{BB962C8B-B14F-4D97-AF65-F5344CB8AC3E}">
        <p14:creationId xmlns:p14="http://schemas.microsoft.com/office/powerpoint/2010/main" val="32841401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Action Class</a:t>
            </a:r>
          </a:p>
        </p:txBody>
      </p:sp>
      <p:sp>
        <p:nvSpPr>
          <p:cNvPr id="7" name="TextBox 6">
            <a:extLst>
              <a:ext uri="{FF2B5EF4-FFF2-40B4-BE49-F238E27FC236}">
                <a16:creationId xmlns:a16="http://schemas.microsoft.com/office/drawing/2014/main" id="{0FF17B9C-4970-4DDD-A697-E2D14000A40E}"/>
              </a:ext>
            </a:extLst>
          </p:cNvPr>
          <p:cNvSpPr txBox="1"/>
          <p:nvPr/>
        </p:nvSpPr>
        <p:spPr>
          <a:xfrm>
            <a:off x="1427566" y="2296310"/>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dirty="0"/>
              <a:t>doubleClick(): Performs double click on the element</a:t>
            </a:r>
          </a:p>
        </p:txBody>
      </p:sp>
      <p:sp>
        <p:nvSpPr>
          <p:cNvPr id="8" name="TextBox 7">
            <a:extLst>
              <a:ext uri="{FF2B5EF4-FFF2-40B4-BE49-F238E27FC236}">
                <a16:creationId xmlns:a16="http://schemas.microsoft.com/office/drawing/2014/main" id="{3D65A644-4832-4A4F-BD60-6EEDE2EF82E0}"/>
              </a:ext>
            </a:extLst>
          </p:cNvPr>
          <p:cNvSpPr txBox="1"/>
          <p:nvPr/>
        </p:nvSpPr>
        <p:spPr>
          <a:xfrm>
            <a:off x="1427566" y="2841413"/>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dirty="0"/>
              <a:t>clickAndHold(): Performs long click on the mouse without releasing it</a:t>
            </a:r>
          </a:p>
        </p:txBody>
      </p:sp>
      <p:sp>
        <p:nvSpPr>
          <p:cNvPr id="10" name="TextBox 9">
            <a:extLst>
              <a:ext uri="{FF2B5EF4-FFF2-40B4-BE49-F238E27FC236}">
                <a16:creationId xmlns:a16="http://schemas.microsoft.com/office/drawing/2014/main" id="{2BB06FC7-9E0E-4898-BDB5-BABB42E02532}"/>
              </a:ext>
            </a:extLst>
          </p:cNvPr>
          <p:cNvSpPr txBox="1"/>
          <p:nvPr/>
        </p:nvSpPr>
        <p:spPr>
          <a:xfrm>
            <a:off x="1427566" y="3337224"/>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dirty="0"/>
              <a:t>dragAndDrop(): Drags the element from one point and drops to another</a:t>
            </a:r>
          </a:p>
        </p:txBody>
      </p:sp>
      <p:sp>
        <p:nvSpPr>
          <p:cNvPr id="11" name="TextBox 10">
            <a:extLst>
              <a:ext uri="{FF2B5EF4-FFF2-40B4-BE49-F238E27FC236}">
                <a16:creationId xmlns:a16="http://schemas.microsoft.com/office/drawing/2014/main" id="{6AB0192E-7611-4E6E-8F99-AB04086FD1D2}"/>
              </a:ext>
            </a:extLst>
          </p:cNvPr>
          <p:cNvSpPr txBox="1"/>
          <p:nvPr/>
        </p:nvSpPr>
        <p:spPr>
          <a:xfrm>
            <a:off x="1427566" y="3833035"/>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dirty="0"/>
              <a:t>moveToElement(): Shifts the mouse pointer to the center of the element</a:t>
            </a:r>
          </a:p>
        </p:txBody>
      </p:sp>
      <p:sp>
        <p:nvSpPr>
          <p:cNvPr id="12" name="TextBox 11">
            <a:extLst>
              <a:ext uri="{FF2B5EF4-FFF2-40B4-BE49-F238E27FC236}">
                <a16:creationId xmlns:a16="http://schemas.microsoft.com/office/drawing/2014/main" id="{AA58D4F7-59FF-47C2-A061-FC0BE867A678}"/>
              </a:ext>
            </a:extLst>
          </p:cNvPr>
          <p:cNvSpPr txBox="1"/>
          <p:nvPr/>
        </p:nvSpPr>
        <p:spPr>
          <a:xfrm>
            <a:off x="1427566" y="4325461"/>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dirty="0"/>
              <a:t>contextClick(): Performs right-click on the mouse</a:t>
            </a:r>
          </a:p>
        </p:txBody>
      </p:sp>
      <p:sp>
        <p:nvSpPr>
          <p:cNvPr id="14" name="Rectangle: Rounded Corners 13">
            <a:extLst>
              <a:ext uri="{FF2B5EF4-FFF2-40B4-BE49-F238E27FC236}">
                <a16:creationId xmlns:a16="http://schemas.microsoft.com/office/drawing/2014/main" id="{5CB1BAE3-4768-4989-B03B-6EFBB121CE0B}"/>
              </a:ext>
            </a:extLst>
          </p:cNvPr>
          <p:cNvSpPr/>
          <p:nvPr/>
        </p:nvSpPr>
        <p:spPr>
          <a:xfrm>
            <a:off x="618977" y="1504767"/>
            <a:ext cx="10480431" cy="4722971"/>
          </a:xfrm>
          <a:prstGeom prst="roundRect">
            <a:avLst>
              <a:gd name="adj" fmla="val 4441"/>
            </a:avLst>
          </a:prstGeom>
          <a:noFill/>
          <a:ln>
            <a:solidFill>
              <a:schemeClr val="tx1"/>
            </a:solidFill>
          </a:ln>
          <a:effectLst>
            <a:glow rad="127000">
              <a:schemeClr val="bg2"/>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0B90ED0-0F85-4EDE-9C6F-BB1A7D8A73E3}"/>
              </a:ext>
            </a:extLst>
          </p:cNvPr>
          <p:cNvSpPr/>
          <p:nvPr/>
        </p:nvSpPr>
        <p:spPr>
          <a:xfrm>
            <a:off x="1273125" y="1244515"/>
            <a:ext cx="4586067" cy="520504"/>
          </a:xfrm>
          <a:prstGeom prst="rect">
            <a:avLst/>
          </a:prstGeom>
          <a:solidFill>
            <a:schemeClr val="accent1">
              <a:lumMod val="60000"/>
              <a:lumOff val="40000"/>
            </a:schemeClr>
          </a:solidFill>
          <a:ln>
            <a:noFill/>
          </a:ln>
          <a:effectLst>
            <a:glow rad="139700">
              <a:schemeClr val="accent1">
                <a:lumMod val="60000"/>
                <a:lumOff val="4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Mouse Actions in Selenium</a:t>
            </a:r>
          </a:p>
        </p:txBody>
      </p:sp>
    </p:spTree>
    <p:extLst>
      <p:ext uri="{BB962C8B-B14F-4D97-AF65-F5344CB8AC3E}">
        <p14:creationId xmlns:p14="http://schemas.microsoft.com/office/powerpoint/2010/main" val="35595751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Action Class</a:t>
            </a:r>
          </a:p>
        </p:txBody>
      </p:sp>
      <p:sp>
        <p:nvSpPr>
          <p:cNvPr id="7" name="TextBox 6">
            <a:extLst>
              <a:ext uri="{FF2B5EF4-FFF2-40B4-BE49-F238E27FC236}">
                <a16:creationId xmlns:a16="http://schemas.microsoft.com/office/drawing/2014/main" id="{0FF17B9C-4970-4DDD-A697-E2D14000A40E}"/>
              </a:ext>
            </a:extLst>
          </p:cNvPr>
          <p:cNvSpPr txBox="1"/>
          <p:nvPr/>
        </p:nvSpPr>
        <p:spPr>
          <a:xfrm>
            <a:off x="1427566" y="2296310"/>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dirty="0"/>
              <a:t>sendKeys(): Sends a series of keys to the element</a:t>
            </a:r>
          </a:p>
        </p:txBody>
      </p:sp>
      <p:sp>
        <p:nvSpPr>
          <p:cNvPr id="8" name="TextBox 7">
            <a:extLst>
              <a:ext uri="{FF2B5EF4-FFF2-40B4-BE49-F238E27FC236}">
                <a16:creationId xmlns:a16="http://schemas.microsoft.com/office/drawing/2014/main" id="{3D65A644-4832-4A4F-BD60-6EEDE2EF82E0}"/>
              </a:ext>
            </a:extLst>
          </p:cNvPr>
          <p:cNvSpPr txBox="1"/>
          <p:nvPr/>
        </p:nvSpPr>
        <p:spPr>
          <a:xfrm>
            <a:off x="1427566" y="2841413"/>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a:t>keyUp(): Performs key release</a:t>
            </a:r>
            <a:endParaRPr lang="en-US" dirty="0"/>
          </a:p>
        </p:txBody>
      </p:sp>
      <p:sp>
        <p:nvSpPr>
          <p:cNvPr id="10" name="TextBox 9">
            <a:extLst>
              <a:ext uri="{FF2B5EF4-FFF2-40B4-BE49-F238E27FC236}">
                <a16:creationId xmlns:a16="http://schemas.microsoft.com/office/drawing/2014/main" id="{2BB06FC7-9E0E-4898-BDB5-BABB42E02532}"/>
              </a:ext>
            </a:extLst>
          </p:cNvPr>
          <p:cNvSpPr txBox="1"/>
          <p:nvPr/>
        </p:nvSpPr>
        <p:spPr>
          <a:xfrm>
            <a:off x="1427566" y="3470997"/>
            <a:ext cx="9671842"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pPr marL="285750" indent="-285750">
              <a:buFont typeface="Arial" panose="020B0604020202020204" pitchFamily="34" charset="0"/>
              <a:buChar char="•"/>
            </a:pPr>
            <a:r>
              <a:rPr lang="en-US" dirty="0"/>
              <a:t>keyDown(): Performs keypress without release</a:t>
            </a:r>
          </a:p>
        </p:txBody>
      </p:sp>
      <p:sp>
        <p:nvSpPr>
          <p:cNvPr id="14" name="Rectangle: Rounded Corners 13">
            <a:extLst>
              <a:ext uri="{FF2B5EF4-FFF2-40B4-BE49-F238E27FC236}">
                <a16:creationId xmlns:a16="http://schemas.microsoft.com/office/drawing/2014/main" id="{5CB1BAE3-4768-4989-B03B-6EFBB121CE0B}"/>
              </a:ext>
            </a:extLst>
          </p:cNvPr>
          <p:cNvSpPr/>
          <p:nvPr/>
        </p:nvSpPr>
        <p:spPr>
          <a:xfrm>
            <a:off x="618977" y="1504767"/>
            <a:ext cx="10480431" cy="4722971"/>
          </a:xfrm>
          <a:prstGeom prst="roundRect">
            <a:avLst>
              <a:gd name="adj" fmla="val 4441"/>
            </a:avLst>
          </a:prstGeom>
          <a:noFill/>
          <a:ln>
            <a:solidFill>
              <a:schemeClr val="tx1"/>
            </a:solidFill>
          </a:ln>
          <a:effectLst>
            <a:glow rad="127000">
              <a:schemeClr val="bg2"/>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0B90ED0-0F85-4EDE-9C6F-BB1A7D8A73E3}"/>
              </a:ext>
            </a:extLst>
          </p:cNvPr>
          <p:cNvSpPr/>
          <p:nvPr/>
        </p:nvSpPr>
        <p:spPr>
          <a:xfrm>
            <a:off x="1273125" y="1244515"/>
            <a:ext cx="4586067" cy="520504"/>
          </a:xfrm>
          <a:prstGeom prst="rect">
            <a:avLst/>
          </a:prstGeom>
          <a:solidFill>
            <a:schemeClr val="accent1">
              <a:lumMod val="60000"/>
              <a:lumOff val="40000"/>
            </a:schemeClr>
          </a:solidFill>
          <a:ln>
            <a:noFill/>
          </a:ln>
          <a:effectLst>
            <a:glow rad="139700">
              <a:schemeClr val="accent1">
                <a:lumMod val="60000"/>
                <a:lumOff val="4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Keyboard Actions in Selenium</a:t>
            </a:r>
          </a:p>
        </p:txBody>
      </p:sp>
    </p:spTree>
    <p:extLst>
      <p:ext uri="{BB962C8B-B14F-4D97-AF65-F5344CB8AC3E}">
        <p14:creationId xmlns:p14="http://schemas.microsoft.com/office/powerpoint/2010/main" val="169922770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Double Click Action</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First find the element on which double click has to be performed</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0277" y="3140667"/>
            <a:ext cx="10691446" cy="2729697"/>
          </a:xfrm>
          <a:prstGeom prst="rect">
            <a:avLst/>
          </a:prstGeom>
          <a:effectLst>
            <a:glow rad="127000">
              <a:schemeClr val="tx1"/>
            </a:glow>
          </a:effectLst>
        </p:spPr>
      </p:pic>
      <p:sp>
        <p:nvSpPr>
          <p:cNvPr id="5" name="TextBox 4">
            <a:extLst>
              <a:ext uri="{FF2B5EF4-FFF2-40B4-BE49-F238E27FC236}">
                <a16:creationId xmlns:a16="http://schemas.microsoft.com/office/drawing/2014/main" id="{4633A153-7E13-43A2-BE94-2643E115591B}"/>
              </a:ext>
            </a:extLst>
          </p:cNvPr>
          <p:cNvSpPr txBox="1"/>
          <p:nvPr/>
        </p:nvSpPr>
        <p:spPr>
          <a:xfrm>
            <a:off x="1146213" y="2017135"/>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Use Action class’s doubleClick(Webelement).perform(), </a:t>
            </a:r>
          </a:p>
        </p:txBody>
      </p:sp>
    </p:spTree>
    <p:extLst>
      <p:ext uri="{BB962C8B-B14F-4D97-AF65-F5344CB8AC3E}">
        <p14:creationId xmlns:p14="http://schemas.microsoft.com/office/powerpoint/2010/main" val="221671018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Click and Hold Action</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First move the mouse pointer to expected element</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0277" y="3132720"/>
            <a:ext cx="10691446" cy="2677627"/>
          </a:xfrm>
          <a:prstGeom prst="rect">
            <a:avLst/>
          </a:prstGeom>
          <a:effectLst>
            <a:glow rad="127000">
              <a:schemeClr val="tx1"/>
            </a:glow>
          </a:effectLst>
        </p:spPr>
      </p:pic>
      <p:sp>
        <p:nvSpPr>
          <p:cNvPr id="5" name="TextBox 4">
            <a:extLst>
              <a:ext uri="{FF2B5EF4-FFF2-40B4-BE49-F238E27FC236}">
                <a16:creationId xmlns:a16="http://schemas.microsoft.com/office/drawing/2014/main" id="{4633A153-7E13-43A2-BE94-2643E115591B}"/>
              </a:ext>
            </a:extLst>
          </p:cNvPr>
          <p:cNvSpPr txBox="1"/>
          <p:nvPr/>
        </p:nvSpPr>
        <p:spPr>
          <a:xfrm>
            <a:off x="1146213" y="2017135"/>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Use Action class’s clickAndHold(Webelement).perform()</a:t>
            </a:r>
          </a:p>
        </p:txBody>
      </p:sp>
    </p:spTree>
    <p:extLst>
      <p:ext uri="{BB962C8B-B14F-4D97-AF65-F5344CB8AC3E}">
        <p14:creationId xmlns:p14="http://schemas.microsoft.com/office/powerpoint/2010/main" val="35470274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Drag And Drop Action</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Find Draggable element i.e. From element</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40190" y="3429000"/>
            <a:ext cx="10311619" cy="2677627"/>
          </a:xfrm>
          <a:prstGeom prst="rect">
            <a:avLst/>
          </a:prstGeom>
          <a:effectLst>
            <a:glow rad="127000">
              <a:schemeClr val="tx1"/>
            </a:glow>
          </a:effectLst>
        </p:spPr>
      </p:pic>
      <p:sp>
        <p:nvSpPr>
          <p:cNvPr id="5" name="TextBox 4">
            <a:extLst>
              <a:ext uri="{FF2B5EF4-FFF2-40B4-BE49-F238E27FC236}">
                <a16:creationId xmlns:a16="http://schemas.microsoft.com/office/drawing/2014/main" id="{4633A153-7E13-43A2-BE94-2643E115591B}"/>
              </a:ext>
            </a:extLst>
          </p:cNvPr>
          <p:cNvSpPr txBox="1"/>
          <p:nvPr/>
        </p:nvSpPr>
        <p:spPr>
          <a:xfrm>
            <a:off x="1146212" y="2401356"/>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Use Action class’s dragAndDrop(fromWebelement, toWeElement).perform()</a:t>
            </a:r>
          </a:p>
        </p:txBody>
      </p:sp>
      <p:sp>
        <p:nvSpPr>
          <p:cNvPr id="6" name="TextBox 5">
            <a:extLst>
              <a:ext uri="{FF2B5EF4-FFF2-40B4-BE49-F238E27FC236}">
                <a16:creationId xmlns:a16="http://schemas.microsoft.com/office/drawing/2014/main" id="{12E0883F-6E5E-428B-90FF-EF8CC286C3A1}"/>
              </a:ext>
            </a:extLst>
          </p:cNvPr>
          <p:cNvSpPr txBox="1"/>
          <p:nvPr/>
        </p:nvSpPr>
        <p:spPr>
          <a:xfrm>
            <a:off x="1146212" y="1905078"/>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Find droppable element i.e. to element</a:t>
            </a:r>
          </a:p>
        </p:txBody>
      </p:sp>
    </p:spTree>
    <p:extLst>
      <p:ext uri="{BB962C8B-B14F-4D97-AF65-F5344CB8AC3E}">
        <p14:creationId xmlns:p14="http://schemas.microsoft.com/office/powerpoint/2010/main" val="27815297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ContextClick Action</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Context click is nothing but right click mouse action</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40190" y="3429000"/>
            <a:ext cx="10311619" cy="2577905"/>
          </a:xfrm>
          <a:prstGeom prst="rect">
            <a:avLst/>
          </a:prstGeom>
          <a:effectLst>
            <a:glow rad="127000">
              <a:schemeClr val="tx1"/>
            </a:glow>
          </a:effectLst>
        </p:spPr>
      </p:pic>
      <p:sp>
        <p:nvSpPr>
          <p:cNvPr id="5" name="TextBox 4">
            <a:extLst>
              <a:ext uri="{FF2B5EF4-FFF2-40B4-BE49-F238E27FC236}">
                <a16:creationId xmlns:a16="http://schemas.microsoft.com/office/drawing/2014/main" id="{4633A153-7E13-43A2-BE94-2643E115591B}"/>
              </a:ext>
            </a:extLst>
          </p:cNvPr>
          <p:cNvSpPr txBox="1"/>
          <p:nvPr/>
        </p:nvSpPr>
        <p:spPr>
          <a:xfrm>
            <a:off x="1146212" y="2401356"/>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Use Action class’s contextClick(Webelement).perform()</a:t>
            </a:r>
          </a:p>
        </p:txBody>
      </p:sp>
      <p:sp>
        <p:nvSpPr>
          <p:cNvPr id="6" name="TextBox 5">
            <a:extLst>
              <a:ext uri="{FF2B5EF4-FFF2-40B4-BE49-F238E27FC236}">
                <a16:creationId xmlns:a16="http://schemas.microsoft.com/office/drawing/2014/main" id="{12E0883F-6E5E-428B-90FF-EF8CC286C3A1}"/>
              </a:ext>
            </a:extLst>
          </p:cNvPr>
          <p:cNvSpPr txBox="1"/>
          <p:nvPr/>
        </p:nvSpPr>
        <p:spPr>
          <a:xfrm>
            <a:off x="1146212" y="1905078"/>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Find the element on which context click (right click() has to be performed</a:t>
            </a:r>
          </a:p>
        </p:txBody>
      </p:sp>
    </p:spTree>
    <p:extLst>
      <p:ext uri="{BB962C8B-B14F-4D97-AF65-F5344CB8AC3E}">
        <p14:creationId xmlns:p14="http://schemas.microsoft.com/office/powerpoint/2010/main" val="29186069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sendKeys, </a:t>
            </a:r>
            <a:r>
              <a:rPr lang="en-US" sz="4200" dirty="0" err="1">
                <a:latin typeface="Comic Sans MS" panose="030F0702030302020204" pitchFamily="66" charset="0"/>
              </a:rPr>
              <a:t>keyUp</a:t>
            </a:r>
            <a:r>
              <a:rPr lang="en-US" sz="4200" dirty="0">
                <a:latin typeface="Comic Sans MS" panose="030F0702030302020204" pitchFamily="66" charset="0"/>
              </a:rPr>
              <a:t> and keyDown Action</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Actions class sendkeys are typically used for copy and paste text on webpage</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92813" y="3007510"/>
            <a:ext cx="8806374" cy="3475045"/>
          </a:xfrm>
          <a:prstGeom prst="rect">
            <a:avLst/>
          </a:prstGeom>
          <a:effectLst>
            <a:glow rad="127000">
              <a:schemeClr val="tx1"/>
            </a:glow>
          </a:effectLst>
        </p:spPr>
      </p:pic>
      <p:sp>
        <p:nvSpPr>
          <p:cNvPr id="6" name="TextBox 5">
            <a:extLst>
              <a:ext uri="{FF2B5EF4-FFF2-40B4-BE49-F238E27FC236}">
                <a16:creationId xmlns:a16="http://schemas.microsoft.com/office/drawing/2014/main" id="{12E0883F-6E5E-428B-90FF-EF8CC286C3A1}"/>
              </a:ext>
            </a:extLst>
          </p:cNvPr>
          <p:cNvSpPr txBox="1"/>
          <p:nvPr/>
        </p:nvSpPr>
        <p:spPr>
          <a:xfrm>
            <a:off x="1146212" y="1905078"/>
            <a:ext cx="9543245"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In the following code snippet, text from the text field is copied and then pasted in another text field</a:t>
            </a:r>
          </a:p>
        </p:txBody>
      </p:sp>
    </p:spTree>
    <p:extLst>
      <p:ext uri="{BB962C8B-B14F-4D97-AF65-F5344CB8AC3E}">
        <p14:creationId xmlns:p14="http://schemas.microsoft.com/office/powerpoint/2010/main" val="144473995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JavascriptExecutor</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JavascriptExecutor is an interface that is used to execute JavaScript with Selenium</a:t>
            </a:r>
          </a:p>
        </p:txBody>
      </p:sp>
      <p:sp>
        <p:nvSpPr>
          <p:cNvPr id="7" name="TextBox 6">
            <a:extLst>
              <a:ext uri="{FF2B5EF4-FFF2-40B4-BE49-F238E27FC236}">
                <a16:creationId xmlns:a16="http://schemas.microsoft.com/office/drawing/2014/main" id="{0FF17B9C-4970-4DDD-A697-E2D14000A40E}"/>
              </a:ext>
            </a:extLst>
          </p:cNvPr>
          <p:cNvSpPr txBox="1"/>
          <p:nvPr/>
        </p:nvSpPr>
        <p:spPr>
          <a:xfrm>
            <a:off x="1146213" y="2168890"/>
            <a:ext cx="9671842"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JavaScript is a programming language that interacts with HTML in a browser, and to use this function in Selenium, JavascriptExecutor is required</a:t>
            </a:r>
          </a:p>
        </p:txBody>
      </p:sp>
      <p:pic>
        <p:nvPicPr>
          <p:cNvPr id="3" name="Picture 2">
            <a:extLst>
              <a:ext uri="{FF2B5EF4-FFF2-40B4-BE49-F238E27FC236}">
                <a16:creationId xmlns:a16="http://schemas.microsoft.com/office/drawing/2014/main" id="{D3B0C65E-FD4D-46FD-846C-0DAB5D27D2A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16062" y="3014138"/>
            <a:ext cx="5789256" cy="3553576"/>
          </a:xfrm>
          <a:prstGeom prst="rect">
            <a:avLst/>
          </a:prstGeom>
          <a:effectLst>
            <a:glow rad="127000">
              <a:schemeClr val="tx1"/>
            </a:glow>
          </a:effectLst>
        </p:spPr>
      </p:pic>
      <p:sp>
        <p:nvSpPr>
          <p:cNvPr id="10" name="TextBox 9">
            <a:extLst>
              <a:ext uri="{FF2B5EF4-FFF2-40B4-BE49-F238E27FC236}">
                <a16:creationId xmlns:a16="http://schemas.microsoft.com/office/drawing/2014/main" id="{1D884F64-E120-4342-A6C9-C879A3DEA343}"/>
              </a:ext>
            </a:extLst>
          </p:cNvPr>
          <p:cNvSpPr txBox="1"/>
          <p:nvPr/>
        </p:nvSpPr>
        <p:spPr>
          <a:xfrm>
            <a:off x="510822" y="4090879"/>
            <a:ext cx="4426938"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executeScript(script, </a:t>
            </a:r>
            <a:r>
              <a:rPr lang="en-US" dirty="0" err="1"/>
              <a:t>webElement</a:t>
            </a:r>
            <a:r>
              <a:rPr lang="en-US" dirty="0"/>
              <a:t>)</a:t>
            </a:r>
          </a:p>
        </p:txBody>
      </p:sp>
      <p:sp>
        <p:nvSpPr>
          <p:cNvPr id="11" name="TextBox 10">
            <a:extLst>
              <a:ext uri="{FF2B5EF4-FFF2-40B4-BE49-F238E27FC236}">
                <a16:creationId xmlns:a16="http://schemas.microsoft.com/office/drawing/2014/main" id="{C4D1ED81-DB21-4286-A811-C5A5C2BF08FF}"/>
              </a:ext>
            </a:extLst>
          </p:cNvPr>
          <p:cNvSpPr txBox="1"/>
          <p:nvPr/>
        </p:nvSpPr>
        <p:spPr>
          <a:xfrm>
            <a:off x="510822" y="4631056"/>
            <a:ext cx="4905240"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executeAsyncScript(script, </a:t>
            </a:r>
            <a:r>
              <a:rPr lang="en-US" dirty="0" err="1"/>
              <a:t>webElement</a:t>
            </a:r>
            <a:r>
              <a:rPr lang="en-US" dirty="0"/>
              <a:t>)</a:t>
            </a:r>
          </a:p>
        </p:txBody>
      </p:sp>
    </p:spTree>
    <p:extLst>
      <p:ext uri="{BB962C8B-B14F-4D97-AF65-F5344CB8AC3E}">
        <p14:creationId xmlns:p14="http://schemas.microsoft.com/office/powerpoint/2010/main" val="42185628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How to scroll a Page</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Using JavascriptExecutor, we can scroll to an element till its visible</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80160" y="3007510"/>
            <a:ext cx="9219027" cy="3171433"/>
          </a:xfrm>
          <a:prstGeom prst="rect">
            <a:avLst/>
          </a:prstGeom>
          <a:effectLst>
            <a:glow rad="127000">
              <a:schemeClr val="tx1"/>
            </a:glow>
          </a:effectLst>
        </p:spPr>
      </p:pic>
      <p:sp>
        <p:nvSpPr>
          <p:cNvPr id="6" name="TextBox 5">
            <a:extLst>
              <a:ext uri="{FF2B5EF4-FFF2-40B4-BE49-F238E27FC236}">
                <a16:creationId xmlns:a16="http://schemas.microsoft.com/office/drawing/2014/main" id="{12E0883F-6E5E-428B-90FF-EF8CC286C3A1}"/>
              </a:ext>
            </a:extLst>
          </p:cNvPr>
          <p:cNvSpPr txBox="1"/>
          <p:nvPr/>
        </p:nvSpPr>
        <p:spPr>
          <a:xfrm>
            <a:off x="1146212" y="1905078"/>
            <a:ext cx="9543245" cy="369332"/>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Need to find that webelement first and then use scrollIntoView() javascript</a:t>
            </a:r>
          </a:p>
        </p:txBody>
      </p:sp>
    </p:spTree>
    <p:extLst>
      <p:ext uri="{BB962C8B-B14F-4D97-AF65-F5344CB8AC3E}">
        <p14:creationId xmlns:p14="http://schemas.microsoft.com/office/powerpoint/2010/main" val="592922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How to scroll a Page</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The scrollBy() javascript method involves two parameters, x, and y, that represent the horizontal and vertical pixel values, respectively</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08320" y="3304345"/>
            <a:ext cx="9219027" cy="3026846"/>
          </a:xfrm>
          <a:prstGeom prst="rect">
            <a:avLst/>
          </a:prstGeom>
          <a:effectLst>
            <a:glow rad="127000">
              <a:schemeClr val="tx1"/>
            </a:glow>
          </a:effectLst>
        </p:spPr>
      </p:pic>
      <p:sp>
        <p:nvSpPr>
          <p:cNvPr id="6" name="TextBox 5">
            <a:extLst>
              <a:ext uri="{FF2B5EF4-FFF2-40B4-BE49-F238E27FC236}">
                <a16:creationId xmlns:a16="http://schemas.microsoft.com/office/drawing/2014/main" id="{12E0883F-6E5E-428B-90FF-EF8CC286C3A1}"/>
              </a:ext>
            </a:extLst>
          </p:cNvPr>
          <p:cNvSpPr txBox="1"/>
          <p:nvPr/>
        </p:nvSpPr>
        <p:spPr>
          <a:xfrm>
            <a:off x="1146212" y="2291955"/>
            <a:ext cx="9543245"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User can give x and y co-ordinates value as Zero, positive and negative to adjust where to scroll </a:t>
            </a:r>
          </a:p>
        </p:txBody>
      </p:sp>
    </p:spTree>
    <p:extLst>
      <p:ext uri="{BB962C8B-B14F-4D97-AF65-F5344CB8AC3E}">
        <p14:creationId xmlns:p14="http://schemas.microsoft.com/office/powerpoint/2010/main" val="391766006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Capture Screenshot</a:t>
            </a:r>
          </a:p>
        </p:txBody>
      </p:sp>
      <p:sp>
        <p:nvSpPr>
          <p:cNvPr id="13" name="TextBox 12">
            <a:extLst>
              <a:ext uri="{FF2B5EF4-FFF2-40B4-BE49-F238E27FC236}">
                <a16:creationId xmlns:a16="http://schemas.microsoft.com/office/drawing/2014/main" id="{6B790568-525A-49C8-85B1-2795602AB9B1}"/>
              </a:ext>
            </a:extLst>
          </p:cNvPr>
          <p:cNvSpPr txBox="1"/>
          <p:nvPr/>
        </p:nvSpPr>
        <p:spPr>
          <a:xfrm>
            <a:off x="1146213" y="1408801"/>
            <a:ext cx="9543245" cy="923330"/>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In order to capture a screenshot in Selenium, one has to utilize the method TakesScreenshot. This notifies WebDriver that it should take a screenshot in Selenium and store it</a:t>
            </a:r>
          </a:p>
        </p:txBody>
      </p:sp>
      <p:pic>
        <p:nvPicPr>
          <p:cNvPr id="10" name="Picture 9">
            <a:extLst>
              <a:ext uri="{FF2B5EF4-FFF2-40B4-BE49-F238E27FC236}">
                <a16:creationId xmlns:a16="http://schemas.microsoft.com/office/drawing/2014/main" id="{CC1AAAE0-F972-4EB9-BEEA-4749ECFBD4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08320" y="3215285"/>
            <a:ext cx="9720751" cy="2972291"/>
          </a:xfrm>
          <a:prstGeom prst="rect">
            <a:avLst/>
          </a:prstGeom>
          <a:effectLst>
            <a:glow rad="127000">
              <a:schemeClr val="tx1"/>
            </a:glow>
          </a:effectLst>
        </p:spPr>
      </p:pic>
      <p:sp>
        <p:nvSpPr>
          <p:cNvPr id="6" name="TextBox 5">
            <a:extLst>
              <a:ext uri="{FF2B5EF4-FFF2-40B4-BE49-F238E27FC236}">
                <a16:creationId xmlns:a16="http://schemas.microsoft.com/office/drawing/2014/main" id="{12E0883F-6E5E-428B-90FF-EF8CC286C3A1}"/>
              </a:ext>
            </a:extLst>
          </p:cNvPr>
          <p:cNvSpPr txBox="1"/>
          <p:nvPr/>
        </p:nvSpPr>
        <p:spPr>
          <a:xfrm>
            <a:off x="1146212" y="2291955"/>
            <a:ext cx="9543245" cy="646331"/>
          </a:xfrm>
          <a:prstGeom prst="rect">
            <a:avLst/>
          </a:prstGeom>
          <a:noFill/>
        </p:spPr>
        <p:txBody>
          <a:bodyPr wrap="square" rtlCol="0">
            <a:spAutoFit/>
          </a:bodyPr>
          <a:lstStyle>
            <a:defPPr>
              <a:defRPr lang="en-US"/>
            </a:defPPr>
            <a:lvl1pPr>
              <a:defRPr b="0" i="0">
                <a:effectLst/>
                <a:latin typeface="Poppins" panose="00000500000000000000" pitchFamily="2" charset="0"/>
              </a:defRPr>
            </a:lvl1pPr>
          </a:lstStyle>
          <a:p>
            <a:r>
              <a:rPr lang="en-US" dirty="0"/>
              <a:t>Screenshots are often helpful in case of debugging where and what failure is happened while execution</a:t>
            </a:r>
          </a:p>
        </p:txBody>
      </p:sp>
    </p:spTree>
    <p:extLst>
      <p:ext uri="{BB962C8B-B14F-4D97-AF65-F5344CB8AC3E}">
        <p14:creationId xmlns:p14="http://schemas.microsoft.com/office/powerpoint/2010/main" val="34254451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API testing using Robot Framework</a:t>
            </a:r>
          </a:p>
        </p:txBody>
      </p:sp>
      <p:sp>
        <p:nvSpPr>
          <p:cNvPr id="3" name="TextBox 2">
            <a:extLst>
              <a:ext uri="{FF2B5EF4-FFF2-40B4-BE49-F238E27FC236}">
                <a16:creationId xmlns:a16="http://schemas.microsoft.com/office/drawing/2014/main" id="{7F79B611-EDA9-A19F-B08F-DB0063D16974}"/>
              </a:ext>
            </a:extLst>
          </p:cNvPr>
          <p:cNvSpPr txBox="1"/>
          <p:nvPr/>
        </p:nvSpPr>
        <p:spPr>
          <a:xfrm>
            <a:off x="671868" y="1855592"/>
            <a:ext cx="9721382" cy="2308324"/>
          </a:xfrm>
          <a:prstGeom prst="rect">
            <a:avLst/>
          </a:prstGeom>
          <a:noFill/>
        </p:spPr>
        <p:txBody>
          <a:bodyPr wrap="square">
            <a:spAutoFit/>
          </a:bodyPr>
          <a:lstStyle/>
          <a:p>
            <a:r>
              <a:rPr lang="en-US" b="1" i="0" dirty="0">
                <a:solidFill>
                  <a:srgbClr val="000000"/>
                </a:solidFill>
                <a:effectLst/>
                <a:highlight>
                  <a:srgbClr val="FFFFFF"/>
                </a:highlight>
              </a:rPr>
              <a:t> We will be using 5 libraries for our tests. They are:</a:t>
            </a:r>
          </a:p>
          <a:p>
            <a:br>
              <a:rPr lang="en-US" b="1" dirty="0"/>
            </a:br>
            <a:r>
              <a:rPr lang="en-US" b="1" i="0" dirty="0">
                <a:solidFill>
                  <a:srgbClr val="000000"/>
                </a:solidFill>
                <a:effectLst/>
                <a:highlight>
                  <a:srgbClr val="FFFFFF"/>
                </a:highlight>
              </a:rPr>
              <a:t>1</a:t>
            </a:r>
            <a:r>
              <a:rPr lang="en-US" b="1" i="0" u="sng" dirty="0">
                <a:solidFill>
                  <a:srgbClr val="000000"/>
                </a:solidFill>
                <a:effectLst/>
                <a:highlight>
                  <a:srgbClr val="FFFFFF"/>
                </a:highlight>
              </a:rPr>
              <a:t>. </a:t>
            </a:r>
            <a:r>
              <a:rPr lang="en-US" b="1" i="0" u="sng" strike="noStrike" dirty="0" err="1">
                <a:solidFill>
                  <a:srgbClr val="000000"/>
                </a:solidFill>
                <a:effectLst/>
                <a:highlight>
                  <a:srgbClr val="FFFFFF"/>
                </a:highlight>
                <a:hlinkClick r:id="rId2"/>
              </a:rPr>
              <a:t>SeleniumLibrary</a:t>
            </a:r>
            <a:r>
              <a:rPr lang="en-US" b="1" i="0" u="sng" dirty="0">
                <a:solidFill>
                  <a:srgbClr val="000000"/>
                </a:solidFill>
                <a:effectLst/>
                <a:highlight>
                  <a:srgbClr val="FFFFFF"/>
                </a:highlight>
              </a:rPr>
              <a:t> </a:t>
            </a:r>
            <a:r>
              <a:rPr lang="en-US" b="1" i="0" dirty="0">
                <a:solidFill>
                  <a:srgbClr val="000000"/>
                </a:solidFill>
                <a:effectLst/>
                <a:highlight>
                  <a:srgbClr val="FFFFFF"/>
                </a:highlight>
              </a:rPr>
              <a:t>which is already installed.</a:t>
            </a:r>
            <a:br>
              <a:rPr lang="en-US" b="1" dirty="0"/>
            </a:br>
            <a:r>
              <a:rPr lang="en-US" b="1" i="0" dirty="0">
                <a:solidFill>
                  <a:srgbClr val="000000"/>
                </a:solidFill>
                <a:effectLst/>
                <a:highlight>
                  <a:srgbClr val="FFFFFF"/>
                </a:highlight>
              </a:rPr>
              <a:t>2. </a:t>
            </a:r>
            <a:r>
              <a:rPr lang="en-US" b="1" i="0" strike="noStrike" dirty="0" err="1">
                <a:solidFill>
                  <a:srgbClr val="000000"/>
                </a:solidFill>
                <a:effectLst/>
                <a:highlight>
                  <a:srgbClr val="FFFFFF"/>
                </a:highlight>
                <a:hlinkClick r:id="rId3"/>
              </a:rPr>
              <a:t>RequestsLibrary</a:t>
            </a:r>
            <a:r>
              <a:rPr lang="en-US" b="1" i="0" dirty="0">
                <a:solidFill>
                  <a:srgbClr val="000000"/>
                </a:solidFill>
                <a:effectLst/>
                <a:highlight>
                  <a:srgbClr val="FFFFFF"/>
                </a:highlight>
              </a:rPr>
              <a:t> – Install it using </a:t>
            </a:r>
            <a:r>
              <a:rPr lang="en-US" b="1" i="1" dirty="0">
                <a:solidFill>
                  <a:srgbClr val="000000"/>
                </a:solidFill>
                <a:effectLst/>
                <a:highlight>
                  <a:srgbClr val="FFFFFF"/>
                </a:highlight>
              </a:rPr>
              <a:t>pip3 install </a:t>
            </a:r>
            <a:r>
              <a:rPr lang="en-US" b="1" i="1" dirty="0" err="1">
                <a:solidFill>
                  <a:srgbClr val="000000"/>
                </a:solidFill>
                <a:effectLst/>
                <a:highlight>
                  <a:srgbClr val="FFFFFF"/>
                </a:highlight>
              </a:rPr>
              <a:t>robotframework</a:t>
            </a:r>
            <a:r>
              <a:rPr lang="en-US" b="1" i="1" dirty="0">
                <a:solidFill>
                  <a:srgbClr val="000000"/>
                </a:solidFill>
                <a:effectLst/>
                <a:highlight>
                  <a:srgbClr val="FFFFFF"/>
                </a:highlight>
              </a:rPr>
              <a:t>-requests</a:t>
            </a:r>
            <a:r>
              <a:rPr lang="en-US" b="1" i="0" dirty="0">
                <a:solidFill>
                  <a:srgbClr val="000000"/>
                </a:solidFill>
                <a:effectLst/>
                <a:highlight>
                  <a:srgbClr val="FFFFFF"/>
                </a:highlight>
              </a:rPr>
              <a:t>.</a:t>
            </a:r>
            <a:br>
              <a:rPr lang="en-US" b="1" dirty="0"/>
            </a:br>
            <a:r>
              <a:rPr lang="en-US" b="1" i="0" dirty="0">
                <a:solidFill>
                  <a:srgbClr val="000000"/>
                </a:solidFill>
                <a:effectLst/>
                <a:highlight>
                  <a:srgbClr val="FFFFFF"/>
                </a:highlight>
              </a:rPr>
              <a:t>3. </a:t>
            </a:r>
            <a:r>
              <a:rPr lang="en-US" b="1" i="0" strike="noStrike" dirty="0" err="1">
                <a:solidFill>
                  <a:srgbClr val="000000"/>
                </a:solidFill>
                <a:effectLst/>
                <a:highlight>
                  <a:srgbClr val="FFFFFF"/>
                </a:highlight>
                <a:hlinkClick r:id="rId4"/>
              </a:rPr>
              <a:t>JSONLibrary</a:t>
            </a:r>
            <a:r>
              <a:rPr lang="en-US" b="1" i="0" dirty="0">
                <a:solidFill>
                  <a:srgbClr val="000000"/>
                </a:solidFill>
                <a:effectLst/>
                <a:highlight>
                  <a:srgbClr val="FFFFFF"/>
                </a:highlight>
              </a:rPr>
              <a:t> – Install it using </a:t>
            </a:r>
            <a:r>
              <a:rPr lang="en-US" b="1" i="1" dirty="0">
                <a:solidFill>
                  <a:srgbClr val="000000"/>
                </a:solidFill>
                <a:effectLst/>
                <a:highlight>
                  <a:srgbClr val="FFFFFF"/>
                </a:highlight>
              </a:rPr>
              <a:t>pip3 install </a:t>
            </a:r>
            <a:r>
              <a:rPr lang="en-US" b="1" i="1" dirty="0" err="1">
                <a:solidFill>
                  <a:srgbClr val="000000"/>
                </a:solidFill>
                <a:effectLst/>
                <a:highlight>
                  <a:srgbClr val="FFFFFF"/>
                </a:highlight>
              </a:rPr>
              <a:t>robotframework-jsonlibrary</a:t>
            </a:r>
            <a:r>
              <a:rPr lang="en-US" b="1" i="0" dirty="0">
                <a:solidFill>
                  <a:srgbClr val="000000"/>
                </a:solidFill>
                <a:effectLst/>
                <a:highlight>
                  <a:srgbClr val="FFFFFF"/>
                </a:highlight>
              </a:rPr>
              <a:t>.</a:t>
            </a:r>
            <a:br>
              <a:rPr lang="en-US" b="1" dirty="0"/>
            </a:br>
            <a:r>
              <a:rPr lang="en-US" b="1" i="0" dirty="0">
                <a:solidFill>
                  <a:srgbClr val="000000"/>
                </a:solidFill>
                <a:effectLst/>
                <a:highlight>
                  <a:srgbClr val="FFFFFF"/>
                </a:highlight>
              </a:rPr>
              <a:t>4. </a:t>
            </a:r>
            <a:r>
              <a:rPr lang="en-US" b="1" i="0" strike="noStrike" dirty="0">
                <a:solidFill>
                  <a:srgbClr val="000000"/>
                </a:solidFill>
                <a:effectLst/>
                <a:highlight>
                  <a:srgbClr val="FFFFFF"/>
                </a:highlight>
                <a:hlinkClick r:id="rId5"/>
              </a:rPr>
              <a:t>Collections</a:t>
            </a:r>
            <a:r>
              <a:rPr lang="en-US" b="1" i="0" dirty="0">
                <a:solidFill>
                  <a:srgbClr val="000000"/>
                </a:solidFill>
                <a:effectLst/>
                <a:highlight>
                  <a:srgbClr val="FFFFFF"/>
                </a:highlight>
              </a:rPr>
              <a:t> – This comes inbuilt with robot Framework. We just need to import it.</a:t>
            </a:r>
            <a:br>
              <a:rPr lang="en-US" b="1" dirty="0"/>
            </a:br>
            <a:r>
              <a:rPr lang="en-US" b="1" i="0" dirty="0">
                <a:solidFill>
                  <a:srgbClr val="000000"/>
                </a:solidFill>
                <a:effectLst/>
                <a:highlight>
                  <a:srgbClr val="FFFFFF"/>
                </a:highlight>
              </a:rPr>
              <a:t>5. </a:t>
            </a:r>
            <a:r>
              <a:rPr lang="en-US" b="1" i="0" strike="noStrike" dirty="0" err="1">
                <a:effectLst/>
                <a:highlight>
                  <a:srgbClr val="FFFFFF"/>
                </a:highlight>
                <a:hlinkClick r:id="rId6"/>
              </a:rPr>
              <a:t>BuiltIn</a:t>
            </a:r>
            <a:r>
              <a:rPr lang="en-US" b="1" i="0" dirty="0">
                <a:solidFill>
                  <a:srgbClr val="000000"/>
                </a:solidFill>
                <a:effectLst/>
                <a:highlight>
                  <a:srgbClr val="FFFFFF"/>
                </a:highlight>
              </a:rPr>
              <a:t> – Robot Framework’s standard library that provides a set of generic keywords. No need to import as it is always available.</a:t>
            </a:r>
            <a:endParaRPr lang="en-IN" b="1" dirty="0"/>
          </a:p>
        </p:txBody>
      </p:sp>
    </p:spTree>
    <p:extLst>
      <p:ext uri="{BB962C8B-B14F-4D97-AF65-F5344CB8AC3E}">
        <p14:creationId xmlns:p14="http://schemas.microsoft.com/office/powerpoint/2010/main" val="270692457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API testing using Robot Framework</a:t>
            </a:r>
          </a:p>
        </p:txBody>
      </p:sp>
      <p:sp>
        <p:nvSpPr>
          <p:cNvPr id="3" name="TextBox 2">
            <a:extLst>
              <a:ext uri="{FF2B5EF4-FFF2-40B4-BE49-F238E27FC236}">
                <a16:creationId xmlns:a16="http://schemas.microsoft.com/office/drawing/2014/main" id="{7F79B611-EDA9-A19F-B08F-DB0063D16974}"/>
              </a:ext>
            </a:extLst>
          </p:cNvPr>
          <p:cNvSpPr txBox="1"/>
          <p:nvPr/>
        </p:nvSpPr>
        <p:spPr>
          <a:xfrm>
            <a:off x="671868" y="1855592"/>
            <a:ext cx="9721382" cy="1754326"/>
          </a:xfrm>
          <a:prstGeom prst="rect">
            <a:avLst/>
          </a:prstGeom>
          <a:noFill/>
        </p:spPr>
        <p:txBody>
          <a:bodyPr wrap="square">
            <a:spAutoFit/>
          </a:bodyPr>
          <a:lstStyle/>
          <a:p>
            <a:r>
              <a:rPr lang="en-US" b="1" i="0" dirty="0">
                <a:solidFill>
                  <a:srgbClr val="000000"/>
                </a:solidFill>
                <a:effectLst/>
                <a:highlight>
                  <a:srgbClr val="FFFFFF"/>
                </a:highlight>
                <a:latin typeface="Open Sans" panose="020B0606030504020204" pitchFamily="34" charset="0"/>
              </a:rPr>
              <a:t>Test – 1</a:t>
            </a:r>
            <a:br>
              <a:rPr lang="en-US" dirty="0"/>
            </a:br>
            <a:r>
              <a:rPr lang="en-US" b="0" i="0" dirty="0">
                <a:solidFill>
                  <a:srgbClr val="000000"/>
                </a:solidFill>
                <a:effectLst/>
                <a:highlight>
                  <a:srgbClr val="FFFFFF"/>
                </a:highlight>
                <a:latin typeface="Open Sans" panose="020B0606030504020204" pitchFamily="34" charset="0"/>
              </a:rPr>
              <a:t>Step 1: Perform a ‘GET’ request to </a:t>
            </a:r>
            <a:r>
              <a:rPr lang="en-US" b="1" i="0" dirty="0">
                <a:solidFill>
                  <a:srgbClr val="000000"/>
                </a:solidFill>
                <a:effectLst/>
                <a:highlight>
                  <a:srgbClr val="FFFFFF"/>
                </a:highlight>
                <a:latin typeface="Open Sans" panose="020B0606030504020204" pitchFamily="34" charset="0"/>
              </a:rPr>
              <a:t>https://www.metaweather.com/api/location/search/?query=london</a:t>
            </a:r>
            <a:br>
              <a:rPr lang="en-US" dirty="0"/>
            </a:br>
            <a:r>
              <a:rPr lang="en-US" b="0" i="0" dirty="0">
                <a:solidFill>
                  <a:srgbClr val="000000"/>
                </a:solidFill>
                <a:effectLst/>
                <a:highlight>
                  <a:srgbClr val="FFFFFF"/>
                </a:highlight>
                <a:latin typeface="Open Sans" panose="020B0606030504020204" pitchFamily="34" charset="0"/>
              </a:rPr>
              <a:t>Step 2: Verify that the response code is ‘200’.</a:t>
            </a:r>
            <a:br>
              <a:rPr lang="en-US" dirty="0"/>
            </a:br>
            <a:r>
              <a:rPr lang="en-US" b="0" i="0" dirty="0">
                <a:solidFill>
                  <a:srgbClr val="000000"/>
                </a:solidFill>
                <a:effectLst/>
                <a:highlight>
                  <a:srgbClr val="FFFFFF"/>
                </a:highlight>
                <a:latin typeface="Open Sans" panose="020B0606030504020204" pitchFamily="34" charset="0"/>
              </a:rPr>
              <a:t>Step 3: Verify that the ‘title’ key in the response body has the value ‘London’.</a:t>
            </a:r>
            <a:br>
              <a:rPr lang="en-US" dirty="0"/>
            </a:br>
            <a:r>
              <a:rPr lang="en-US" b="0" i="0" dirty="0">
                <a:solidFill>
                  <a:srgbClr val="000000"/>
                </a:solidFill>
                <a:effectLst/>
                <a:highlight>
                  <a:srgbClr val="FFFFFF"/>
                </a:highlight>
                <a:latin typeface="Open Sans" panose="020B0606030504020204" pitchFamily="34" charset="0"/>
              </a:rPr>
              <a:t>Step 4: Verify that the ‘</a:t>
            </a:r>
            <a:r>
              <a:rPr lang="en-US" b="0" i="0" dirty="0" err="1">
                <a:solidFill>
                  <a:srgbClr val="000000"/>
                </a:solidFill>
                <a:effectLst/>
                <a:highlight>
                  <a:srgbClr val="FFFFFF"/>
                </a:highlight>
                <a:latin typeface="Open Sans" panose="020B0606030504020204" pitchFamily="34" charset="0"/>
              </a:rPr>
              <a:t>location_type</a:t>
            </a:r>
            <a:r>
              <a:rPr lang="en-US" b="0" i="0" dirty="0">
                <a:solidFill>
                  <a:srgbClr val="000000"/>
                </a:solidFill>
                <a:effectLst/>
                <a:highlight>
                  <a:srgbClr val="FFFFFF"/>
                </a:highlight>
                <a:latin typeface="Open Sans" panose="020B0606030504020204" pitchFamily="34" charset="0"/>
              </a:rPr>
              <a:t>’ key is present in the response body.</a:t>
            </a:r>
            <a:endParaRPr lang="en-IN" b="1" dirty="0"/>
          </a:p>
        </p:txBody>
      </p:sp>
    </p:spTree>
    <p:extLst>
      <p:ext uri="{BB962C8B-B14F-4D97-AF65-F5344CB8AC3E}">
        <p14:creationId xmlns:p14="http://schemas.microsoft.com/office/powerpoint/2010/main" val="7560025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latin typeface="Comic Sans MS" panose="030F0702030302020204" pitchFamily="66" charset="0"/>
              </a:rPr>
              <a:t>API testing using Robot Framework</a:t>
            </a:r>
          </a:p>
        </p:txBody>
      </p:sp>
      <p:sp>
        <p:nvSpPr>
          <p:cNvPr id="5" name="TextBox 4">
            <a:extLst>
              <a:ext uri="{FF2B5EF4-FFF2-40B4-BE49-F238E27FC236}">
                <a16:creationId xmlns:a16="http://schemas.microsoft.com/office/drawing/2014/main" id="{F3350F5E-6D27-C17F-8D2F-DA84260FDBA8}"/>
              </a:ext>
            </a:extLst>
          </p:cNvPr>
          <p:cNvSpPr txBox="1"/>
          <p:nvPr/>
        </p:nvSpPr>
        <p:spPr>
          <a:xfrm>
            <a:off x="671868" y="1787818"/>
            <a:ext cx="10405863" cy="3416320"/>
          </a:xfrm>
          <a:prstGeom prst="rect">
            <a:avLst/>
          </a:prstGeom>
          <a:noFill/>
        </p:spPr>
        <p:txBody>
          <a:bodyPr wrap="square">
            <a:spAutoFit/>
          </a:bodyPr>
          <a:lstStyle/>
          <a:p>
            <a:r>
              <a:rPr lang="en-US" b="1" i="0" dirty="0">
                <a:solidFill>
                  <a:srgbClr val="000000"/>
                </a:solidFill>
                <a:effectLst/>
                <a:highlight>
                  <a:srgbClr val="FFFFFF"/>
                </a:highlight>
              </a:rPr>
              <a:t>Test – 2</a:t>
            </a:r>
            <a:br>
              <a:rPr lang="en-US" b="1" dirty="0"/>
            </a:br>
            <a:r>
              <a:rPr lang="en-US" b="1" i="0" dirty="0">
                <a:solidFill>
                  <a:srgbClr val="000000"/>
                </a:solidFill>
                <a:effectLst/>
                <a:highlight>
                  <a:srgbClr val="FFFFFF"/>
                </a:highlight>
              </a:rPr>
              <a:t>Step 1: Perform a ‘POST’ request to https://jsonplaceholder.typicode.com/posts with header and body.</a:t>
            </a:r>
            <a:br>
              <a:rPr lang="en-US" b="1" dirty="0"/>
            </a:br>
            <a:r>
              <a:rPr lang="en-US" b="1" i="0" dirty="0">
                <a:solidFill>
                  <a:srgbClr val="000000"/>
                </a:solidFill>
                <a:effectLst/>
                <a:highlight>
                  <a:srgbClr val="FFFFFF"/>
                </a:highlight>
              </a:rPr>
              <a:t>Step 2: Verify that the response code is ‘201’.</a:t>
            </a:r>
            <a:br>
              <a:rPr lang="en-US" b="1" dirty="0"/>
            </a:br>
            <a:r>
              <a:rPr lang="en-US" b="1" i="0" dirty="0">
                <a:solidFill>
                  <a:srgbClr val="000000"/>
                </a:solidFill>
                <a:effectLst/>
                <a:highlight>
                  <a:srgbClr val="FFFFFF"/>
                </a:highlight>
              </a:rPr>
              <a:t>Step 3: Verify that the ‘id’ key in the response body has the value ‘101’.</a:t>
            </a:r>
            <a:br>
              <a:rPr lang="en-US" b="1" dirty="0"/>
            </a:br>
            <a:r>
              <a:rPr lang="en-US" b="1" i="0" dirty="0">
                <a:solidFill>
                  <a:srgbClr val="000000"/>
                </a:solidFill>
                <a:effectLst/>
                <a:highlight>
                  <a:srgbClr val="FFFFFF"/>
                </a:highlight>
              </a:rPr>
              <a:t>Step 4: Verify that the value of the response header ‘Content-Type’ is ‘application/</a:t>
            </a:r>
            <a:r>
              <a:rPr lang="en-US" b="1" i="0" dirty="0" err="1">
                <a:solidFill>
                  <a:srgbClr val="000000"/>
                </a:solidFill>
                <a:effectLst/>
                <a:highlight>
                  <a:srgbClr val="FFFFFF"/>
                </a:highlight>
              </a:rPr>
              <a:t>json</a:t>
            </a:r>
            <a:r>
              <a:rPr lang="en-US" b="1" i="0" dirty="0">
                <a:solidFill>
                  <a:srgbClr val="000000"/>
                </a:solidFill>
                <a:effectLst/>
                <a:highlight>
                  <a:srgbClr val="FFFFFF"/>
                </a:highlight>
              </a:rPr>
              <a:t>; charset=utf-8’.</a:t>
            </a:r>
          </a:p>
          <a:p>
            <a:endParaRPr lang="en-US" b="1" dirty="0">
              <a:solidFill>
                <a:srgbClr val="000000"/>
              </a:solidFill>
              <a:highlight>
                <a:srgbClr val="FFFFFF"/>
              </a:highlight>
            </a:endParaRPr>
          </a:p>
          <a:p>
            <a:r>
              <a:rPr lang="en-IN" b="1" dirty="0">
                <a:hlinkClick r:id="rId2"/>
              </a:rPr>
              <a:t>https://testersdock.com/handle-javascript-alert-robot-framework/</a:t>
            </a:r>
            <a:endParaRPr lang="en-IN" b="1" dirty="0"/>
          </a:p>
          <a:p>
            <a:endParaRPr lang="en-IN" b="1" dirty="0"/>
          </a:p>
          <a:p>
            <a:r>
              <a:rPr lang="en-IN" b="1" dirty="0"/>
              <a:t>https://github.com/juhitab/RobotFramework-Python-Selenium/blob/master/robotframework-selenium/testdata/ddtLogindataCSV.csv.txt</a:t>
            </a:r>
          </a:p>
        </p:txBody>
      </p:sp>
    </p:spTree>
    <p:extLst>
      <p:ext uri="{BB962C8B-B14F-4D97-AF65-F5344CB8AC3E}">
        <p14:creationId xmlns:p14="http://schemas.microsoft.com/office/powerpoint/2010/main" val="2491271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48DF9E-8863-4972-856F-575830C6F865}"/>
              </a:ext>
            </a:extLst>
          </p:cNvPr>
          <p:cNvSpPr txBox="1">
            <a:spLocks/>
          </p:cNvSpPr>
          <p:nvPr/>
        </p:nvSpPr>
        <p:spPr>
          <a:xfrm>
            <a:off x="671868" y="375445"/>
            <a:ext cx="9721382" cy="796533"/>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4200" dirty="0">
              <a:latin typeface="Comic Sans MS" panose="030F0702030302020204" pitchFamily="66" charset="0"/>
            </a:endParaRPr>
          </a:p>
        </p:txBody>
      </p:sp>
      <p:sp>
        <p:nvSpPr>
          <p:cNvPr id="5" name="TextBox 4">
            <a:extLst>
              <a:ext uri="{FF2B5EF4-FFF2-40B4-BE49-F238E27FC236}">
                <a16:creationId xmlns:a16="http://schemas.microsoft.com/office/drawing/2014/main" id="{F3350F5E-6D27-C17F-8D2F-DA84260FDBA8}"/>
              </a:ext>
            </a:extLst>
          </p:cNvPr>
          <p:cNvSpPr txBox="1"/>
          <p:nvPr/>
        </p:nvSpPr>
        <p:spPr>
          <a:xfrm>
            <a:off x="491986" y="2882099"/>
            <a:ext cx="10405863" cy="707886"/>
          </a:xfrm>
          <a:prstGeom prst="rect">
            <a:avLst/>
          </a:prstGeom>
          <a:noFill/>
        </p:spPr>
        <p:txBody>
          <a:bodyPr wrap="square">
            <a:spAutoFit/>
          </a:bodyPr>
          <a:lstStyle/>
          <a:p>
            <a:r>
              <a:rPr lang="en-IN" sz="4000" b="1" dirty="0"/>
              <a:t>					Thanks </a:t>
            </a:r>
          </a:p>
        </p:txBody>
      </p:sp>
    </p:spTree>
    <p:extLst>
      <p:ext uri="{BB962C8B-B14F-4D97-AF65-F5344CB8AC3E}">
        <p14:creationId xmlns:p14="http://schemas.microsoft.com/office/powerpoint/2010/main" val="3705914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4122</TotalTime>
  <Words>5752</Words>
  <Application>Microsoft Office PowerPoint</Application>
  <PresentationFormat>Widescreen</PresentationFormat>
  <Paragraphs>661</Paragraphs>
  <Slides>124</Slides>
  <Notes>57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124</vt:i4>
      </vt:variant>
    </vt:vector>
  </HeadingPairs>
  <TitlesOfParts>
    <vt:vector size="137" baseType="lpstr">
      <vt:lpstr>Aptos</vt:lpstr>
      <vt:lpstr>Aptos Display</vt:lpstr>
      <vt:lpstr>Aptos Narrow</vt:lpstr>
      <vt:lpstr>Arial</vt:lpstr>
      <vt:lpstr>Calibri</vt:lpstr>
      <vt:lpstr>Comic Sans MS</vt:lpstr>
      <vt:lpstr>ff-more-web-pro</vt:lpstr>
      <vt:lpstr>Fira Sans</vt:lpstr>
      <vt:lpstr>Open Sans</vt:lpstr>
      <vt:lpstr>Roboto</vt:lpstr>
      <vt:lpstr>Times New Roman</vt:lpstr>
      <vt:lpstr>var(--font-head)</vt:lpstr>
      <vt:lpstr>Office Theme</vt:lpstr>
      <vt:lpstr>Robot  Framework</vt:lpstr>
      <vt:lpstr>    Agenda</vt:lpstr>
      <vt:lpstr>   Robot Framework</vt:lpstr>
      <vt:lpstr>Robot Framework Architecture</vt:lpstr>
      <vt:lpstr> Robot Framework Advantages </vt:lpstr>
      <vt:lpstr>Robot Framework –Where to apply</vt:lpstr>
      <vt:lpstr>    Robot Framework Set up</vt:lpstr>
      <vt:lpstr>  </vt:lpstr>
      <vt:lpstr>  </vt:lpstr>
      <vt:lpstr>  </vt:lpstr>
      <vt:lpstr>  </vt:lpstr>
      <vt:lpstr>  </vt:lpstr>
      <vt:lpstr>  </vt:lpstr>
      <vt:lpstr>  </vt:lpstr>
      <vt:lpstr> </vt:lpstr>
      <vt:lpstr> </vt:lpstr>
      <vt:lpstr> </vt:lpstr>
      <vt:lpstr>  </vt:lpstr>
      <vt:lpstr>     Test suites in Robot Framework </vt:lpstr>
      <vt:lpstr>Testcases in Robot Framework</vt:lpstr>
      <vt:lpstr>Testcases in Robot Framework</vt:lpstr>
      <vt:lpstr>Testcases in Robot Framework</vt:lpstr>
      <vt:lpstr>Keywords and Test libraries </vt:lpstr>
      <vt:lpstr>Keywords and Test libraries </vt:lpstr>
      <vt:lpstr>Built in Keywords</vt:lpstr>
      <vt:lpstr>Custom Keywords</vt:lpstr>
      <vt:lpstr>Custom Keywords</vt:lpstr>
      <vt:lpstr>Test execution in Robot Framework</vt:lpstr>
      <vt:lpstr>Test execution in Robot Framework</vt:lpstr>
      <vt:lpstr>Test execution in Robot Framework</vt:lpstr>
      <vt:lpstr>Test execution in Robot Framework</vt:lpstr>
      <vt:lpstr>Test execution in Robot Framework</vt:lpstr>
      <vt:lpstr>Test execution in Robot Framework</vt:lpstr>
      <vt:lpstr>Test execution in Robot Framework</vt:lpstr>
      <vt:lpstr>Test execution in Robot Framework</vt:lpstr>
      <vt:lpstr>Command Line arguments</vt:lpstr>
      <vt:lpstr>Command Line arguments</vt:lpstr>
      <vt:lpstr>Command Line arguments</vt:lpstr>
      <vt:lpstr>Command Line arguments</vt:lpstr>
      <vt:lpstr>Command Line arguments</vt:lpstr>
      <vt:lpstr>Command Line arguments</vt:lpstr>
      <vt:lpstr>Command Line arguments</vt:lpstr>
      <vt:lpstr>Command Line arguments</vt:lpstr>
      <vt:lpstr>Command Line arguments</vt:lpstr>
      <vt:lpstr>Command Line arguments</vt:lpstr>
      <vt:lpstr>External libraries</vt:lpstr>
      <vt:lpstr>External libraries</vt:lpstr>
      <vt:lpstr>External libraries</vt:lpstr>
      <vt:lpstr>External libraries</vt:lpstr>
      <vt:lpstr>External libraries</vt:lpstr>
      <vt:lpstr>Data Driven testing </vt:lpstr>
      <vt:lpstr>Data Driven testing </vt:lpstr>
      <vt:lpstr>Data Driven testing </vt:lpstr>
      <vt:lpstr>Data Driven testing </vt:lpstr>
      <vt:lpstr>Data Driven testing </vt:lpstr>
      <vt:lpstr>Web Testing with SeleniumLibrary </vt:lpstr>
      <vt:lpstr>Benefits of SeleniumLibrary in Robot Framework</vt:lpstr>
      <vt:lpstr>         What is Automation ?</vt:lpstr>
      <vt:lpstr>Automation Testing life cycle </vt:lpstr>
      <vt:lpstr>Why Automation Testing?</vt:lpstr>
      <vt:lpstr>What is Selenium and Tools ?</vt:lpstr>
      <vt:lpstr>       Who developed Selenium?</vt:lpstr>
      <vt:lpstr>Why Selenium?</vt:lpstr>
      <vt:lpstr>Disadvantages of Selenium </vt:lpstr>
      <vt:lpstr>Versions of selenium</vt:lpstr>
      <vt:lpstr>          ELEMENT LOCATORS </vt:lpstr>
      <vt:lpstr>   ELEMENT LOCATORS </vt:lpstr>
      <vt:lpstr>   Xpath</vt:lpstr>
      <vt:lpstr>         Types of XPath</vt:lpstr>
      <vt:lpstr>  Types of XPath</vt:lpstr>
      <vt:lpstr>  Types of XPath</vt:lpstr>
      <vt:lpstr>            Types of XPath</vt:lpstr>
      <vt:lpstr>  Types of XPath</vt:lpstr>
      <vt:lpstr>  Types of XPath</vt:lpstr>
      <vt:lpstr>  Types of XPath</vt:lpstr>
      <vt:lpstr> Launching of Browsers</vt:lpstr>
      <vt:lpstr> Find element and elements</vt:lpstr>
      <vt:lpstr>Implicit Waits in Robot Framework</vt:lpstr>
      <vt:lpstr>Explicit Waits in Robot Framework</vt:lpstr>
      <vt:lpstr>   Browser Commands </vt:lpstr>
      <vt:lpstr>       Navigational  Commands </vt:lpstr>
      <vt:lpstr>Handle Radio buttons / check boxes </vt:lpstr>
      <vt:lpstr> Handle Check boxes  buttons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Framework</dc:title>
  <dc:creator>Harsha Khande</dc:creator>
  <cp:lastModifiedBy>Harsha Khande</cp:lastModifiedBy>
  <cp:revision>213</cp:revision>
  <dcterms:created xsi:type="dcterms:W3CDTF">2024-05-11T15:41:20Z</dcterms:created>
  <dcterms:modified xsi:type="dcterms:W3CDTF">2025-05-15T05:34:56Z</dcterms:modified>
</cp:coreProperties>
</file>